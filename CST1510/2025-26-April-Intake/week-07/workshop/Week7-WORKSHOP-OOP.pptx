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7" r:id="rId2"/>
    <p:sldId id="302" r:id="rId3"/>
    <p:sldId id="301" r:id="rId4"/>
    <p:sldId id="299" r:id="rId5"/>
    <p:sldId id="303" r:id="rId6"/>
    <p:sldId id="315" r:id="rId7"/>
    <p:sldId id="304" r:id="rId8"/>
    <p:sldId id="312" r:id="rId9"/>
    <p:sldId id="305" r:id="rId10"/>
    <p:sldId id="307" r:id="rId11"/>
    <p:sldId id="311" r:id="rId12"/>
    <p:sldId id="309" r:id="rId13"/>
    <p:sldId id="321" r:id="rId14"/>
    <p:sldId id="316" r:id="rId15"/>
    <p:sldId id="322" r:id="rId16"/>
    <p:sldId id="310" r:id="rId17"/>
    <p:sldId id="308" r:id="rId18"/>
    <p:sldId id="324" r:id="rId19"/>
    <p:sldId id="320" r:id="rId20"/>
    <p:sldId id="323" r:id="rId21"/>
    <p:sldId id="325" r:id="rId22"/>
    <p:sldId id="314" r:id="rId23"/>
    <p:sldId id="326" r:id="rId24"/>
    <p:sldId id="327" r:id="rId25"/>
    <p:sldId id="328" r:id="rId26"/>
    <p:sldId id="329" r:id="rId27"/>
    <p:sldId id="330" r:id="rId28"/>
    <p:sldId id="331" r:id="rId29"/>
    <p:sldId id="306" r:id="rId30"/>
    <p:sldId id="332" r:id="rId31"/>
    <p:sldId id="333" r:id="rId32"/>
    <p:sldId id="334" r:id="rId33"/>
    <p:sldId id="335" r:id="rId34"/>
    <p:sldId id="317" r:id="rId35"/>
    <p:sldId id="336" r:id="rId36"/>
    <p:sldId id="337" r:id="rId37"/>
    <p:sldId id="338" r:id="rId38"/>
    <p:sldId id="318" r:id="rId39"/>
    <p:sldId id="31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281"/>
    <a:srgbClr val="C300B8"/>
    <a:srgbClr val="9E4F90"/>
    <a:srgbClr val="0C00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246"/>
    <p:restoredTop sz="83732"/>
  </p:normalViewPr>
  <p:slideViewPr>
    <p:cSldViewPr snapToGrid="0" snapToObjects="1">
      <p:cViewPr varScale="1">
        <p:scale>
          <a:sx n="71" d="100"/>
          <a:sy n="71" d="100"/>
        </p:scale>
        <p:origin x="20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19.927"/>
    </inkml:context>
    <inkml:brush xml:id="br0">
      <inkml:brushProperty name="width" value="0.05" units="cm"/>
      <inkml:brushProperty name="height" value="0.05" units="cm"/>
      <inkml:brushProperty name="color" value="#E71224"/>
    </inkml:brush>
  </inkml:definitions>
  <inkml:trace contextRef="#ctx0" brushRef="#br0">197 696 24575,'0'60'0,"0"0"0,-7-2 0,-1 3 0,2 27 0,1 6-2714,-3 0 1,-1 1 2713,1-28 0,-1 1 0,2 0 0,5 0 0,1-1 0,0-1-85,-7 23 0,0 6 85,4-9 0,2 11 0,0 2 0,0-8 0,-2-2 0,0-6 0,1 7-447,0-12 0,1 6 1,-1 3-1,1-4 1,0-7 446,-2 7 0,1-7 0,1-5 0,2 11 0,0-4-421,-4 0 1,1-4 420,2-21 0,0-2 847,-2 6 1,-1-1-848,-1 38 0,3-15 1204,-3-23-1204,0-9 4035,4 11-4035,-8-26 1334,8 19-1334,-3-25 403,-1 0-403,4-1 0,-3-5 0,0-1 0,3 0 0,-4-4 0,5 3 0,0-8 0,0 8 0,0-3 0,0 4 0,0 6 0,0 1 0,0 6 0,0 0 0,0 0 0,0 0 0,0 6 0,0-5 0,0 12 0,0-12 0,0 6 0,0-7 0,0 6 0,0 2 0,5 0 0,2 11 0,4-9 0,1 19 0,1-6 0,-1 8 0,1 7 0,-4-20 0,1 1 0,4 36 0,-5-32 0,1-1 0,9 18 0,-4 7 0,9-7 0,-9 1 0,9-2 0,-9-1 0,7-13 0,-7 12 0,6-21 0,-7 6 0,2-8 0,0-6 0,-3 4 0,2-10 0,-4 4 0,0-6 0,0 0 0,-1 0 0,1 0 0,-1-1 0,1-4 0,4 17 0,-4-14 0,5 16 0,-6-14 0,1 6 0,5-4 0,1 4 0,-1-6 0,4 0 0,-4-6 0,5 4 0,13 6 0,-10-7 0,16 6 0,-18-10 0,8-3 0,-2 4 0,3-4 0,1-1 0,0 0 0,6 1 0,2-5 0,6 5 0,1-4 0,6 6 0,2 0 0,34 10-585,-11-5 585,-29-12 0,1 1 0,40 16 0,-29-17 0,8 7 0,-23-6 0,2 2 0,13 10 0,11 2-467,-26-11 0,2 1 467,7 1 0,3 1 0,3 6 0,0-1 0,0-4 0,1-2 0,4 4 0,0 0 0,-2-3 0,-3-2 0,-8-3 0,0 0 0,6 3 0,-2-1 0,29 8 0,-36-10 0,2-2 0,-3-5 0,0-2 514,34 10-514,6-7 0,-16 0 0,5 1 0,-14-7 0,6-1 0,1-6 0,-7 0 0,7 0 960,-9 0-960,1 0 45,-1 0-45,-7 0 0,6 0 0,-13 0 0,5 5 0,1-4 0,-7 4 0,14-5 0,-13 0 0,13 0 0,2 0 0,18 0 0,-13 0 0,18 0 0,-21 0 0,16 0 0,8 0-323,-38-3 1,0-1 322,43-3 0,-40 3 0,0-1 0,38-7 0,-43 11 0,2 0 0,4-5 0,1-1 0,0 6 0,1 0 0,3-2 0,2 0 0,-3-1 0,4 1 0,30-1 0,2-1 0,-26-2 0,0-1-709,26 0 0,-2 1 709,-30-1 0,-3 0 0,2 1 0,-1-1-456,34-6 456,-41 10 0,-1 0 0,30-8 0,9 10 0,-2-4 0,-10 6 0,-7 0 0,-2 0 0,-9 0 583,1 0-583,-8 0 1428,6-6-1428,-13 5 508,12-5-508,-12 6 0,13-5 0,-13 3 0,5-3 0,1 5 0,-7 0 0,14 0 0,-6-6 0,1 5 0,4-10 0,-4 9 0,6-9 0,-6 10 0,32-10 0,-26 4 0,29 0 0,-12-5 0,-4 10 0,14-4 0,-8 0 0,-8 4 0,-19-1 0,0 0 0,10 3 0,-11 0 0,0 0 0,13 0 0,14 0 0,-7 0 0,-3 0 0,-15 0 0,-1 0 0,-8 0 0,-7 0 0,-1 0 0,5 0 0,22 0 0,-17 0 0,5 0-624,8 0 0,4 0 624,7 0 0,2 0-853,5 0 1,0 0 852,-4 0 0,0 0 0,-3 0 0,3 0 0,14 0 0,3 0-1310,-3 0 0,4 0 1310,-19 0 0,4 0 0,-1 0 0,0 1 0,-1-1 0,0-1 0,-3 0 0,-1-2 0,0-1-372,-3-1 0,-1 0 0,-5-2 372,7-1 0,-4-1 0,5-7 0,-4 1 585,19 0-585,-35 4 0,0 1 0,30-4 1399,-17 7-1399,-17 1 2771,-9 6-2771,-6 0 1502,0 0-1502,-6 0 432,4 0-432,-3 0 0,4 0 0,8 0 0,-6-4 0,5-2 0,-6 0 0,6-4 0,2 4 0,0-10 0,5 3 0,-6-8 0,28-2 0,-16 4 0,16-3 0,-21 10 0,0-4 0,-6 3 0,-2-3 0,1 5 0,-6 0 0,5-4 0,1 2 0,-6-7 0,12 2 0,-5 1 0,-1-4 0,6 4 0,-5-6 0,6 0 0,-6 1 0,5-1 0,-4-6 0,8-2 0,-6-5 0,5-1 0,-5-5 0,2-3 0,-8 0 0,1-3 0,16-29-410,-13 20 0,-1-1 410,9-25 0,-21 40 0,0 1 0,0 0 0,0 0 0,2-6 0,1 1 0,4 2 0,1 1 0,-6-4 0,0 0 0,6 0 0,1 1 0,-4 3 0,0-1 0,5-8 0,0 1 0,-5 8 0,0-1 0,2-7 0,-2-1 0,16-25 0,-24 33 0,-1 0 0,16-36 0,1-2 0,-6-6 0,-1 0 0,-13 6 0,-1-7-355,-6 10 355,-7-1 0,-1-18 0,-6 29 0,0-26 0,0 31 0,0-16 0,-11 9 0,-11-16 0,-4 29 0,-20-21 0,4 13 0,3 14 0,-6-17 0,15 21 0,-8-13 0,14 17 0,0 0 0,-4-16 0,3 8 0,2 1 0,7-7 0,-16-29 0,11 15 0,4 24 0,-1-1 0,-9-20 0,9 23 0,1-1 0,-17-36 0,7 20 0,4 15 0,-2 1 0,-7-3 0,-1 0 0,0-1 0,-8-6 0,-13-17 0,0 0 0,13 23 0,-10-10 0,0 0 0,10 10 0,-20-10 0,10 5 0,6 7 0,4 7 0,-2-5 0,5 4 805,-5-6-805,6 0 370,-6 0-370,-2 0 0,-5 0 0,-10-16 0,15 19 0,-19-12 0,12 16 0,-11 3 0,-2 1 0,3 3 0,-9 9 0,7-4 0,-15 4 0,6 1 0,-7 5-226,30 7 1,1 1 225,-21-1 0,-26-7 0,31 8 0,-16 0-45,9 0 45,-6 0 0,13 0 0,-5 0 0,8 1 0,0-1 0,-1 1 450,0-1-450,1 1 46,0-1-46,-1 1 0,1-1 0,-29-5 0,14 10 0,-16-9 0,15 16 0,5-5 0,-25 0 0,28 4 0,-25-5 0,38 7 0,-14 0 0,16 0 0,8-5 0,14 0 0,13-1 0,0 2 0,-31 4 0,-25-14 0,25 4 0,-2-2-546,-7-3 0,0-2 546,5-4 0,-3-1-1499,-30-5 0,-8-1 1499,30 4 0,0-1 0,-1 0 0,-2 2 0,0 1 0,-3-1 0,-9-5 0,-4-2 0,3 2 0,13 6 0,2 1 0,-3-1-962,-15-4 0,-3-2 0,1 2 962,5 2 0,0 1 0,2 1 0,2-1 0,1 0 0,1 2-651,5 4 0,0 2 0,1 0 651,2 0 0,1 0 0,2 0-323,-24-3 0,2 2 323,-6 2 0,4 0 0,33 3 0,0 0 0,-39 2 0,5 1 1233,16-5-1233,-18 0 0,0 1 0,25 3 0,-8-3 0,1 1 2220,10 10-2220,-4-7 0,1 1 0,10 6 0,5-3 0,-1 0 0,-13 4 0,-32 0 0,28 0 0,-24 0 0,28 0 0,-13 0 0,-2 0 0,9 0 0,-7 6 0,6-4 0,-7 4 0,7-6 0,-6 0 2427,15 0-2427,-7 0 1996,1 0-1996,5 0 1179,2 0-1179,2 0 520,13 0-520,-5 0 0,13 0 0,2 0 0,11 0 0,3 4 0,4 1 0,1 5 0,4-1 0,2-3 0,4 1 0,4-2 0,-3 4 0,-1-4 0,-1 3 0,-4-7 0,6 3 0,-1-4 0,-5 0 0,5 0 0,-66 0 0,-10 0-1213,10 9 0,-7 4 1213,-4 1 0,-1 2 0,-6 10 0,-2 2 0,29-12 0,-2-2 0,2 2 0,-28 10 0,1-1 0,5-6 0,2-1 0,3 2 0,-3 2 0,17-7 0,-4 0 0,0 1-1023,-1 0 0,0 0 0,-2 1 1023,-10 0 0,-2 0 0,0 0 0,6 0 0,1 0 0,2-3 0,10-3 0,1-2 0,1 0-539,-35 5 0,6-1 539,34-5 0,1-1 0,-35 2 0,6-1 0,17 0-341,-8 0 0,0-1 341,2-5 0,29 2 0,-1-1 0,-39-3 1699,18 0-1699,1 0 3057,16 0-3057,1 0 1393,8 0-1393,0 0 998,6 0-998,2 0 108,6 0-108,0 0 0,-6 0 0,4 0 0,2 0 0,1-5 0,-1 4 0,-2-4 0,-11 5 0,12 0 0,-12 0 0,5 0 0,1 0 0,-6 0 0,5 0 0,0 0 0,-4 0 0,10 0 0,2 0 0,7 0 0,0 0 0,4 0 0,-4 0 0,0-5 0,4 4 0,-4-3 0,6 4 0,4 0 0,-3 0 0,8 0 0,-3 0 0,8 3 0,2 2 0,3 3 0,0 0 0,0 0 0,0 0 0,0 1 0,3-4 0,2-2 0,3-3 0,1 0 0,-1-4 0,-3 3 0,-1-2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28.470"/>
    </inkml:context>
    <inkml:brush xml:id="br0">
      <inkml:brushProperty name="width" value="0.05" units="cm"/>
      <inkml:brushProperty name="height" value="0.05" units="cm"/>
      <inkml:brushProperty name="color" value="#E71224"/>
    </inkml:brush>
  </inkml:definitions>
  <inkml:trace contextRef="#ctx0" brushRef="#br0">0 125 24575,'25'0'0,"11"0"0,28 0 0,8 0 0,9 0 0,-8 6 0,-3 1 0,19 7-898,-2-1 898,-37-8 0,1-1 0,39 2 221,-25-6-221,-3 0 0,-16 0 0,-6 0 0,-8 0 0,-1 0 677,-10 0-677,3 0 0,-4 0 0,-1 4 0,1-3 0,-1 4 0,-4-5 0,7 0 0,-7 0 0,4 0 0,-6 0 0,1 0 0,-4 0 0,8 0 0,-4 0 0,6 0 0,-1 0 0,0 0 0,1 0 0,-1 0 0,1 0 0,4 0 0,-3 0 0,4 0 0,-6 0 0,-4 0 0,3 0 0,-3 0 0,4 0 0,1 0 0,-6 0 0,4-5 0,-3 4 0,13-7 0,2 7 0,0-8 0,-2 8 0,-8-3 0,-6 4 0,4 0 0,-3 0 0,4 0 0,1 0 0,-1 0 0,-4 0 0,3 0 0,-4 0 0,6 0 0,-6 0 0,5 0 0,-5 0 0,1 0 0,3 0 0,-3 0 0,4 0 0,0 0 0,1 0 0,5 0 0,-5 0 0,5 0 0,-5 0 0,-1 0 0,6 0 0,-4 0 0,-1 0 0,-2 0 0,-3 0 0,4 0 0,-4 0 0,3 0 0,-8 0 0,3 0 0,-4 0 0,0 0 0,3 0 0,21 0 0,17 0 0,22 0 0,9 0 0,-27-1 0,2 2-419,3 2 0,-1 1 419,-3 0 0,-1-1 0,6 1 0,-3 1 0,26 7-256,9-10 256,-11 4 0,-10-6 0,-16 0 0,-8 0 0,-2 0 0,-12 0 827,0 0-827,-3 0 267,-3 0-267,-1 0 0,4 0 0,-3 0 0,5 0 0,-6 0 0,4 0 0,-9 0 0,10-5 0,-11 4 0,5-4 0,-5 1 0,5 3 0,-5-8 0,5 8 0,-6-7 0,6 7 0,-4-8 0,4 8 0,-6-8 0,1 8 0,-1-3 0,0 4 0,1-4 0,-1 3 0,1-4 0,-1 5 0,6 0 0,-5 0 0,11 0 0,9 0 0,-4 0 0,16 0 0,-19 0 0,6 0 0,-1 0 0,-5 0 0,6 0 0,-7 0 0,-6 0 0,13 0 0,-21 0 0,33 0 0,-5 0 0,27 0 0,17 0-1184,1 0 1184,-26 0 0,3 0 0,1 0 0,2 0 0,10 0 0,-2 0 0,-13 0 0,-3 0 0,2 0 0,-2 0-511,31 0 511,-42-2 0,-2-2 0,31-3 0,-17-5 0,-18 0 0,-13 2 0,-8 4 1153,-10 1-1153,-2 2 542,-4 2-542,0-3 0,-1 4 0,5 0 0,1 0 0,5 0 0,-4 0 0,3 0 0,-4-5 0,6 4 0,5-3 0,-5 4 0,5 0 0,-5 0 0,5 0 0,-5 0 0,11 0 0,-5 0 0,0 0 0,5 0 0,-5 0 0,6 0 0,0 0 0,0 0 0,-1 0 0,1 0 0,-5 0 0,3 0 0,-9-4 0,9 3 0,-3-4 0,8 5 0,-3 0 0,-3 0 0,2 0 0,-10 0 0,9 0 0,-4 0 0,6 0 0,0 0 0,0 0 0,0 0 0,0 0 0,0 0 0,6 0 0,-5 0 0,0 0 0,-2 0 0,-5 0 0,0 0 0,4-4 0,-9 2 0,4-2 0,-5-1 0,-1 4 0,0-7 0,-4 7 0,3-8 0,-3 8 0,10-3 0,-5-1 0,5 4 0,-5-3 0,-1 4 0,6 0 0,-4 0 0,4 0 0,-6 0 0,0 0 0,1 0 0,-1 0 0,15 0 0,-6 0 0,7 0 0,-5 0 0,-3 0 0,5 0 0,-1 0 0,1 0 0,0 0 0,-6 0 0,-1 0 0,0 0 0,-4 0 0,4 0 0,-10 0 0,3 0 0,-4 0 0,6 0 0,-6 0 0,5 0 0,-10 0 0,10 0 0,-9 0 0,3 0 0,4 0 0,-6 0 0,7 0 0,-10 0 0,6 0 0,-4 0 0,3 0 0,-4 0 0,0 0 0,-1 0 0,1 4 0,0-3 0,0 3 0,-1-4 0,1 4 0,0-3 0,0 2 0,-1-3 0,-3 0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32.960"/>
    </inkml:context>
    <inkml:brush xml:id="br0">
      <inkml:brushProperty name="width" value="0.05" units="cm"/>
      <inkml:brushProperty name="height" value="0.05" units="cm"/>
      <inkml:brushProperty name="color" value="#E71224"/>
    </inkml:brush>
  </inkml:definitions>
  <inkml:trace contextRef="#ctx0" brushRef="#br0">1 193 24575,'49'0'0,"6"0"0,34 0-779,-33 0 0,1 0 779,39 0 0,-36 0 0,-1 0 0,-7 0 0,-2 0 0,44 0 278,5 0-278,-33 0 0,3 0 312,-28 0-312,5 0 0,-14 0 0,-1 0 787,1 0-787,0 0 181,0 0-181,0-5 0,0 4 0,-6-4 0,4 5 0,-9 0 0,4-4 0,-10 3 0,3-3 0,-8 4 0,3 0 0,-4 0 0,0 0 0,4 0 0,-3 0 0,8 0 0,-8 0 0,8 0 0,-3 0 0,4 0 0,1 0 0,-1 0 0,1 0 0,-6 0 0,4 0 0,-8 0 0,8 0 0,-8 0 0,9 0 0,-9 0 0,8-5 0,-4 4 0,6-3 0,-1 4 0,6-5 0,1 4 0,1-8 0,3 8 0,-4-3 0,1-1 0,3 4 0,-9-7 0,9 7 0,-9-4 0,4 5 0,-6 0 0,1 0 0,-1-4 0,0 3 0,1-3 0,-1 4 0,0 0 0,1 0 0,-1 0 0,4-4 0,-7 3 0,1-3 0,-8 4 0,10 0 0,24 0 0,16 0 0,22 0 0,-27 0 0,1 0-240,-1 0 0,-1 0 240,0 0 0,1 0 0,0 0 0,-2 0 0,23 0-64,6 0 64,-17 0 0,-11 0 0,-19 0 0,3 0 0,-16 0 479,4 0-479,-6 0 65,6 0-65,-4 0 0,9 0 0,-9 0 0,9 0 0,-9 0 0,4 0 0,-6 0 0,-4 0 0,3 0 0,-3 0 0,-1 0 0,4 0 0,-8 0 0,9 0 0,-5 0 0,11 0 0,-4 0 0,9 0 0,-9 0 0,4 0 0,-6 0 0,1 0 0,-1 0 0,0 0 0,1 0 0,-1 0 0,1 0 0,-1 0 0,0 0 0,6 0 0,-4 0 0,9 0 0,-3 0 0,-1 0 0,-1 0 0,0 0 0,-4 0 0,4 0 0,-1 0 0,-3 0 0,10 0 0,-11 0 0,25 4 0,-15 2 0,16 0 0,-8 4 0,-4-9 0,4 9 0,-12-4 0,5 0 0,-5 3 0,0-8 0,-1 8 0,0-8 0,-4 3 0,9-4 0,3 0 0,4 0 0,24 0 0,30 0-949,-29 0 1,5 0 948,17 0 0,5 0-877,-24 0 1,3 0 0,0 0 876,3 0 0,1 0 0,1 0 0,4 0 0,1 0 0,-4 0 0,13 0 0,-2 0-738,12 0 1,-4 0 737,-28 0 0,-1 0 0,10 0 0,-1 0-213,-14 0 1,-3 0 212,35 0 1435,-28 0-1435,-16 0 2552,-10 0-2552,-10 0 1837,-3 0-1837,-4 0 602,-1 0-602,1 0 0,-1 0 0,6 0 0,-4 0 0,9 0 0,-9 0 0,9 0 0,-9 0 0,4 0 0,0 0 0,-4 0 0,3 0 0,-4 0 0,5 0 0,1 0 0,0 0 0,5 0 0,-5 0 0,6 0 0,0 0 0,-6 0 0,5-5 0,-11 4 0,5-3 0,0 4 0,-4 0 0,4 0 0,0 0 0,-5 0 0,11 0 0,-5-5 0,6 4 0,-6-8 0,5 3 0,-5-4 0,6-1 0,0 0 0,-1 1 0,1-1 0,0 5 0,0-3 0,-6 3 0,5 1 0,-11-4 0,5 8 0,-6-8 0,1 8 0,-1-3 0,1 4 0,-6-4 0,4 3 0,-8-3 0,4 4 0,-1 0 0,-3 0 0,4 0 0,-6 0 0,1-4 0,0 4 0,0-4 0,-1 4 0,1 0 0,0-4 0,-1-1 0,-3-4 0,-1 5 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36.416"/>
    </inkml:context>
    <inkml:brush xml:id="br0">
      <inkml:brushProperty name="width" value="0.05" units="cm"/>
      <inkml:brushProperty name="height" value="0.05" units="cm"/>
      <inkml:brushProperty name="color" value="#E71224"/>
    </inkml:brush>
  </inkml:definitions>
  <inkml:trace contextRef="#ctx0" brushRef="#br0">1 103 24575,'38'0'0,"9"0"0,8 0 0,16 0 0,-14 0 0,12 0 0,-14 0 0,24 0 0,-12 0 0,13 0 0,-18 0 0,-7 0 0,-8 0 0,-2 0 0,-5 0 0,6 0 0,8 0 0,-6 0 0,12 0 0,-12 0 0,13 0 0,-19 0 0,3 0 0,-19-5 0,-1 4 0,-5-3 0,-6 4 0,0 0 0,-6 0 0,6 0 0,1 0 0,4 0 0,6 0 0,1 0 0,12 0 0,-4 0 0,4 0 0,-6 0 0,0 0 0,0 0 0,-6-4 0,4 3 0,-9-4 0,4 5 0,0 0 0,1 0 0,6 0 0,6 0 0,-4 0 0,11 0 0,2 0 0,1 0 0,33-5 0,-28 3 0,21-3 0,-34 5 0,-2 0 0,-10 0 0,54 0 0,10 0-922,-16 0 0,6 0 922,-8 0 0,1 0 0,5-1 0,-2 2 0,-9 2 0,-2 1-317,-4 0 1,-3 0 316,34 4-7,-15 4 7,-23-11 0,21 5 0,-18 0 0,21 0 0,-25 6 0,-8 0 1781,-3-1-1781,-4 1 695,14 0-695,-6-6 8,29 6-8,-24-10 0,32 4 0,-27-6 0,12 0 0,-7 0 0,-8 0 0,-2 0 0,-13 0 0,-7 0 0,-8 0 0,-11 0 0,0 0 0,-6 0 0,8 0 0,35 0 0,36-7-892,-21 2 0,6 0 892,2-2 0,1-2 0,4 1 0,0-1 0,-7 1 0,2 0 0,23-1 0,4 0-1496,-5 0 0,4 0 1496,-19 0 0,2-1 0,-4 1 0,5 3 0,-5-1-390,7-5 0,-6 1 390,13 2 0,-41 6 0,-2-2 0,24-6 0,-13 9 1423,-26-3-1423,-4 5 3115,-16-4-3115,-2 3 1018,-4-3-1018,-1 4 0,17 0 0,12 0 0,18 0 0,0 6 0,23 1 0,-18 6 0,27 0 0,-6-6 0,-6 5 0,4-11 0,-16 5 0,-14-6 0,-4 0 0,-13 0 0,-6 0 0,-5 0 0,-3 0 0,-8 0 0,8 0 0,-8 0 0,8 0 0,-3 0 0,4 0 0,0 0 0,1 0 0,-1 0 0,0 0 0,1 0 0,-6 0 0,4 0 0,-8 0 0,4 0 0,-5 0 0,-1 0 0,1 0 0,-5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43.975"/>
    </inkml:context>
    <inkml:brush xml:id="br0">
      <inkml:brushProperty name="width" value="0.05" units="cm"/>
      <inkml:brushProperty name="height" value="0.05" units="cm"/>
      <inkml:brushProperty name="color" value="#E71224"/>
    </inkml:brush>
  </inkml:definitions>
  <inkml:trace contextRef="#ctx0" brushRef="#br0">1 126 24575,'12'0'0,"11"0"0,-1-5 0,6 4 0,-9-7 0,6 2 0,-4-4 0,4 4 0,-6-2 0,0 7 0,1-4 0,-1 1 0,0 3 0,-4-3 0,3 4 0,-3-5 0,4 4 0,1-3 0,-1 4 0,0-4 0,1 3 0,8-8 0,-7 8 0,7-3 0,-9-1 0,1 4 0,-1-3 0,-4 0 0,-2 3 0,1-3 0,-4 4 0,3-4 0,-4 3 0,4-3 0,-3 4 0,4 0 0,-1 0 0,2 0 0,-1 0 0,5 0 0,-9 0 0,8-4 0,-4 3 0,1-3 0,-2 4 0,1 0 0,-4 0 0,3 0 0,-4 0 0,0 0 0,0 0 0,-1 0 0,1 0 0,0 0 0,0 0 0,-1 0 0,1 0 0,4 0 0,-4 0 0,4 0 0,0 0 0,-3 0 0,4 0 0,-1 0 0,-3 0 0,8 0 0,-3 0 0,0 0 0,3 4 0,-8-3 0,8 3 0,-3 1 0,-1-4 0,4 3 0,-3 0 0,4-3 0,1 4 0,-6-1 0,4-3 0,-3 3 0,4 0 0,-4-3 0,3 3 0,-3-4 0,-1 4 0,5-3 0,-9 3 0,8-4 0,-8 0 0,3 0 0,1 4 0,-5-3 0,10 4 0,-9-5 0,8 4 0,-4-3 0,6 3 0,-6-4 0,5 5 0,-5-4 0,6 3 0,-1-4 0,-4 0 0,3 0 0,-4 0 0,6 0 0,-1 0 0,0 4 0,1-3 0,-1 4 0,-4-5 0,3 0 0,-3 0 0,4 0 0,0 0 0,-4 0 0,3 4 0,-8-3 0,8 3 0,-3-4 0,0 0 0,3 0 0,-8 4 0,3-3 0,-4 3 0,4-4 0,-3 0 0,4 0 0,-6 4 0,1-3 0,0 3 0,0-4 0,-1 0 0,1 0 0,-4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48.335"/>
    </inkml:context>
    <inkml:brush xml:id="br0">
      <inkml:brushProperty name="width" value="0.05" units="cm"/>
      <inkml:brushProperty name="height" value="0.05" units="cm"/>
      <inkml:brushProperty name="color" value="#E71224"/>
    </inkml:brush>
  </inkml:definitions>
  <inkml:trace contextRef="#ctx0" brushRef="#br0">1 256 24575,'17'0'0,"1"0"0,-3 0 0,3 0 0,-4 0 0,1 0 0,-2 0 0,-4 0 0,5 0 0,-4 0 0,3 0 0,-4 0 0,-1 0 0,1 0 0,0 0 0,4 0 0,-3 0 0,4 0 0,-1 0 0,-3 0 0,8 0 0,-9 0 0,4 0 0,-4 0 0,-1 0 0,1 0 0,0 0 0,0 0 0,-1 0 0,1 0 0,0 0 0,0 0 0,-1 0 0,1 0 0,0 0 0,-1 0 0,1 0 0,0 0 0,-1 0 0,1 0 0,-1 0 0,1 0 0,-1 0 0,0 0 0,1 0 0,-1 4 0,0-3 0,0 3 0,1-4 0,-1 0 0,-3 4 0,3-3 0,-4 2 0,5-3 0,-1 4 0,1-3 0,-1 3 0,1-4 0,-1 0 0,1 0 0,0 0 0,0 0 0,-1 0 0,6 4 0,1-3 0,9 3 0,-3 1 0,4-4 0,0 3 0,-4-4 0,9 5 0,-9-4 0,9 8 0,-3-7 0,5 2 0,-6-4 0,4 5 0,-3-4 0,5 9 0,-6-9 0,4 4 0,-9-5 0,4 0 0,-6 0 0,1 0 0,-1 4 0,-4-3 0,-2 3 0,-4-4 0,0 0 0,-1 0 0,1 0 0,0 0 0,-1 0 0,1 0 0,3 0 0,7 0 0,13 0 0,1 0 0,0 0 0,4 0 0,-3 0 0,6 0 0,-2 0 0,-6 0 0,-6-4 0,-1 3 0,-6-8 0,1 8 0,-1-7 0,0 6 0,1-6 0,-1 7 0,0-4 0,-4 2 0,3 2 0,-3-3 0,4 4 0,-4 0 0,3-5 0,-3 4 0,4-3 0,0 0 0,1 3 0,8-8 0,-7 8 0,7-3 0,-13 0 0,3 3 0,-8-3 0,8 4 0,-3-4 0,-1 3 0,5-8 0,-9 8 0,8-3 0,-4-1 0,6 4 0,-6-3 0,5 0 0,-5 3 0,6-8 0,-1 4 0,0-5 0,6 0 0,-4 4 0,4-3 0,0 4 0,4-5 0,4-1 0,-4 6 0,-4-4 0,-6 8 0,0-8 0,1 8 0,-1-7 0,0 6 0,1-6 0,-1 7 0,6-8 0,-4 8 0,9-9 0,-3 4 0,4 0 0,1-3 0,0 3 0,27-10 0,-20 9 0,26-9 0,-32 15 0,12-9 0,-12 8 0,0-3 0,6 5 0,-16 0 0,10 0 0,-13 0 0,-1 0 0,0 0 0,1 0 0,5 0 0,-5 0 0,11 0 0,1 0 0,2 0 0,4 0 0,0 0 0,2 0 0,0 0 0,4 0 0,-4 0 0,7 0 0,-8 0 0,6 0 0,-5 0 0,6 0 0,-6 0 0,5 0 0,-12 0 0,12 0 0,-12 0 0,5-5 0,-6 4 0,-5-3 0,3 4 0,-9 0 0,9 0 0,-9 0 0,4 0 0,-10 0 0,3 0 0,-4 0 0,1 0 0,3 0 0,-3 0 0,10 0 0,-5 0 0,5 0 0,0 0 0,2 0 0,4 0 0,-4 0 0,3 0 0,-9 0 0,9 0 0,-9 0 0,4 0 0,-6 0 0,-4 0 0,3 0 0,-3 0 0,-1 0 0,5 0 0,-9 0 0,8 4 0,-4 1 0,1 1 0,3 2 0,5-2 0,-1 3 0,6 1 0,-3-5 0,-4 4 0,9-3 0,-9-1 0,4 4 0,-6-8 0,6 4 0,-4-1 0,9 2 0,-9-1 0,9 5 0,-9-9 0,10 8 0,-5-8 0,0 8 0,5-8 0,-11 4 0,5-5 0,-5 4 0,-1-3 0,-4 3 0,3-4 0,-8 0 0,3 0 0,-4 0 0,-4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27T06:22:51.395"/>
    </inkml:context>
    <inkml:brush xml:id="br0">
      <inkml:brushProperty name="width" value="0.05" units="cm"/>
      <inkml:brushProperty name="height" value="0.05" units="cm"/>
      <inkml:brushProperty name="color" value="#E71224"/>
    </inkml:brush>
  </inkml:definitions>
  <inkml:trace contextRef="#ctx0" brushRef="#br0">0 0 24575,'37'0'0,"13"0"0,14 0 0,7 0 0,8 0 0,-4 0-833,-17 0 1,3 0 832,-4 0 0,3 0 0,24 0 0,2 0-699,-9 0 1,-1 0 698,11 0 0,-4 0 0,-31 0 0,-2 0-258,19 0 1,-3 0 257,7 0 0,-15 0 0,3 0 0,31 0 0,-16 0 0,10 0 0,-29 0 0,6 0 1109,26 0-1109,-6 0 0,12 0 0,-12 0 0,-20 0 1862,-1 0-1862,1 0 606,-1 0-606,-7 0 0,6 0 0,-13 0 0,6 0 0,-8 0 0,7 6 0,-5-5 0,13 5 0,3 0 0,-7-5 0,12 5 0,-6-6 0,1 0 0,15 0 0,-15 0 0,0 0 0,-11 0 0,-13 0 0,-2 0 0,-12 0 0,-1 0 0,-10 0 0,-2 0 0,-4 0 0,0 0 0,-4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F31F3-97AC-D046-ADFC-84B44AB66AC2}" type="datetimeFigureOut">
              <a:rPr lang="en-US" smtClean="0"/>
              <a:t>11/3/24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069AD-3A78-E44B-86E6-5B3A1340C5BC}" type="slidenum">
              <a:rPr lang="en-US" smtClean="0"/>
              <a:t>‹#›</a:t>
            </a:fld>
            <a:endParaRPr lang="en-US"/>
          </a:p>
        </p:txBody>
      </p:sp>
    </p:spTree>
    <p:extLst>
      <p:ext uri="{BB962C8B-B14F-4D97-AF65-F5344CB8AC3E}">
        <p14:creationId xmlns:p14="http://schemas.microsoft.com/office/powerpoint/2010/main" val="49613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whatis.techtarget.com/definition/inheritance" TargetMode="External"/><Relationship Id="rId3" Type="http://schemas.openxmlformats.org/officeDocument/2006/relationships/hyperlink" Target="https://searchnetworking.techtarget.com/definition/encapsulation" TargetMode="External"/><Relationship Id="rId7" Type="http://schemas.openxmlformats.org/officeDocument/2006/relationships/hyperlink" Target="https://searchcustomerexperience.techtarget.com/definition/implement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hatis.techtarget.com/definition/abstraction" TargetMode="External"/><Relationship Id="rId5" Type="http://schemas.openxmlformats.org/officeDocument/2006/relationships/hyperlink" Target="https://searchsqlserver.techtarget.com/definition/data-corruption" TargetMode="External"/><Relationship Id="rId4" Type="http://schemas.openxmlformats.org/officeDocument/2006/relationships/hyperlink" Target="https://searchsqlserver.techtarget.com/definition/data-hiding" TargetMode="External"/><Relationship Id="rId9" Type="http://schemas.openxmlformats.org/officeDocument/2006/relationships/hyperlink" Target="https://whatis.techtarget.com/definition/polymorphis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for information not necessarily to cover in great details  to know  for students to read later and be aware that we have large variety of programming paradigms</a:t>
            </a:r>
          </a:p>
        </p:txBody>
      </p:sp>
      <p:sp>
        <p:nvSpPr>
          <p:cNvPr id="4" name="Slide Number Placeholder 3"/>
          <p:cNvSpPr>
            <a:spLocks noGrp="1"/>
          </p:cNvSpPr>
          <p:nvPr>
            <p:ph type="sldNum" sz="quarter" idx="5"/>
          </p:nvPr>
        </p:nvSpPr>
        <p:spPr/>
        <p:txBody>
          <a:bodyPr/>
          <a:lstStyle/>
          <a:p>
            <a:fld id="{E1B069AD-3A78-E44B-86E6-5B3A1340C5BC}" type="slidenum">
              <a:rPr lang="en-US" smtClean="0"/>
              <a:t>3</a:t>
            </a:fld>
            <a:endParaRPr lang="en-US"/>
          </a:p>
        </p:txBody>
      </p:sp>
    </p:spTree>
    <p:extLst>
      <p:ext uri="{BB962C8B-B14F-4D97-AF65-F5344CB8AC3E}">
        <p14:creationId xmlns:p14="http://schemas.microsoft.com/office/powerpoint/2010/main" val="1345918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what the developers want to manipulate writer the how. This approach is well suited for program that are large, complex and actively updated and maintain. Object can be anything from a physical </a:t>
            </a:r>
            <a:r>
              <a:rPr lang="en-US" dirty="0" err="1"/>
              <a:t>ententi</a:t>
            </a:r>
            <a:r>
              <a:rPr lang="en-US" dirty="0"/>
              <a:t> </a:t>
            </a:r>
            <a:r>
              <a:rPr lang="en-US" dirty="0" err="1"/>
              <a:t>lika</a:t>
            </a:r>
            <a:r>
              <a:rPr lang="en-US" dirty="0"/>
              <a:t> a human being down to a small computer program. </a:t>
            </a:r>
          </a:p>
        </p:txBody>
      </p:sp>
      <p:sp>
        <p:nvSpPr>
          <p:cNvPr id="4" name="Slide Number Placeholder 3"/>
          <p:cNvSpPr>
            <a:spLocks noGrp="1"/>
          </p:cNvSpPr>
          <p:nvPr>
            <p:ph type="sldNum" sz="quarter" idx="5"/>
          </p:nvPr>
        </p:nvSpPr>
        <p:spPr/>
        <p:txBody>
          <a:bodyPr/>
          <a:lstStyle/>
          <a:p>
            <a:fld id="{E1B069AD-3A78-E44B-86E6-5B3A1340C5BC}" type="slidenum">
              <a:rPr lang="en-US" smtClean="0"/>
              <a:t>4</a:t>
            </a:fld>
            <a:endParaRPr lang="en-US"/>
          </a:p>
        </p:txBody>
      </p:sp>
    </p:spTree>
    <p:extLst>
      <p:ext uri="{BB962C8B-B14F-4D97-AF65-F5344CB8AC3E}">
        <p14:creationId xmlns:p14="http://schemas.microsoft.com/office/powerpoint/2010/main" val="2442665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This week we will be just looking at Encapsulation</a:t>
            </a:r>
            <a:r>
              <a:rPr lang="en-GB" dirty="0"/>
              <a:t>. The implementation and state of each object are privately held inside a defined boundary, or class. Other objects do not have access to this class or the authority to make changes but are only able to call a list of public functions, or methods. This characteristic of </a:t>
            </a:r>
            <a:r>
              <a:rPr lang="en-GB" dirty="0">
                <a:hlinkClick r:id="rId4"/>
              </a:rPr>
              <a:t>data hiding</a:t>
            </a:r>
            <a:r>
              <a:rPr lang="en-GB" dirty="0"/>
              <a:t> provides greater program security and avoids unintended </a:t>
            </a:r>
            <a:r>
              <a:rPr lang="en-GB" dirty="0">
                <a:hlinkClick r:id="rId5"/>
              </a:rPr>
              <a:t>data corruption</a:t>
            </a:r>
            <a:r>
              <a:rPr lang="en-GB" dirty="0"/>
              <a:t>.</a:t>
            </a:r>
          </a:p>
          <a:p>
            <a:endParaRPr lang="en-GB" dirty="0">
              <a:hlinkClick r:id="rId6"/>
            </a:endParaRPr>
          </a:p>
          <a:p>
            <a:r>
              <a:rPr lang="en-GB" dirty="0">
                <a:hlinkClick r:id="rId6"/>
              </a:rPr>
              <a:t>The remaining will be looked at in wee 10</a:t>
            </a:r>
          </a:p>
          <a:p>
            <a:r>
              <a:rPr lang="en-GB" dirty="0">
                <a:hlinkClick r:id="rId6"/>
              </a:rPr>
              <a:t>Abstraction</a:t>
            </a:r>
            <a:r>
              <a:rPr lang="en-GB" dirty="0"/>
              <a:t>. Objects only reveal internal mechanisms that are relevant for the use of other objects, hiding any unnecessary </a:t>
            </a:r>
            <a:r>
              <a:rPr lang="en-GB" dirty="0">
                <a:hlinkClick r:id="rId7"/>
              </a:rPr>
              <a:t>implementation</a:t>
            </a:r>
            <a:r>
              <a:rPr lang="en-GB" dirty="0"/>
              <a:t> code. This concept helps developers more easily make changes and additions over time.</a:t>
            </a:r>
          </a:p>
          <a:p>
            <a:r>
              <a:rPr lang="en-GB" dirty="0">
                <a:hlinkClick r:id="rId8"/>
              </a:rPr>
              <a:t>Inheritance</a:t>
            </a:r>
            <a:r>
              <a:rPr lang="en-GB" dirty="0"/>
              <a:t>. Relationships and subclasses between objects can be assigned, allowing developers to reuse a common logic while still maintaining a unique hierarchy. This property of OOP forces a more thorough data analysis, reduces development time and ensures a higher level of accuracy.</a:t>
            </a:r>
          </a:p>
          <a:p>
            <a:r>
              <a:rPr lang="en-GB" dirty="0">
                <a:hlinkClick r:id="rId9"/>
              </a:rPr>
              <a:t>Polymorphism</a:t>
            </a:r>
            <a:r>
              <a:rPr lang="en-GB" dirty="0"/>
              <a:t>. Objects can take on more than one form depending on the context. The program will determine which meaning or usage is necessary for each execution of that object, cutting down the need to duplicate code.</a:t>
            </a:r>
          </a:p>
          <a:p>
            <a:endParaRPr lang="en-GB" dirty="0"/>
          </a:p>
          <a:p>
            <a:endParaRPr lang="en-US" dirty="0"/>
          </a:p>
        </p:txBody>
      </p:sp>
      <p:sp>
        <p:nvSpPr>
          <p:cNvPr id="4" name="Slide Number Placeholder 3"/>
          <p:cNvSpPr>
            <a:spLocks noGrp="1"/>
          </p:cNvSpPr>
          <p:nvPr>
            <p:ph type="sldNum" sz="quarter" idx="5"/>
          </p:nvPr>
        </p:nvSpPr>
        <p:spPr/>
        <p:txBody>
          <a:bodyPr/>
          <a:lstStyle/>
          <a:p>
            <a:fld id="{E1B069AD-3A78-E44B-86E6-5B3A1340C5BC}" type="slidenum">
              <a:rPr lang="en-US" smtClean="0"/>
              <a:t>5</a:t>
            </a:fld>
            <a:endParaRPr lang="en-US"/>
          </a:p>
        </p:txBody>
      </p:sp>
    </p:spTree>
    <p:extLst>
      <p:ext uri="{BB962C8B-B14F-4D97-AF65-F5344CB8AC3E}">
        <p14:creationId xmlns:p14="http://schemas.microsoft.com/office/powerpoint/2010/main" val="4088558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Yhe</a:t>
            </a:r>
            <a:r>
              <a:rPr lang="en-US" dirty="0"/>
              <a:t> role of </a:t>
            </a:r>
            <a:r>
              <a:rPr lang="en-US" dirty="0" err="1"/>
              <a:t>Initialiser</a:t>
            </a:r>
            <a:r>
              <a:rPr lang="en-US" dirty="0"/>
              <a:t> is to provide its initialize  value</a:t>
            </a:r>
          </a:p>
        </p:txBody>
      </p:sp>
      <p:sp>
        <p:nvSpPr>
          <p:cNvPr id="4" name="Slide Number Placeholder 3"/>
          <p:cNvSpPr>
            <a:spLocks noGrp="1"/>
          </p:cNvSpPr>
          <p:nvPr>
            <p:ph type="sldNum" sz="quarter" idx="5"/>
          </p:nvPr>
        </p:nvSpPr>
        <p:spPr/>
        <p:txBody>
          <a:bodyPr/>
          <a:lstStyle/>
          <a:p>
            <a:fld id="{E1B069AD-3A78-E44B-86E6-5B3A1340C5BC}" type="slidenum">
              <a:rPr lang="en-US" smtClean="0"/>
              <a:t>16</a:t>
            </a:fld>
            <a:endParaRPr lang="en-US"/>
          </a:p>
        </p:txBody>
      </p:sp>
    </p:spTree>
    <p:extLst>
      <p:ext uri="{BB962C8B-B14F-4D97-AF65-F5344CB8AC3E}">
        <p14:creationId xmlns:p14="http://schemas.microsoft.com/office/powerpoint/2010/main" val="3860085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E506-F52A-4D4A-9FEC-9ADCDC83F6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EE950AC-D6EB-A441-9805-6F588DB97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21C7D5-6353-D04B-961C-25E8358B1E68}"/>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6EABB016-28DE-0D45-8B67-424243DE1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D5D71-1325-2742-AB55-8BA2A0BA192C}"/>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7120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EB294-36D1-8B4F-9310-1D31D155F8A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604676-9ECA-324A-AA8B-859AE68CDB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598B67-9D8A-3C49-9E7C-DBF9DDCBC522}"/>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50F9313E-E34A-E749-BBFE-8918D0288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75EED-06B8-4147-A537-EFF5C1B42A3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3091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6EDC-7EBC-7444-9F59-3D38AD4BE71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80CD582-8B07-5547-8ECB-DFAEAD6A0E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053B6CB-028D-2949-85F6-694ECB6129E4}"/>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079E3027-2636-8842-8552-F2EA3ACBB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326CE-1029-A245-BE00-EDF0C739BD7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9691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C3CF-9BF6-DA40-A1E5-0D337851A5D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5998EC2-7B33-9A4F-AEA4-EBB479AF1C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27A0B4-FB1C-7D47-AEE3-5D2664E1E4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2166CE6-F6DA-6647-B9FE-F2F737AB76E6}"/>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6" name="Footer Placeholder 5">
            <a:extLst>
              <a:ext uri="{FF2B5EF4-FFF2-40B4-BE49-F238E27FC236}">
                <a16:creationId xmlns:a16="http://schemas.microsoft.com/office/drawing/2014/main" id="{FD5AF648-3F55-F844-B604-AAC77C08B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C683-C2EF-794D-AE46-3C9809F905E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60690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941C-14F3-BF4E-B201-9DCE6D2FA7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31141F-0DEA-BE44-9E35-75D997B780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9F366A-8C3A-B845-900F-2FE3EDC155E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F3A9F1-16E5-C54D-AB65-85ED1CB974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0E0B85E-0C2E-4249-B1CD-DE6B357544F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AFDAD24-E049-9345-9ECE-D22EAD061702}"/>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8" name="Footer Placeholder 7">
            <a:extLst>
              <a:ext uri="{FF2B5EF4-FFF2-40B4-BE49-F238E27FC236}">
                <a16:creationId xmlns:a16="http://schemas.microsoft.com/office/drawing/2014/main" id="{B4E1D5BF-87B8-E944-BB7F-ADE9CA4D03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67366-438A-0948-9A3D-D95735A5164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782864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A943-738C-674B-85D3-9D43BCAFF01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F97D44-1F39-BD4C-9EFC-F383FA9B2A15}"/>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4" name="Footer Placeholder 3">
            <a:extLst>
              <a:ext uri="{FF2B5EF4-FFF2-40B4-BE49-F238E27FC236}">
                <a16:creationId xmlns:a16="http://schemas.microsoft.com/office/drawing/2014/main" id="{ABB6D099-37B6-F04C-A9EA-15F1653FAD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5CF10A-3B49-CA4B-A7D5-23BE1BB337B5}"/>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7902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49F785-7F95-474B-82E7-237F5886CC41}"/>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3" name="Footer Placeholder 2">
            <a:extLst>
              <a:ext uri="{FF2B5EF4-FFF2-40B4-BE49-F238E27FC236}">
                <a16:creationId xmlns:a16="http://schemas.microsoft.com/office/drawing/2014/main" id="{184CE0B8-4D51-D04D-BE0A-028CC5D839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0808-F602-F140-A3C8-617D8DBB2EFB}"/>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4163530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18133-29AE-EF40-B355-525DC1C982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FD2FB6D-2479-D041-832D-C50142413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BDB98B4-0F77-364B-B4B1-3DC55F6ED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4B109B-C7F4-4248-8096-D4A32D007CE4}"/>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6" name="Footer Placeholder 5">
            <a:extLst>
              <a:ext uri="{FF2B5EF4-FFF2-40B4-BE49-F238E27FC236}">
                <a16:creationId xmlns:a16="http://schemas.microsoft.com/office/drawing/2014/main" id="{5CB8D3E3-2F4C-8E43-BDC0-5BBFEDECE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7CA23-EF62-774E-AFD7-61E300A0442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44943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95BD-7E09-B14F-BC48-0E450B481BE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1FB91EE-3F93-D444-A18B-DC65D5D95A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19F5D7-8820-9B42-A87C-E70A08991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15B382-2ED4-F94A-A2D0-DA70AE9A9D50}"/>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6" name="Footer Placeholder 5">
            <a:extLst>
              <a:ext uri="{FF2B5EF4-FFF2-40B4-BE49-F238E27FC236}">
                <a16:creationId xmlns:a16="http://schemas.microsoft.com/office/drawing/2014/main" id="{6BEEECE4-AC58-8D42-A323-5D6ED552C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E7BEB-E58E-5748-AD06-15167F756AC4}"/>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54430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3809-EFA5-9E4C-95ED-D71D0A4F962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C30F6F-F25A-8747-9D94-205E28BFA0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C084C8-DF64-3544-AB8B-A06C67D04F61}"/>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715619A9-963E-D643-B64F-BAFAEAFB6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61C22-8DC0-C64C-9F30-C903BB17AAB3}"/>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73287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FE6F2C-E17A-9F4E-A978-1E54BB8D199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367755-F81D-6E43-887D-F49DE5744CC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EC40EA-D0B1-7943-B385-3CC3E94D91B9}"/>
              </a:ext>
            </a:extLst>
          </p:cNvPr>
          <p:cNvSpPr>
            <a:spLocks noGrp="1"/>
          </p:cNvSpPr>
          <p:nvPr>
            <p:ph type="dt" sz="half" idx="10"/>
          </p:nvPr>
        </p:nvSpPr>
        <p:spPr/>
        <p:txBody>
          <a:body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FA4C204A-0E6F-304A-BD81-2C0216ACD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7B2BE-5E29-254C-BBF5-69C1BFF0F730}"/>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07673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4019B-77AD-E74C-BC63-E6CFDCF21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A5AA913-D6B1-0141-841E-333B2776A3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8B1AAD-A171-1F41-A99C-E4C9B4871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01A15-1AA8-A543-8A69-3B4BF3360F78}" type="datetimeFigureOut">
              <a:rPr lang="en-US" smtClean="0"/>
              <a:t>11/3/24</a:t>
            </a:fld>
            <a:endParaRPr lang="en-US"/>
          </a:p>
        </p:txBody>
      </p:sp>
      <p:sp>
        <p:nvSpPr>
          <p:cNvPr id="5" name="Footer Placeholder 4">
            <a:extLst>
              <a:ext uri="{FF2B5EF4-FFF2-40B4-BE49-F238E27FC236}">
                <a16:creationId xmlns:a16="http://schemas.microsoft.com/office/drawing/2014/main" id="{83C40490-CBB1-614F-9ABF-848A9BE76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2A72C8-5754-9F42-B498-7B3A9EB99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7986A-6522-AA4A-BC27-239CAAFA8BE0}" type="slidenum">
              <a:rPr lang="en-US" smtClean="0"/>
              <a:t>‹#›</a:t>
            </a:fld>
            <a:endParaRPr lang="en-US"/>
          </a:p>
        </p:txBody>
      </p:sp>
    </p:spTree>
    <p:extLst>
      <p:ext uri="{BB962C8B-B14F-4D97-AF65-F5344CB8AC3E}">
        <p14:creationId xmlns:p14="http://schemas.microsoft.com/office/powerpoint/2010/main" val="222868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searchnetworking.techtarget.com/definition/encapsulatio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hatis.techtarget.com/definition/polymorphism" TargetMode="External"/><Relationship Id="rId5" Type="http://schemas.openxmlformats.org/officeDocument/2006/relationships/hyperlink" Target="https://whatis.techtarget.com/definition/inheritance" TargetMode="External"/><Relationship Id="rId4" Type="http://schemas.openxmlformats.org/officeDocument/2006/relationships/hyperlink" Target="https://whatis.techtarget.com/definition/abstrac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tiff"/><Relationship Id="rId1" Type="http://schemas.openxmlformats.org/officeDocument/2006/relationships/slideLayout" Target="../slideLayouts/slideLayout2.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10" Type="http://schemas.openxmlformats.org/officeDocument/2006/relationships/image" Target="../media/image8.tiff"/><Relationship Id="rId4" Type="http://schemas.openxmlformats.org/officeDocument/2006/relationships/image" Target="../media/image16.png"/><Relationship Id="rId9" Type="http://schemas.openxmlformats.org/officeDocument/2006/relationships/image" Target="../media/image2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svg"/><Relationship Id="rId10" Type="http://schemas.openxmlformats.org/officeDocument/2006/relationships/image" Target="../media/image6.tiff"/><Relationship Id="rId4" Type="http://schemas.openxmlformats.org/officeDocument/2006/relationships/image" Target="../media/image24.png"/><Relationship Id="rId9" Type="http://schemas.openxmlformats.org/officeDocument/2006/relationships/image" Target="../media/image29.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NULL"/><Relationship Id="rId14" Type="http://schemas.openxmlformats.org/officeDocument/2006/relationships/customXml" Target="../ink/ink7.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C452144-C466-564C-9333-CAF1F6F79AA0}"/>
              </a:ext>
            </a:extLst>
          </p:cNvPr>
          <p:cNvSpPr>
            <a:spLocks noGrp="1"/>
          </p:cNvSpPr>
          <p:nvPr>
            <p:ph type="subTitle" idx="1"/>
          </p:nvPr>
        </p:nvSpPr>
        <p:spPr>
          <a:xfrm>
            <a:off x="1966912" y="5645150"/>
            <a:ext cx="8258176" cy="631825"/>
          </a:xfrm>
        </p:spPr>
        <p:txBody>
          <a:bodyPr anchor="ctr">
            <a:normAutofit/>
          </a:bodyPr>
          <a:lstStyle/>
          <a:p>
            <a:r>
              <a:rPr lang="en-US" sz="2800" dirty="0">
                <a:solidFill>
                  <a:schemeClr val="bg2">
                    <a:lumMod val="25000"/>
                  </a:schemeClr>
                </a:solidFill>
                <a:latin typeface="Arial" panose="020B0604020202020204" pitchFamily="34" charset="0"/>
                <a:cs typeface="Arial" panose="020B0604020202020204" pitchFamily="34" charset="0"/>
              </a:rPr>
              <a:t>Week 7</a:t>
            </a:r>
          </a:p>
        </p:txBody>
      </p:sp>
      <p:pic>
        <p:nvPicPr>
          <p:cNvPr id="5" name="Picture 4">
            <a:extLst>
              <a:ext uri="{FF2B5EF4-FFF2-40B4-BE49-F238E27FC236}">
                <a16:creationId xmlns:a16="http://schemas.microsoft.com/office/drawing/2014/main" id="{56454EAB-9624-C84A-9143-32D25169319F}"/>
              </a:ext>
            </a:extLst>
          </p:cNvPr>
          <p:cNvPicPr>
            <a:picLocks noChangeAspect="1"/>
          </p:cNvPicPr>
          <p:nvPr/>
        </p:nvPicPr>
        <p:blipFill>
          <a:blip r:embed="rId2"/>
          <a:stretch>
            <a:fillRect/>
          </a:stretch>
        </p:blipFill>
        <p:spPr>
          <a:xfrm>
            <a:off x="10585133" y="288608"/>
            <a:ext cx="1422400" cy="1422400"/>
          </a:xfrm>
          <a:prstGeom prst="rect">
            <a:avLst/>
          </a:prstGeom>
        </p:spPr>
      </p:pic>
      <p:sp>
        <p:nvSpPr>
          <p:cNvPr id="11" name="Title 1">
            <a:extLst>
              <a:ext uri="{FF2B5EF4-FFF2-40B4-BE49-F238E27FC236}">
                <a16:creationId xmlns:a16="http://schemas.microsoft.com/office/drawing/2014/main" id="{8377DBAC-A26B-A04B-8514-55582F349383}"/>
              </a:ext>
            </a:extLst>
          </p:cNvPr>
          <p:cNvSpPr txBox="1">
            <a:spLocks/>
          </p:cNvSpPr>
          <p:nvPr/>
        </p:nvSpPr>
        <p:spPr>
          <a:xfrm>
            <a:off x="1524003" y="1999615"/>
            <a:ext cx="9144000" cy="276402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tx1">
                    <a:lumMod val="65000"/>
                    <a:lumOff val="35000"/>
                  </a:schemeClr>
                </a:solidFill>
                <a:latin typeface="Arial" panose="020B0604020202020204" pitchFamily="34" charset="0"/>
                <a:cs typeface="Arial" panose="020B0604020202020204" pitchFamily="34" charset="0"/>
              </a:rPr>
              <a:t>CST1510</a:t>
            </a:r>
            <a:br>
              <a:rPr lang="en-US" sz="7200" b="1" dirty="0">
                <a:solidFill>
                  <a:schemeClr val="tx1">
                    <a:lumMod val="65000"/>
                    <a:lumOff val="35000"/>
                  </a:schemeClr>
                </a:solidFill>
                <a:latin typeface="Arial" panose="020B0604020202020204" pitchFamily="34" charset="0"/>
                <a:cs typeface="Arial" panose="020B0604020202020204" pitchFamily="34" charset="0"/>
              </a:rPr>
            </a:br>
            <a:r>
              <a:rPr lang="en-US" sz="3200" b="1" dirty="0">
                <a:solidFill>
                  <a:schemeClr val="tx1">
                    <a:lumMod val="65000"/>
                    <a:lumOff val="35000"/>
                  </a:schemeClr>
                </a:solidFill>
                <a:latin typeface="Arial" panose="020B0604020202020204" pitchFamily="34" charset="0"/>
                <a:cs typeface="Arial" panose="020B0604020202020204" pitchFamily="34" charset="0"/>
              </a:rPr>
              <a:t>Programming for data communication </a:t>
            </a:r>
            <a:br>
              <a:rPr lang="en-US" sz="3200" b="1" dirty="0">
                <a:solidFill>
                  <a:schemeClr val="tx1">
                    <a:lumMod val="65000"/>
                    <a:lumOff val="35000"/>
                  </a:schemeClr>
                </a:solidFill>
                <a:latin typeface="Arial" panose="020B0604020202020204" pitchFamily="34" charset="0"/>
                <a:cs typeface="Arial" panose="020B0604020202020204" pitchFamily="34" charset="0"/>
              </a:rPr>
            </a:br>
            <a:r>
              <a:rPr lang="en-US" sz="3200" b="1" dirty="0">
                <a:solidFill>
                  <a:schemeClr val="tx1">
                    <a:lumMod val="65000"/>
                    <a:lumOff val="35000"/>
                  </a:schemeClr>
                </a:solidFill>
                <a:latin typeface="Arial" panose="020B0604020202020204" pitchFamily="34" charset="0"/>
                <a:cs typeface="Arial" panose="020B0604020202020204" pitchFamily="34" charset="0"/>
              </a:rPr>
              <a:t>and networks</a:t>
            </a:r>
          </a:p>
        </p:txBody>
      </p:sp>
    </p:spTree>
    <p:extLst>
      <p:ext uri="{BB962C8B-B14F-4D97-AF65-F5344CB8AC3E}">
        <p14:creationId xmlns:p14="http://schemas.microsoft.com/office/powerpoint/2010/main" val="1083174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225A-AD7B-1949-8FF0-8C4620A26975}"/>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Objectives:</a:t>
            </a:r>
            <a:endParaRPr lang="en-US" dirty="0"/>
          </a:p>
        </p:txBody>
      </p:sp>
      <p:sp>
        <p:nvSpPr>
          <p:cNvPr id="3" name="Content Placeholder 2">
            <a:extLst>
              <a:ext uri="{FF2B5EF4-FFF2-40B4-BE49-F238E27FC236}">
                <a16:creationId xmlns:a16="http://schemas.microsoft.com/office/drawing/2014/main" id="{B28DA2C6-DF96-2243-8FC0-521439983B58}"/>
              </a:ext>
            </a:extLst>
          </p:cNvPr>
          <p:cNvSpPr>
            <a:spLocks noGrp="1"/>
          </p:cNvSpPr>
          <p:nvPr>
            <p:ph idx="1"/>
          </p:nvPr>
        </p:nvSpPr>
        <p:spPr/>
        <p:txBody>
          <a:bodyPr>
            <a:normAutofit fontScale="77500" lnSpcReduction="20000"/>
          </a:bodyPr>
          <a:lstStyle/>
          <a:p>
            <a:r>
              <a:rPr lang="en-US" dirty="0"/>
              <a:t>Programming paradigms</a:t>
            </a:r>
          </a:p>
          <a:p>
            <a:r>
              <a:rPr lang="en-GB" dirty="0"/>
              <a:t>OOP overview &amp; principles</a:t>
            </a:r>
          </a:p>
          <a:p>
            <a:r>
              <a:rPr lang="en-GB" dirty="0"/>
              <a:t>Object</a:t>
            </a:r>
          </a:p>
          <a:p>
            <a:r>
              <a:rPr lang="en-GB" dirty="0"/>
              <a:t>Class UML</a:t>
            </a:r>
          </a:p>
          <a:p>
            <a:r>
              <a:rPr lang="en-GB" dirty="0"/>
              <a:t>A simple class</a:t>
            </a:r>
          </a:p>
          <a:p>
            <a:r>
              <a:rPr lang="en-GB" dirty="0"/>
              <a:t>Creating Object of a class</a:t>
            </a:r>
          </a:p>
          <a:p>
            <a:r>
              <a:rPr lang="en-GB" dirty="0"/>
              <a:t>Encapsulation</a:t>
            </a:r>
          </a:p>
          <a:p>
            <a:r>
              <a:rPr lang="en-US" dirty="0"/>
              <a:t>Superclass and subclass: </a:t>
            </a:r>
            <a:r>
              <a:rPr lang="en-GB" dirty="0"/>
              <a:t> </a:t>
            </a:r>
            <a:r>
              <a:rPr lang="en-GB" b="1" dirty="0"/>
              <a:t>Inheritance</a:t>
            </a:r>
            <a:endParaRPr lang="en-US" dirty="0"/>
          </a:p>
          <a:p>
            <a:r>
              <a:rPr lang="en-GB" dirty="0"/>
              <a:t>The object Class</a:t>
            </a:r>
          </a:p>
          <a:p>
            <a:r>
              <a:rPr lang="en-GB" b="1" dirty="0"/>
              <a:t>Polymorphism</a:t>
            </a:r>
            <a:r>
              <a:rPr lang="en-GB" dirty="0"/>
              <a:t> and Dynamic Binding</a:t>
            </a:r>
          </a:p>
          <a:p>
            <a:r>
              <a:rPr lang="en-GB" dirty="0"/>
              <a:t>The </a:t>
            </a:r>
            <a:r>
              <a:rPr lang="en-GB" b="1" dirty="0" err="1"/>
              <a:t>isinstance</a:t>
            </a:r>
            <a:r>
              <a:rPr lang="en-GB" dirty="0"/>
              <a:t> Function</a:t>
            </a:r>
          </a:p>
          <a:p>
            <a:r>
              <a:rPr lang="en-GB" dirty="0"/>
              <a:t>Class Relationships:  association,  aggregation,  composition</a:t>
            </a:r>
          </a:p>
          <a:p>
            <a:endParaRPr lang="en-GB" dirty="0"/>
          </a:p>
          <a:p>
            <a:endParaRPr lang="en-US" dirty="0"/>
          </a:p>
        </p:txBody>
      </p:sp>
      <p:cxnSp>
        <p:nvCxnSpPr>
          <p:cNvPr id="4" name="Straight Connector 3">
            <a:extLst>
              <a:ext uri="{FF2B5EF4-FFF2-40B4-BE49-F238E27FC236}">
                <a16:creationId xmlns:a16="http://schemas.microsoft.com/office/drawing/2014/main" id="{B4C86325-114C-4445-901B-0EC6F168EB66}"/>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366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2A073-527B-914E-AD3E-EEFCCD5F42F8}"/>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Programming paradigms</a:t>
            </a:r>
          </a:p>
        </p:txBody>
      </p:sp>
      <p:sp>
        <p:nvSpPr>
          <p:cNvPr id="3" name="Content Placeholder 2">
            <a:extLst>
              <a:ext uri="{FF2B5EF4-FFF2-40B4-BE49-F238E27FC236}">
                <a16:creationId xmlns:a16="http://schemas.microsoft.com/office/drawing/2014/main" id="{F013410C-A1CA-284F-8597-E5F9E264D42E}"/>
              </a:ext>
            </a:extLst>
          </p:cNvPr>
          <p:cNvSpPr>
            <a:spLocks noGrp="1"/>
          </p:cNvSpPr>
          <p:nvPr>
            <p:ph idx="1"/>
          </p:nvPr>
        </p:nvSpPr>
        <p:spPr>
          <a:xfrm>
            <a:off x="707344" y="1298337"/>
            <a:ext cx="5586775" cy="6439694"/>
          </a:xfrm>
        </p:spPr>
        <p:txBody>
          <a:bodyPr>
            <a:noAutofit/>
          </a:bodyPr>
          <a:lstStyle/>
          <a:p>
            <a:pPr marL="0" indent="0">
              <a:buNone/>
            </a:pPr>
            <a:endParaRPr lang="en-GB" sz="1800" dirty="0"/>
          </a:p>
          <a:p>
            <a:r>
              <a:rPr lang="en-GB" sz="1800" b="1" dirty="0">
                <a:latin typeface="Arial" panose="020B0604020202020204" pitchFamily="34" charset="0"/>
                <a:cs typeface="Arial" panose="020B0604020202020204" pitchFamily="34" charset="0"/>
              </a:rPr>
              <a:t>Imperative</a:t>
            </a:r>
            <a:r>
              <a:rPr lang="en-GB" sz="1800" dirty="0">
                <a:latin typeface="Arial" panose="020B0604020202020204" pitchFamily="34" charset="0"/>
                <a:cs typeface="Arial" panose="020B0604020202020204" pitchFamily="34" charset="0"/>
              </a:rPr>
              <a:t>: Programming with an explicit sequence of commands that update state. </a:t>
            </a:r>
          </a:p>
          <a:p>
            <a:r>
              <a:rPr lang="en-GB" sz="1800" b="1" dirty="0">
                <a:latin typeface="Arial" panose="020B0604020202020204" pitchFamily="34" charset="0"/>
                <a:cs typeface="Arial" panose="020B0604020202020204" pitchFamily="34" charset="0"/>
              </a:rPr>
              <a:t>Declarative</a:t>
            </a:r>
            <a:r>
              <a:rPr lang="en-GB" sz="1800" dirty="0">
                <a:latin typeface="Arial" panose="020B0604020202020204" pitchFamily="34" charset="0"/>
                <a:cs typeface="Arial" panose="020B0604020202020204" pitchFamily="34" charset="0"/>
              </a:rPr>
              <a:t>: Programming by specifying the result you want, not how to get it. </a:t>
            </a:r>
          </a:p>
          <a:p>
            <a:r>
              <a:rPr lang="en-GB" sz="1800" b="1" dirty="0">
                <a:latin typeface="Arial" panose="020B0604020202020204" pitchFamily="34" charset="0"/>
                <a:cs typeface="Arial" panose="020B0604020202020204" pitchFamily="34" charset="0"/>
              </a:rPr>
              <a:t>Structured</a:t>
            </a:r>
            <a:r>
              <a:rPr lang="en-GB" sz="1800" dirty="0">
                <a:latin typeface="Arial" panose="020B0604020202020204" pitchFamily="34" charset="0"/>
                <a:cs typeface="Arial" panose="020B0604020202020204" pitchFamily="34" charset="0"/>
              </a:rPr>
              <a:t>: Programming with clean, </a:t>
            </a:r>
            <a:r>
              <a:rPr lang="en-GB" sz="1800" dirty="0" err="1">
                <a:latin typeface="Arial" panose="020B0604020202020204" pitchFamily="34" charset="0"/>
                <a:cs typeface="Arial" panose="020B0604020202020204" pitchFamily="34" charset="0"/>
              </a:rPr>
              <a:t>goto</a:t>
            </a:r>
            <a:r>
              <a:rPr lang="en-GB" sz="1800" dirty="0">
                <a:latin typeface="Arial" panose="020B0604020202020204" pitchFamily="34" charset="0"/>
                <a:cs typeface="Arial" panose="020B0604020202020204" pitchFamily="34" charset="0"/>
              </a:rPr>
              <a:t>-free, nested control structures. </a:t>
            </a:r>
          </a:p>
          <a:p>
            <a:r>
              <a:rPr lang="en-GB" sz="1800" b="1" dirty="0">
                <a:latin typeface="Arial" panose="020B0604020202020204" pitchFamily="34" charset="0"/>
                <a:cs typeface="Arial" panose="020B0604020202020204" pitchFamily="34" charset="0"/>
              </a:rPr>
              <a:t>Procedural</a:t>
            </a:r>
            <a:r>
              <a:rPr lang="en-GB" sz="1800" dirty="0">
                <a:latin typeface="Arial" panose="020B0604020202020204" pitchFamily="34" charset="0"/>
                <a:cs typeface="Arial" panose="020B0604020202020204" pitchFamily="34" charset="0"/>
              </a:rPr>
              <a:t>: Imperative programming with procedure calls. </a:t>
            </a:r>
          </a:p>
          <a:p>
            <a:r>
              <a:rPr lang="en-GB" sz="1800" b="1" dirty="0">
                <a:latin typeface="Arial" panose="020B0604020202020204" pitchFamily="34" charset="0"/>
                <a:cs typeface="Arial" panose="020B0604020202020204" pitchFamily="34" charset="0"/>
              </a:rPr>
              <a:t>Functional</a:t>
            </a:r>
            <a:r>
              <a:rPr lang="en-GB" sz="1800" dirty="0">
                <a:latin typeface="Arial" panose="020B0604020202020204" pitchFamily="34" charset="0"/>
                <a:cs typeface="Arial" panose="020B0604020202020204" pitchFamily="34" charset="0"/>
              </a:rPr>
              <a:t> (Applicative): Programming with function calls that avoid any global state. </a:t>
            </a:r>
          </a:p>
          <a:p>
            <a:r>
              <a:rPr lang="en-GB" sz="1800" b="1" dirty="0">
                <a:latin typeface="Arial" panose="020B0604020202020204" pitchFamily="34" charset="0"/>
                <a:cs typeface="Arial" panose="020B0604020202020204" pitchFamily="34" charset="0"/>
              </a:rPr>
              <a:t>Function-Level </a:t>
            </a:r>
            <a:r>
              <a:rPr lang="en-GB" sz="1800" dirty="0">
                <a:latin typeface="Arial" panose="020B0604020202020204" pitchFamily="34" charset="0"/>
                <a:cs typeface="Arial" panose="020B0604020202020204" pitchFamily="34" charset="0"/>
              </a:rPr>
              <a:t>(Combinator): Programming with no variables at all. </a:t>
            </a:r>
          </a:p>
          <a:p>
            <a:r>
              <a:rPr lang="en-GB" sz="1800" b="1" dirty="0">
                <a:latin typeface="Arial" panose="020B0604020202020204" pitchFamily="34" charset="0"/>
                <a:cs typeface="Arial" panose="020B0604020202020204" pitchFamily="34" charset="0"/>
              </a:rPr>
              <a:t>Object-Oriented: </a:t>
            </a:r>
            <a:r>
              <a:rPr lang="en-GB" sz="1800" dirty="0">
                <a:latin typeface="Arial" panose="020B0604020202020204" pitchFamily="34" charset="0"/>
                <a:cs typeface="Arial" panose="020B0604020202020204" pitchFamily="34" charset="0"/>
              </a:rPr>
              <a:t>Programming by defining objects that send messages to each other. </a:t>
            </a:r>
          </a:p>
          <a:p>
            <a:endParaRPr lang="en-US" sz="1800" dirty="0"/>
          </a:p>
        </p:txBody>
      </p:sp>
      <p:sp>
        <p:nvSpPr>
          <p:cNvPr id="10" name="Content Placeholder 2">
            <a:extLst>
              <a:ext uri="{FF2B5EF4-FFF2-40B4-BE49-F238E27FC236}">
                <a16:creationId xmlns:a16="http://schemas.microsoft.com/office/drawing/2014/main" id="{ECEE4579-8415-E749-B98C-76888BB9B629}"/>
              </a:ext>
            </a:extLst>
          </p:cNvPr>
          <p:cNvSpPr txBox="1">
            <a:spLocks/>
          </p:cNvSpPr>
          <p:nvPr/>
        </p:nvSpPr>
        <p:spPr>
          <a:xfrm>
            <a:off x="6583680" y="1298337"/>
            <a:ext cx="5455920" cy="64396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1" dirty="0">
                <a:latin typeface="Arial" panose="020B0604020202020204" pitchFamily="34" charset="0"/>
                <a:cs typeface="Arial" panose="020B0604020202020204" pitchFamily="34" charset="0"/>
              </a:rPr>
              <a:t>Event-Driven</a:t>
            </a:r>
            <a:r>
              <a:rPr lang="en-GB" sz="1800" dirty="0">
                <a:latin typeface="Arial" panose="020B0604020202020204" pitchFamily="34" charset="0"/>
                <a:cs typeface="Arial" panose="020B0604020202020204" pitchFamily="34" charset="0"/>
              </a:rPr>
              <a:t>: Programming with emitters and listeners of asynchronous actions. </a:t>
            </a:r>
          </a:p>
          <a:p>
            <a:r>
              <a:rPr lang="en-GB" sz="1800" b="1" dirty="0">
                <a:latin typeface="Arial" panose="020B0604020202020204" pitchFamily="34" charset="0"/>
                <a:cs typeface="Arial" panose="020B0604020202020204" pitchFamily="34" charset="0"/>
              </a:rPr>
              <a:t>Flow-Driven: </a:t>
            </a:r>
            <a:r>
              <a:rPr lang="en-GB" sz="1800" dirty="0">
                <a:latin typeface="Arial" panose="020B0604020202020204" pitchFamily="34" charset="0"/>
                <a:cs typeface="Arial" panose="020B0604020202020204" pitchFamily="34" charset="0"/>
              </a:rPr>
              <a:t>Programming processes communicating with each other over predefined channels. </a:t>
            </a:r>
          </a:p>
          <a:p>
            <a:r>
              <a:rPr lang="en-GB" sz="1800" b="1" dirty="0">
                <a:latin typeface="Arial" panose="020B0604020202020204" pitchFamily="34" charset="0"/>
                <a:cs typeface="Arial" panose="020B0604020202020204" pitchFamily="34" charset="0"/>
              </a:rPr>
              <a:t>Logic (Rule-based): </a:t>
            </a:r>
            <a:r>
              <a:rPr lang="en-GB" sz="1800" dirty="0">
                <a:latin typeface="Arial" panose="020B0604020202020204" pitchFamily="34" charset="0"/>
                <a:cs typeface="Arial" panose="020B0604020202020204" pitchFamily="34" charset="0"/>
              </a:rPr>
              <a:t>Programming by specifying a set of facts and rules. An engine infers the answers to questions. </a:t>
            </a:r>
          </a:p>
          <a:p>
            <a:r>
              <a:rPr lang="en-GB" sz="1800" b="1" dirty="0">
                <a:latin typeface="Arial" panose="020B0604020202020204" pitchFamily="34" charset="0"/>
                <a:cs typeface="Arial" panose="020B0604020202020204" pitchFamily="34" charset="0"/>
              </a:rPr>
              <a:t>Constraint</a:t>
            </a:r>
            <a:r>
              <a:rPr lang="en-GB" sz="1800" dirty="0">
                <a:latin typeface="Arial" panose="020B0604020202020204" pitchFamily="34" charset="0"/>
                <a:cs typeface="Arial" panose="020B0604020202020204" pitchFamily="34" charset="0"/>
              </a:rPr>
              <a:t>: Programming by specifying a set of constraints. An engine finds the values that meet the constraints. </a:t>
            </a:r>
          </a:p>
          <a:p>
            <a:r>
              <a:rPr lang="en-GB" sz="1800" b="1" dirty="0">
                <a:latin typeface="Arial" panose="020B0604020202020204" pitchFamily="34" charset="0"/>
                <a:cs typeface="Arial" panose="020B0604020202020204" pitchFamily="34" charset="0"/>
              </a:rPr>
              <a:t>Aspect-Oriented: </a:t>
            </a:r>
            <a:r>
              <a:rPr lang="en-GB" sz="1800" dirty="0">
                <a:latin typeface="Arial" panose="020B0604020202020204" pitchFamily="34" charset="0"/>
                <a:cs typeface="Arial" panose="020B0604020202020204" pitchFamily="34" charset="0"/>
              </a:rPr>
              <a:t>Programming cross-cutting concerns applied transparently. </a:t>
            </a:r>
          </a:p>
          <a:p>
            <a:r>
              <a:rPr lang="en-GB" sz="1800" b="1" dirty="0">
                <a:latin typeface="Arial" panose="020B0604020202020204" pitchFamily="34" charset="0"/>
                <a:cs typeface="Arial" panose="020B0604020202020204" pitchFamily="34" charset="0"/>
              </a:rPr>
              <a:t>Reflective: </a:t>
            </a:r>
            <a:r>
              <a:rPr lang="en-GB" sz="1800" dirty="0">
                <a:latin typeface="Arial" panose="020B0604020202020204" pitchFamily="34" charset="0"/>
                <a:cs typeface="Arial" panose="020B0604020202020204" pitchFamily="34" charset="0"/>
              </a:rPr>
              <a:t>Programming by manipulating the program elements themselves. </a:t>
            </a:r>
          </a:p>
          <a:p>
            <a:r>
              <a:rPr lang="en-GB" sz="1800" b="1" dirty="0">
                <a:latin typeface="Arial" panose="020B0604020202020204" pitchFamily="34" charset="0"/>
                <a:cs typeface="Arial" panose="020B0604020202020204" pitchFamily="34" charset="0"/>
              </a:rPr>
              <a:t>Array: </a:t>
            </a:r>
            <a:r>
              <a:rPr lang="en-GB" sz="1800" dirty="0">
                <a:latin typeface="Arial" panose="020B0604020202020204" pitchFamily="34" charset="0"/>
                <a:cs typeface="Arial" panose="020B0604020202020204" pitchFamily="34" charset="0"/>
              </a:rPr>
              <a:t>Programming with powerful array operators that usually make loops unnecessary. </a:t>
            </a:r>
          </a:p>
          <a:p>
            <a:endParaRPr lang="en-US" sz="1800" dirty="0"/>
          </a:p>
        </p:txBody>
      </p:sp>
      <p:sp>
        <p:nvSpPr>
          <p:cNvPr id="7" name="TextBox 6">
            <a:extLst>
              <a:ext uri="{FF2B5EF4-FFF2-40B4-BE49-F238E27FC236}">
                <a16:creationId xmlns:a16="http://schemas.microsoft.com/office/drawing/2014/main" id="{DF7AE114-3FC8-9F40-A49D-DB7C88CD655E}"/>
              </a:ext>
            </a:extLst>
          </p:cNvPr>
          <p:cNvSpPr txBox="1"/>
          <p:nvPr/>
        </p:nvSpPr>
        <p:spPr>
          <a:xfrm>
            <a:off x="454571" y="6370320"/>
            <a:ext cx="10777309" cy="646331"/>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Paradigms are </a:t>
            </a:r>
            <a:r>
              <a:rPr lang="en-GB" b="1" dirty="0">
                <a:latin typeface="Arial" panose="020B0604020202020204" pitchFamily="34" charset="0"/>
                <a:cs typeface="Arial" panose="020B0604020202020204" pitchFamily="34" charset="0"/>
              </a:rPr>
              <a:t>not meant to be mutually exclusive</a:t>
            </a:r>
            <a:r>
              <a:rPr lang="en-GB" dirty="0">
                <a:latin typeface="Arial" panose="020B0604020202020204" pitchFamily="34" charset="0"/>
                <a:cs typeface="Arial" panose="020B0604020202020204" pitchFamily="34" charset="0"/>
              </a:rPr>
              <a:t>; a single program can feature multiple paradigms! </a:t>
            </a:r>
          </a:p>
          <a:p>
            <a:endParaRPr lang="en-US" dirty="0"/>
          </a:p>
        </p:txBody>
      </p:sp>
    </p:spTree>
    <p:extLst>
      <p:ext uri="{BB962C8B-B14F-4D97-AF65-F5344CB8AC3E}">
        <p14:creationId xmlns:p14="http://schemas.microsoft.com/office/powerpoint/2010/main" val="448523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C8C36-64E3-0040-A4B7-4EAA96077260}"/>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OOP</a:t>
            </a:r>
          </a:p>
        </p:txBody>
      </p:sp>
      <p:sp>
        <p:nvSpPr>
          <p:cNvPr id="4" name="Content Placeholder 3">
            <a:extLst>
              <a:ext uri="{FF2B5EF4-FFF2-40B4-BE49-F238E27FC236}">
                <a16:creationId xmlns:a16="http://schemas.microsoft.com/office/drawing/2014/main" id="{19E9F6C6-C2DC-5E4C-850D-2DBE08ECA350}"/>
              </a:ext>
            </a:extLst>
          </p:cNvPr>
          <p:cNvSpPr>
            <a:spLocks noGrp="1"/>
          </p:cNvSpPr>
          <p:nvPr>
            <p:ph idx="1"/>
          </p:nvPr>
        </p:nvSpPr>
        <p:spPr/>
        <p:txBody>
          <a:bodyPr>
            <a:normAutofit fontScale="70000" lnSpcReduction="20000"/>
          </a:bodyPr>
          <a:lstStyle/>
          <a:p>
            <a:r>
              <a:rPr lang="en-US" b="1" i="1" u="sng" dirty="0">
                <a:latin typeface="Arial" panose="020B0604020202020204" pitchFamily="34" charset="0"/>
                <a:cs typeface="Arial" panose="020B0604020202020204" pitchFamily="34" charset="0"/>
              </a:rPr>
              <a:t>Object-oriented programming (OOP) </a:t>
            </a:r>
            <a:r>
              <a:rPr lang="en-US" b="1" dirty="0">
                <a:latin typeface="Arial" panose="020B0604020202020204" pitchFamily="34" charset="0"/>
                <a:cs typeface="Arial" panose="020B0604020202020204" pitchFamily="34" charset="0"/>
              </a:rPr>
              <a:t>is a computer programming model (style of designing software)  that organizes software design around data, or objects, rather than functions and logic. </a:t>
            </a:r>
          </a:p>
          <a:p>
            <a:endParaRPr lang="en-US" dirty="0">
              <a:latin typeface="Arial" panose="020B0604020202020204" pitchFamily="34" charset="0"/>
              <a:cs typeface="Arial" panose="020B0604020202020204" pitchFamily="34" charset="0"/>
            </a:endParaRPr>
          </a:p>
          <a:p>
            <a:r>
              <a:rPr lang="en-US" b="1" u="sng" dirty="0">
                <a:latin typeface="Arial" panose="020B0604020202020204" pitchFamily="34" charset="0"/>
                <a:cs typeface="Arial" panose="020B0604020202020204" pitchFamily="34" charset="0"/>
              </a:rPr>
              <a:t>An object </a:t>
            </a:r>
            <a:r>
              <a:rPr lang="en-US" dirty="0">
                <a:latin typeface="Arial" panose="020B0604020202020204" pitchFamily="34" charset="0"/>
                <a:cs typeface="Arial" panose="020B0604020202020204" pitchFamily="34" charset="0"/>
              </a:rPr>
              <a:t>can be defined as a data field that has unique </a:t>
            </a:r>
            <a:r>
              <a:rPr lang="en-US" b="1" dirty="0">
                <a:latin typeface="Arial" panose="020B0604020202020204" pitchFamily="34" charset="0"/>
                <a:cs typeface="Arial" panose="020B0604020202020204" pitchFamily="34" charset="0"/>
              </a:rPr>
              <a:t>attributes</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behavior</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OOP focuses on the objects that developers want to manipulate rather than the logic required to manipulate them.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approach to programming is </a:t>
            </a:r>
            <a:r>
              <a:rPr lang="en-US" u="sng" dirty="0">
                <a:latin typeface="Arial" panose="020B0604020202020204" pitchFamily="34" charset="0"/>
                <a:cs typeface="Arial" panose="020B0604020202020204" pitchFamily="34" charset="0"/>
              </a:rPr>
              <a:t>well-suited for programs </a:t>
            </a:r>
            <a:r>
              <a:rPr lang="en-US" dirty="0">
                <a:latin typeface="Arial" panose="020B0604020202020204" pitchFamily="34" charset="0"/>
                <a:cs typeface="Arial" panose="020B0604020202020204" pitchFamily="34" charset="0"/>
              </a:rPr>
              <a:t>that are </a:t>
            </a:r>
            <a:r>
              <a:rPr lang="en-US" b="1" dirty="0">
                <a:latin typeface="Arial" panose="020B0604020202020204" pitchFamily="34" charset="0"/>
                <a:cs typeface="Arial" panose="020B0604020202020204" pitchFamily="34" charset="0"/>
              </a:rPr>
              <a:t>large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complex</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actively updated or maintained</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organization of an object-oriented program also makes the method beneficial to </a:t>
            </a:r>
            <a:r>
              <a:rPr lang="en-US" b="1" dirty="0">
                <a:latin typeface="Arial" panose="020B0604020202020204" pitchFamily="34" charset="0"/>
                <a:cs typeface="Arial" panose="020B0604020202020204" pitchFamily="34" charset="0"/>
              </a:rPr>
              <a:t>collaborative</a:t>
            </a:r>
            <a:r>
              <a:rPr lang="en-US" dirty="0">
                <a:latin typeface="Arial" panose="020B0604020202020204" pitchFamily="34" charset="0"/>
                <a:cs typeface="Arial" panose="020B0604020202020204" pitchFamily="34" charset="0"/>
              </a:rPr>
              <a:t> development, where projects are divided into groups.</a:t>
            </a:r>
          </a:p>
        </p:txBody>
      </p:sp>
      <p:cxnSp>
        <p:nvCxnSpPr>
          <p:cNvPr id="3" name="Straight Connector 2">
            <a:extLst>
              <a:ext uri="{FF2B5EF4-FFF2-40B4-BE49-F238E27FC236}">
                <a16:creationId xmlns:a16="http://schemas.microsoft.com/office/drawing/2014/main" id="{1EA0FE2D-E220-CA31-F651-13B2125EB59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474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25528-35E6-0B4C-88F5-EE9148ED79AD}"/>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OOP - principles</a:t>
            </a:r>
          </a:p>
        </p:txBody>
      </p:sp>
      <p:sp>
        <p:nvSpPr>
          <p:cNvPr id="3" name="Content Placeholder 2">
            <a:extLst>
              <a:ext uri="{FF2B5EF4-FFF2-40B4-BE49-F238E27FC236}">
                <a16:creationId xmlns:a16="http://schemas.microsoft.com/office/drawing/2014/main" id="{EFBA9A4D-62DE-1B47-BE8C-E2B4222D04AB}"/>
              </a:ext>
            </a:extLst>
          </p:cNvPr>
          <p:cNvSpPr>
            <a:spLocks noGrp="1"/>
          </p:cNvSpPr>
          <p:nvPr>
            <p:ph idx="1"/>
          </p:nvPr>
        </p:nvSpPr>
        <p:spPr/>
        <p:txBody>
          <a:bodyPr>
            <a:normAutofit lnSpcReduction="10000"/>
          </a:bodyPr>
          <a:lstStyle/>
          <a:p>
            <a:r>
              <a:rPr lang="en-GB" sz="2400" b="1" dirty="0">
                <a:latin typeface="Arial" panose="020B0604020202020204" pitchFamily="34" charset="0"/>
                <a:cs typeface="Arial" panose="020B0604020202020204" pitchFamily="34" charset="0"/>
                <a:hlinkClick r:id="rId3"/>
              </a:rPr>
              <a:t>Encapsulation</a:t>
            </a:r>
            <a:r>
              <a:rPr lang="en-GB" sz="2400" dirty="0">
                <a:latin typeface="Arial" panose="020B0604020202020204" pitchFamily="34" charset="0"/>
                <a:cs typeface="Arial" panose="020B0604020202020204" pitchFamily="34" charset="0"/>
              </a:rPr>
              <a:t>. Data hiding provides greater program security and avoids unintended data corruption.</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hlinkClick r:id="rId4"/>
              </a:rPr>
              <a:t>Abstraction</a:t>
            </a:r>
            <a:r>
              <a:rPr lang="en-GB" sz="2400" dirty="0">
                <a:latin typeface="Arial" panose="020B0604020202020204" pitchFamily="34" charset="0"/>
                <a:cs typeface="Arial" panose="020B0604020202020204" pitchFamily="34" charset="0"/>
              </a:rPr>
              <a:t>. hiding any unnecessary implementation code which helps developers more easily make changes and additions over time.</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hlinkClick r:id="rId5"/>
              </a:rPr>
              <a:t>Inheritance</a:t>
            </a:r>
            <a:r>
              <a:rPr lang="en-GB" sz="2400" dirty="0">
                <a:latin typeface="Arial" panose="020B0604020202020204" pitchFamily="34" charset="0"/>
                <a:cs typeface="Arial" panose="020B0604020202020204" pitchFamily="34" charset="0"/>
              </a:rPr>
              <a:t>. Relationships and subclasses between objects which reduces development time and ensures a higher level of accuracy.</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hlinkClick r:id="rId6"/>
              </a:rPr>
              <a:t>Polymorphism</a:t>
            </a:r>
            <a:r>
              <a:rPr lang="en-GB" sz="2400" dirty="0">
                <a:latin typeface="Arial" panose="020B0604020202020204" pitchFamily="34" charset="0"/>
                <a:cs typeface="Arial" panose="020B0604020202020204" pitchFamily="34" charset="0"/>
              </a:rPr>
              <a:t>. Many forms which allowed cutting down the need to duplicate code.</a:t>
            </a:r>
          </a:p>
        </p:txBody>
      </p:sp>
      <p:cxnSp>
        <p:nvCxnSpPr>
          <p:cNvPr id="4" name="Straight Connector 3">
            <a:extLst>
              <a:ext uri="{FF2B5EF4-FFF2-40B4-BE49-F238E27FC236}">
                <a16:creationId xmlns:a16="http://schemas.microsoft.com/office/drawing/2014/main" id="{C2B9047E-D484-49D2-E139-24A831A47993}"/>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377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DDE6-46D5-E747-A899-EC134A0BB7BD}"/>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Entry point:</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DF932D0-990A-9E41-A134-1722BC95BF40}"/>
              </a:ext>
            </a:extLst>
          </p:cNvPr>
          <p:cNvSpPr>
            <a:spLocks noGrp="1"/>
          </p:cNvSpPr>
          <p:nvPr>
            <p:ph idx="1"/>
          </p:nvPr>
        </p:nvSpPr>
        <p:spPr/>
        <p:txBody>
          <a:bodyPr>
            <a:normAutofit/>
          </a:bodyPr>
          <a:lstStyle/>
          <a:p>
            <a:r>
              <a:rPr lang="en-GB" dirty="0"/>
              <a:t>Every module in Python has a special attribute called </a:t>
            </a:r>
            <a:r>
              <a:rPr lang="en-GB" dirty="0">
                <a:solidFill>
                  <a:srgbClr val="C300B8"/>
                </a:solidFill>
              </a:rPr>
              <a:t>__name__. </a:t>
            </a:r>
          </a:p>
          <a:p>
            <a:r>
              <a:rPr lang="en-GB" dirty="0"/>
              <a:t>The value of </a:t>
            </a:r>
            <a:r>
              <a:rPr lang="en-GB" dirty="0">
                <a:solidFill>
                  <a:srgbClr val="C300B8"/>
                </a:solidFill>
              </a:rPr>
              <a:t>__name__  </a:t>
            </a:r>
            <a:r>
              <a:rPr lang="en-GB" dirty="0"/>
              <a:t>attribute is set to </a:t>
            </a:r>
            <a:r>
              <a:rPr lang="en-GB" dirty="0">
                <a:solidFill>
                  <a:srgbClr val="008281"/>
                </a:solidFill>
              </a:rPr>
              <a:t>'__main__'  </a:t>
            </a:r>
            <a:r>
              <a:rPr lang="en-GB" b="1" u="sng" dirty="0"/>
              <a:t>when module run as main program</a:t>
            </a:r>
            <a:r>
              <a:rPr lang="en-GB" dirty="0"/>
              <a:t>. </a:t>
            </a:r>
          </a:p>
          <a:p>
            <a:r>
              <a:rPr lang="en-GB" dirty="0"/>
              <a:t>Otherwise, the value of __name__  is set to contain the name of the module.</a:t>
            </a:r>
          </a:p>
          <a:p>
            <a:r>
              <a:rPr lang="en-GB" dirty="0"/>
              <a:t>It makes a module both executable and importable</a:t>
            </a:r>
          </a:p>
          <a:p>
            <a:endParaRPr lang="en-GB" dirty="0"/>
          </a:p>
          <a:p>
            <a:endParaRPr lang="en-GB" dirty="0"/>
          </a:p>
          <a:p>
            <a:endParaRPr lang="en-US" dirty="0"/>
          </a:p>
        </p:txBody>
      </p:sp>
      <p:sp>
        <p:nvSpPr>
          <p:cNvPr id="5" name="TextBox 4">
            <a:extLst>
              <a:ext uri="{FF2B5EF4-FFF2-40B4-BE49-F238E27FC236}">
                <a16:creationId xmlns:a16="http://schemas.microsoft.com/office/drawing/2014/main" id="{C4E070A5-0F26-0741-8CED-B37A72412FC2}"/>
              </a:ext>
            </a:extLst>
          </p:cNvPr>
          <p:cNvSpPr txBox="1"/>
          <p:nvPr/>
        </p:nvSpPr>
        <p:spPr>
          <a:xfrm>
            <a:off x="3753853" y="5480903"/>
            <a:ext cx="3680816" cy="830997"/>
          </a:xfrm>
          <a:prstGeom prst="rect">
            <a:avLst/>
          </a:prstGeom>
          <a:noFill/>
        </p:spPr>
        <p:txBody>
          <a:bodyPr wrap="none" rtlCol="0">
            <a:spAutoFit/>
          </a:bodyPr>
          <a:lstStyle/>
          <a:p>
            <a:r>
              <a:rPr lang="en-GB" sz="2400" b="1" dirty="0"/>
              <a:t>if </a:t>
            </a:r>
            <a:r>
              <a:rPr lang="en-GB" sz="2400" dirty="0"/>
              <a:t>__name__ == </a:t>
            </a:r>
            <a:r>
              <a:rPr lang="en-GB" sz="2400" b="1" dirty="0">
                <a:solidFill>
                  <a:srgbClr val="008281"/>
                </a:solidFill>
              </a:rPr>
              <a:t>'__main__'</a:t>
            </a:r>
            <a:r>
              <a:rPr lang="en-GB" sz="2400" dirty="0"/>
              <a:t>:</a:t>
            </a:r>
            <a:br>
              <a:rPr lang="en-GB" sz="2400" dirty="0"/>
            </a:br>
            <a:r>
              <a:rPr lang="en-GB" sz="2400" dirty="0"/>
              <a:t>    main()</a:t>
            </a:r>
            <a:endParaRPr lang="en-US" sz="2400" dirty="0"/>
          </a:p>
        </p:txBody>
      </p:sp>
      <p:cxnSp>
        <p:nvCxnSpPr>
          <p:cNvPr id="4" name="Straight Connector 3">
            <a:extLst>
              <a:ext uri="{FF2B5EF4-FFF2-40B4-BE49-F238E27FC236}">
                <a16:creationId xmlns:a16="http://schemas.microsoft.com/office/drawing/2014/main" id="{5CD5B805-CE6F-A946-00CF-B6BD072B0BB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869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605EA-9A50-3E49-8BCF-C5DEE1C8130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Object</a:t>
            </a:r>
          </a:p>
        </p:txBody>
      </p:sp>
      <p:sp>
        <p:nvSpPr>
          <p:cNvPr id="3" name="Content Placeholder 2">
            <a:extLst>
              <a:ext uri="{FF2B5EF4-FFF2-40B4-BE49-F238E27FC236}">
                <a16:creationId xmlns:a16="http://schemas.microsoft.com/office/drawing/2014/main" id="{F7467F95-1BAC-C54C-81BA-F3FE4B601712}"/>
              </a:ext>
            </a:extLst>
          </p:cNvPr>
          <p:cNvSpPr>
            <a:spLocks noGrp="1"/>
          </p:cNvSpPr>
          <p:nvPr>
            <p:ph idx="1"/>
          </p:nvPr>
        </p:nvSpPr>
        <p:spPr>
          <a:xfrm>
            <a:off x="838200" y="1825625"/>
            <a:ext cx="4527884" cy="4351338"/>
          </a:xfrm>
        </p:spPr>
        <p:txBody>
          <a:bodyPr>
            <a:normAutofit/>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r>
              <a:rPr lang="en-US" sz="2400" dirty="0"/>
              <a:t>State: </a:t>
            </a:r>
          </a:p>
          <a:p>
            <a:pPr lvl="1"/>
            <a:r>
              <a:rPr lang="en-US" dirty="0"/>
              <a:t>Name</a:t>
            </a:r>
          </a:p>
          <a:p>
            <a:pPr lvl="1"/>
            <a:r>
              <a:rPr lang="en-US" dirty="0"/>
              <a:t>Age </a:t>
            </a:r>
          </a:p>
          <a:p>
            <a:pPr lvl="1"/>
            <a:r>
              <a:rPr lang="en-US" dirty="0"/>
              <a:t>Address</a:t>
            </a:r>
          </a:p>
        </p:txBody>
      </p:sp>
      <p:pic>
        <p:nvPicPr>
          <p:cNvPr id="5" name="Graphic 4" descr="School boy">
            <a:extLst>
              <a:ext uri="{FF2B5EF4-FFF2-40B4-BE49-F238E27FC236}">
                <a16:creationId xmlns:a16="http://schemas.microsoft.com/office/drawing/2014/main" id="{97FAB5C8-28F0-BC44-9EA1-3A34537D5F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56685" y="3792571"/>
            <a:ext cx="1886262" cy="1886262"/>
          </a:xfrm>
          <a:prstGeom prst="rect">
            <a:avLst/>
          </a:prstGeom>
        </p:spPr>
      </p:pic>
      <p:sp>
        <p:nvSpPr>
          <p:cNvPr id="6" name="Content Placeholder 2">
            <a:extLst>
              <a:ext uri="{FF2B5EF4-FFF2-40B4-BE49-F238E27FC236}">
                <a16:creationId xmlns:a16="http://schemas.microsoft.com/office/drawing/2014/main" id="{F174367C-DDFB-7A45-A97C-77CF438E0596}"/>
              </a:ext>
            </a:extLst>
          </p:cNvPr>
          <p:cNvSpPr txBox="1">
            <a:spLocks/>
          </p:cNvSpPr>
          <p:nvPr/>
        </p:nvSpPr>
        <p:spPr>
          <a:xfrm>
            <a:off x="3516441" y="1825625"/>
            <a:ext cx="532650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r>
              <a:rPr lang="en-US" sz="2400" dirty="0"/>
              <a:t>Behavior:</a:t>
            </a:r>
          </a:p>
          <a:p>
            <a:pPr lvl="1"/>
            <a:r>
              <a:rPr lang="en-US" dirty="0"/>
              <a:t>Walk: </a:t>
            </a:r>
          </a:p>
          <a:p>
            <a:pPr lvl="1"/>
            <a:r>
              <a:rPr lang="en-US" dirty="0"/>
              <a:t>Talk</a:t>
            </a:r>
          </a:p>
          <a:p>
            <a:pPr lvl="1"/>
            <a:r>
              <a:rPr lang="en-US" dirty="0"/>
              <a:t>Breath</a:t>
            </a:r>
          </a:p>
        </p:txBody>
      </p:sp>
      <p:sp>
        <p:nvSpPr>
          <p:cNvPr id="7" name="Content Placeholder 2">
            <a:extLst>
              <a:ext uri="{FF2B5EF4-FFF2-40B4-BE49-F238E27FC236}">
                <a16:creationId xmlns:a16="http://schemas.microsoft.com/office/drawing/2014/main" id="{A09B9AF3-9E63-6149-ABAB-0DDAE4B544B0}"/>
              </a:ext>
            </a:extLst>
          </p:cNvPr>
          <p:cNvSpPr txBox="1">
            <a:spLocks/>
          </p:cNvSpPr>
          <p:nvPr/>
        </p:nvSpPr>
        <p:spPr>
          <a:xfrm>
            <a:off x="677781" y="196056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Programme is compose of lots of individual objects. (Bundle of data) Entity of things usually define as a </a:t>
            </a:r>
            <a:r>
              <a:rPr lang="en-GB" sz="2400" u="sng" dirty="0"/>
              <a:t>noun</a:t>
            </a:r>
            <a:r>
              <a:rPr lang="en-GB" sz="2400" dirty="0"/>
              <a:t> </a:t>
            </a:r>
          </a:p>
          <a:p>
            <a:pPr marL="0" indent="0">
              <a:buFont typeface="Arial" panose="020B0604020202020204" pitchFamily="34" charset="0"/>
              <a:buNone/>
            </a:pPr>
            <a:r>
              <a:rPr lang="en-GB" sz="2400" dirty="0"/>
              <a:t>Example of object could be a person  </a:t>
            </a:r>
          </a:p>
          <a:p>
            <a:pPr marL="0" indent="0">
              <a:buFont typeface="Arial" panose="020B0604020202020204" pitchFamily="34" charset="0"/>
              <a:buNone/>
            </a:pPr>
            <a:endParaRPr lang="en-GB" sz="2400" dirty="0"/>
          </a:p>
        </p:txBody>
      </p:sp>
      <p:cxnSp>
        <p:nvCxnSpPr>
          <p:cNvPr id="4" name="Straight Connector 3">
            <a:extLst>
              <a:ext uri="{FF2B5EF4-FFF2-40B4-BE49-F238E27FC236}">
                <a16:creationId xmlns:a16="http://schemas.microsoft.com/office/drawing/2014/main" id="{0D9F383C-C699-47AE-DC64-2F02ACD4DC0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764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04135-F059-C04B-84FE-FAA33AFADCAB}"/>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Class</a:t>
            </a:r>
            <a:r>
              <a:rPr lang="en-US" dirty="0"/>
              <a:t> UML </a:t>
            </a:r>
          </a:p>
        </p:txBody>
      </p:sp>
      <p:sp>
        <p:nvSpPr>
          <p:cNvPr id="3" name="Content Placeholder 2">
            <a:extLst>
              <a:ext uri="{FF2B5EF4-FFF2-40B4-BE49-F238E27FC236}">
                <a16:creationId xmlns:a16="http://schemas.microsoft.com/office/drawing/2014/main" id="{7D9E5EE8-B69C-414A-8F4A-2F3610E50ACE}"/>
              </a:ext>
            </a:extLst>
          </p:cNvPr>
          <p:cNvSpPr>
            <a:spLocks noGrp="1"/>
          </p:cNvSpPr>
          <p:nvPr>
            <p:ph idx="1"/>
          </p:nvPr>
        </p:nvSpPr>
        <p:spPr/>
        <p:txBody>
          <a:bodyPr/>
          <a:lstStyle/>
          <a:p>
            <a:r>
              <a:rPr lang="en-US" dirty="0"/>
              <a:t>Blueprint of an object</a:t>
            </a:r>
          </a:p>
        </p:txBody>
      </p:sp>
      <p:sp>
        <p:nvSpPr>
          <p:cNvPr id="5" name="TextBox 4">
            <a:extLst>
              <a:ext uri="{FF2B5EF4-FFF2-40B4-BE49-F238E27FC236}">
                <a16:creationId xmlns:a16="http://schemas.microsoft.com/office/drawing/2014/main" id="{0404E069-BC1B-D546-8318-F71C0ED0A95A}"/>
              </a:ext>
            </a:extLst>
          </p:cNvPr>
          <p:cNvSpPr txBox="1"/>
          <p:nvPr/>
        </p:nvSpPr>
        <p:spPr>
          <a:xfrm>
            <a:off x="970031" y="2850029"/>
            <a:ext cx="931152" cy="369332"/>
          </a:xfrm>
          <a:prstGeom prst="rect">
            <a:avLst/>
          </a:prstGeom>
          <a:noFill/>
        </p:spPr>
        <p:txBody>
          <a:bodyPr wrap="none" rtlCol="0">
            <a:spAutoFit/>
          </a:bodyPr>
          <a:lstStyle/>
          <a:p>
            <a:r>
              <a:rPr lang="en-US" b="1" dirty="0">
                <a:solidFill>
                  <a:srgbClr val="0070C0"/>
                </a:solidFill>
              </a:rPr>
              <a:t>Identity</a:t>
            </a:r>
          </a:p>
        </p:txBody>
      </p:sp>
      <p:sp>
        <p:nvSpPr>
          <p:cNvPr id="6" name="TextBox 5">
            <a:extLst>
              <a:ext uri="{FF2B5EF4-FFF2-40B4-BE49-F238E27FC236}">
                <a16:creationId xmlns:a16="http://schemas.microsoft.com/office/drawing/2014/main" id="{2A7DB24B-D636-0445-8BFC-72802BFEC4FC}"/>
              </a:ext>
            </a:extLst>
          </p:cNvPr>
          <p:cNvSpPr txBox="1"/>
          <p:nvPr/>
        </p:nvSpPr>
        <p:spPr>
          <a:xfrm>
            <a:off x="1110982" y="3354298"/>
            <a:ext cx="655821" cy="369332"/>
          </a:xfrm>
          <a:prstGeom prst="rect">
            <a:avLst/>
          </a:prstGeom>
          <a:noFill/>
        </p:spPr>
        <p:txBody>
          <a:bodyPr wrap="none" rtlCol="0">
            <a:spAutoFit/>
          </a:bodyPr>
          <a:lstStyle/>
          <a:p>
            <a:r>
              <a:rPr lang="en-US" b="1" dirty="0">
                <a:solidFill>
                  <a:srgbClr val="0070C0"/>
                </a:solidFill>
              </a:rPr>
              <a:t>state</a:t>
            </a:r>
          </a:p>
        </p:txBody>
      </p:sp>
      <p:sp>
        <p:nvSpPr>
          <p:cNvPr id="7" name="TextBox 6">
            <a:extLst>
              <a:ext uri="{FF2B5EF4-FFF2-40B4-BE49-F238E27FC236}">
                <a16:creationId xmlns:a16="http://schemas.microsoft.com/office/drawing/2014/main" id="{5573EC04-8A63-2848-8EC2-0F205430F5B6}"/>
              </a:ext>
            </a:extLst>
          </p:cNvPr>
          <p:cNvSpPr txBox="1"/>
          <p:nvPr/>
        </p:nvSpPr>
        <p:spPr>
          <a:xfrm>
            <a:off x="852105" y="4144164"/>
            <a:ext cx="1027782" cy="369332"/>
          </a:xfrm>
          <a:prstGeom prst="rect">
            <a:avLst/>
          </a:prstGeom>
          <a:noFill/>
        </p:spPr>
        <p:txBody>
          <a:bodyPr wrap="none" rtlCol="0">
            <a:spAutoFit/>
          </a:bodyPr>
          <a:lstStyle/>
          <a:p>
            <a:r>
              <a:rPr lang="en-US" b="1" dirty="0">
                <a:solidFill>
                  <a:srgbClr val="0070C0"/>
                </a:solidFill>
              </a:rPr>
              <a:t>behavior</a:t>
            </a:r>
          </a:p>
        </p:txBody>
      </p:sp>
      <p:pic>
        <p:nvPicPr>
          <p:cNvPr id="8" name="Picture 7">
            <a:extLst>
              <a:ext uri="{FF2B5EF4-FFF2-40B4-BE49-F238E27FC236}">
                <a16:creationId xmlns:a16="http://schemas.microsoft.com/office/drawing/2014/main" id="{FB3CBE01-7567-7C41-A62B-6AACF1857321}"/>
              </a:ext>
            </a:extLst>
          </p:cNvPr>
          <p:cNvPicPr>
            <a:picLocks noChangeAspect="1"/>
          </p:cNvPicPr>
          <p:nvPr/>
        </p:nvPicPr>
        <p:blipFill>
          <a:blip r:embed="rId2"/>
          <a:stretch>
            <a:fillRect/>
          </a:stretch>
        </p:blipFill>
        <p:spPr>
          <a:xfrm>
            <a:off x="1816225" y="2686483"/>
            <a:ext cx="1908726" cy="2427941"/>
          </a:xfrm>
          <a:prstGeom prst="rect">
            <a:avLst/>
          </a:prstGeom>
        </p:spPr>
      </p:pic>
      <p:sp>
        <p:nvSpPr>
          <p:cNvPr id="10" name="Left Brace 9">
            <a:extLst>
              <a:ext uri="{FF2B5EF4-FFF2-40B4-BE49-F238E27FC236}">
                <a16:creationId xmlns:a16="http://schemas.microsoft.com/office/drawing/2014/main" id="{69D1A8CE-54E6-614B-A9C7-70022E938F0D}"/>
              </a:ext>
            </a:extLst>
          </p:cNvPr>
          <p:cNvSpPr/>
          <p:nvPr/>
        </p:nvSpPr>
        <p:spPr>
          <a:xfrm>
            <a:off x="1901183" y="2814171"/>
            <a:ext cx="45719" cy="3693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DA54BA20-A643-864D-A6A9-3F4EF3B7EB71}"/>
              </a:ext>
            </a:extLst>
          </p:cNvPr>
          <p:cNvSpPr/>
          <p:nvPr/>
        </p:nvSpPr>
        <p:spPr>
          <a:xfrm>
            <a:off x="1892884" y="3304665"/>
            <a:ext cx="54018" cy="461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823773E3-8AC8-3240-A402-939DAF7BF893}"/>
              </a:ext>
            </a:extLst>
          </p:cNvPr>
          <p:cNvSpPr/>
          <p:nvPr/>
        </p:nvSpPr>
        <p:spPr>
          <a:xfrm>
            <a:off x="1901182" y="3829451"/>
            <a:ext cx="45719" cy="963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47B91C12-FCF0-7141-919D-1369AB0A7F3B}"/>
              </a:ext>
            </a:extLst>
          </p:cNvPr>
          <p:cNvSpPr txBox="1"/>
          <p:nvPr/>
        </p:nvSpPr>
        <p:spPr>
          <a:xfrm>
            <a:off x="7342198" y="2245789"/>
            <a:ext cx="140294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Examples: </a:t>
            </a:r>
          </a:p>
        </p:txBody>
      </p:sp>
      <p:pic>
        <p:nvPicPr>
          <p:cNvPr id="19" name="Picture 18">
            <a:extLst>
              <a:ext uri="{FF2B5EF4-FFF2-40B4-BE49-F238E27FC236}">
                <a16:creationId xmlns:a16="http://schemas.microsoft.com/office/drawing/2014/main" id="{E66A0658-89EA-CC42-864D-80D591EB73D0}"/>
              </a:ext>
            </a:extLst>
          </p:cNvPr>
          <p:cNvPicPr>
            <a:picLocks noChangeAspect="1"/>
          </p:cNvPicPr>
          <p:nvPr/>
        </p:nvPicPr>
        <p:blipFill>
          <a:blip r:embed="rId3"/>
          <a:stretch>
            <a:fillRect/>
          </a:stretch>
        </p:blipFill>
        <p:spPr>
          <a:xfrm>
            <a:off x="5650102" y="3003319"/>
            <a:ext cx="1525398" cy="1525398"/>
          </a:xfrm>
          <a:prstGeom prst="rect">
            <a:avLst/>
          </a:prstGeom>
        </p:spPr>
      </p:pic>
      <p:pic>
        <p:nvPicPr>
          <p:cNvPr id="23" name="Picture 22">
            <a:extLst>
              <a:ext uri="{FF2B5EF4-FFF2-40B4-BE49-F238E27FC236}">
                <a16:creationId xmlns:a16="http://schemas.microsoft.com/office/drawing/2014/main" id="{D8400C36-C0CB-FB48-9E7E-DF0A6D54C8A4}"/>
              </a:ext>
            </a:extLst>
          </p:cNvPr>
          <p:cNvPicPr>
            <a:picLocks noChangeAspect="1"/>
          </p:cNvPicPr>
          <p:nvPr/>
        </p:nvPicPr>
        <p:blipFill>
          <a:blip r:embed="rId4"/>
          <a:stretch>
            <a:fillRect/>
          </a:stretch>
        </p:blipFill>
        <p:spPr>
          <a:xfrm>
            <a:off x="6221138" y="5037873"/>
            <a:ext cx="1908724" cy="1526979"/>
          </a:xfrm>
          <a:prstGeom prst="rect">
            <a:avLst/>
          </a:prstGeom>
        </p:spPr>
      </p:pic>
      <p:pic>
        <p:nvPicPr>
          <p:cNvPr id="24" name="Picture 23">
            <a:extLst>
              <a:ext uri="{FF2B5EF4-FFF2-40B4-BE49-F238E27FC236}">
                <a16:creationId xmlns:a16="http://schemas.microsoft.com/office/drawing/2014/main" id="{C881ED02-7209-414C-B54A-A7EB2B6A9B36}"/>
              </a:ext>
            </a:extLst>
          </p:cNvPr>
          <p:cNvPicPr>
            <a:picLocks noChangeAspect="1"/>
          </p:cNvPicPr>
          <p:nvPr/>
        </p:nvPicPr>
        <p:blipFill>
          <a:blip r:embed="rId5"/>
          <a:stretch>
            <a:fillRect/>
          </a:stretch>
        </p:blipFill>
        <p:spPr>
          <a:xfrm>
            <a:off x="8467051" y="4978400"/>
            <a:ext cx="1908724" cy="1603328"/>
          </a:xfrm>
          <a:prstGeom prst="rect">
            <a:avLst/>
          </a:prstGeom>
        </p:spPr>
      </p:pic>
      <p:pic>
        <p:nvPicPr>
          <p:cNvPr id="25" name="Picture 24">
            <a:extLst>
              <a:ext uri="{FF2B5EF4-FFF2-40B4-BE49-F238E27FC236}">
                <a16:creationId xmlns:a16="http://schemas.microsoft.com/office/drawing/2014/main" id="{F74CEBE5-5744-294E-B03D-D6A6FEB4F258}"/>
              </a:ext>
            </a:extLst>
          </p:cNvPr>
          <p:cNvPicPr>
            <a:picLocks noChangeAspect="1"/>
          </p:cNvPicPr>
          <p:nvPr/>
        </p:nvPicPr>
        <p:blipFill>
          <a:blip r:embed="rId6"/>
          <a:stretch>
            <a:fillRect/>
          </a:stretch>
        </p:blipFill>
        <p:spPr>
          <a:xfrm>
            <a:off x="7959050" y="2999524"/>
            <a:ext cx="1326245" cy="1243355"/>
          </a:xfrm>
          <a:prstGeom prst="rect">
            <a:avLst/>
          </a:prstGeom>
        </p:spPr>
      </p:pic>
      <p:cxnSp>
        <p:nvCxnSpPr>
          <p:cNvPr id="4" name="Straight Connector 3">
            <a:extLst>
              <a:ext uri="{FF2B5EF4-FFF2-40B4-BE49-F238E27FC236}">
                <a16:creationId xmlns:a16="http://schemas.microsoft.com/office/drawing/2014/main" id="{CA2CC093-C891-4B86-00DF-F55A8C82A7CE}"/>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9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FE665-5858-0943-81E5-F6AC714271D4}"/>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Define Object using class</a:t>
            </a:r>
          </a:p>
        </p:txBody>
      </p:sp>
      <p:sp>
        <p:nvSpPr>
          <p:cNvPr id="3" name="Content Placeholder 2">
            <a:extLst>
              <a:ext uri="{FF2B5EF4-FFF2-40B4-BE49-F238E27FC236}">
                <a16:creationId xmlns:a16="http://schemas.microsoft.com/office/drawing/2014/main" id="{8CE67FC6-8090-5342-8CA3-BABCDD223A69}"/>
              </a:ext>
            </a:extLst>
          </p:cNvPr>
          <p:cNvSpPr>
            <a:spLocks noGrp="1"/>
          </p:cNvSpPr>
          <p:nvPr>
            <p:ph idx="1"/>
          </p:nvPr>
        </p:nvSpPr>
        <p:spPr/>
        <p:txBody>
          <a:bodyPr/>
          <a:lstStyle/>
          <a:p>
            <a:r>
              <a:rPr lang="en-US" b="1" dirty="0"/>
              <a:t>Class</a:t>
            </a:r>
            <a:r>
              <a:rPr lang="en-US" dirty="0"/>
              <a:t> is:</a:t>
            </a:r>
          </a:p>
          <a:p>
            <a:pPr lvl="2"/>
            <a:r>
              <a:rPr lang="en-US" dirty="0"/>
              <a:t>definition of an abject. (</a:t>
            </a:r>
            <a:r>
              <a:rPr lang="en-GB" dirty="0"/>
              <a:t>blueprint/template of an object)</a:t>
            </a:r>
            <a:endParaRPr lang="en-US" dirty="0"/>
          </a:p>
          <a:p>
            <a:pPr lvl="2"/>
            <a:r>
              <a:rPr lang="en-US" dirty="0"/>
              <a:t>used to create object. </a:t>
            </a:r>
          </a:p>
          <a:p>
            <a:r>
              <a:rPr lang="en-US" b="1" dirty="0"/>
              <a:t>Object</a:t>
            </a:r>
            <a:r>
              <a:rPr lang="en-US" dirty="0"/>
              <a:t> is an instance of that class</a:t>
            </a:r>
          </a:p>
          <a:p>
            <a:endParaRPr lang="en-US" dirty="0"/>
          </a:p>
          <a:p>
            <a:endParaRPr lang="en-US" dirty="0"/>
          </a:p>
          <a:p>
            <a:endParaRPr lang="en-US" dirty="0"/>
          </a:p>
        </p:txBody>
      </p:sp>
      <p:pic>
        <p:nvPicPr>
          <p:cNvPr id="5" name="Graphic 4" descr="Male profile">
            <a:extLst>
              <a:ext uri="{FF2B5EF4-FFF2-40B4-BE49-F238E27FC236}">
                <a16:creationId xmlns:a16="http://schemas.microsoft.com/office/drawing/2014/main" id="{CA0D22D2-8B84-F342-9D20-9E91AA3927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71068" y="4556350"/>
            <a:ext cx="799422" cy="799422"/>
          </a:xfrm>
          <a:prstGeom prst="rect">
            <a:avLst/>
          </a:prstGeom>
        </p:spPr>
      </p:pic>
      <p:pic>
        <p:nvPicPr>
          <p:cNvPr id="7" name="Graphic 6" descr="Male profile">
            <a:extLst>
              <a:ext uri="{FF2B5EF4-FFF2-40B4-BE49-F238E27FC236}">
                <a16:creationId xmlns:a16="http://schemas.microsoft.com/office/drawing/2014/main" id="{543883E3-3D04-5447-91C0-8AE152A399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55234" y="4576310"/>
            <a:ext cx="779461" cy="779461"/>
          </a:xfrm>
          <a:prstGeom prst="rect">
            <a:avLst/>
          </a:prstGeom>
        </p:spPr>
      </p:pic>
      <p:sp>
        <p:nvSpPr>
          <p:cNvPr id="10" name="TextBox 9">
            <a:extLst>
              <a:ext uri="{FF2B5EF4-FFF2-40B4-BE49-F238E27FC236}">
                <a16:creationId xmlns:a16="http://schemas.microsoft.com/office/drawing/2014/main" id="{2913F59C-5904-DD48-A7E6-083692315CA4}"/>
              </a:ext>
            </a:extLst>
          </p:cNvPr>
          <p:cNvSpPr txBox="1"/>
          <p:nvPr/>
        </p:nvSpPr>
        <p:spPr>
          <a:xfrm>
            <a:off x="1518542" y="4986973"/>
            <a:ext cx="1747017" cy="646331"/>
          </a:xfrm>
          <a:prstGeom prst="rect">
            <a:avLst/>
          </a:prstGeom>
          <a:noFill/>
        </p:spPr>
        <p:txBody>
          <a:bodyPr wrap="none" rtlCol="0">
            <a:spAutoFit/>
          </a:bodyPr>
          <a:lstStyle/>
          <a:p>
            <a:r>
              <a:rPr lang="en-US" dirty="0"/>
              <a:t>Class:</a:t>
            </a:r>
          </a:p>
          <a:p>
            <a:r>
              <a:rPr lang="en-US" dirty="0"/>
              <a:t>	Person</a:t>
            </a:r>
          </a:p>
        </p:txBody>
      </p:sp>
      <p:sp>
        <p:nvSpPr>
          <p:cNvPr id="11" name="TextBox 10">
            <a:extLst>
              <a:ext uri="{FF2B5EF4-FFF2-40B4-BE49-F238E27FC236}">
                <a16:creationId xmlns:a16="http://schemas.microsoft.com/office/drawing/2014/main" id="{5F3AEE9F-36F2-4449-B4F5-F221698CA412}"/>
              </a:ext>
            </a:extLst>
          </p:cNvPr>
          <p:cNvSpPr txBox="1"/>
          <p:nvPr/>
        </p:nvSpPr>
        <p:spPr>
          <a:xfrm>
            <a:off x="7794854" y="5032606"/>
            <a:ext cx="1595309" cy="646331"/>
          </a:xfrm>
          <a:prstGeom prst="rect">
            <a:avLst/>
          </a:prstGeom>
          <a:noFill/>
        </p:spPr>
        <p:txBody>
          <a:bodyPr wrap="none" rtlCol="0">
            <a:spAutoFit/>
          </a:bodyPr>
          <a:lstStyle/>
          <a:p>
            <a:r>
              <a:rPr lang="en-US" dirty="0"/>
              <a:t>Object:</a:t>
            </a:r>
          </a:p>
          <a:p>
            <a:r>
              <a:rPr lang="en-US" dirty="0"/>
              <a:t>	Anna</a:t>
            </a:r>
          </a:p>
        </p:txBody>
      </p:sp>
      <p:sp>
        <p:nvSpPr>
          <p:cNvPr id="12" name="TextBox 11">
            <a:extLst>
              <a:ext uri="{FF2B5EF4-FFF2-40B4-BE49-F238E27FC236}">
                <a16:creationId xmlns:a16="http://schemas.microsoft.com/office/drawing/2014/main" id="{BA57EB11-378C-4345-BB5F-7213A4E1BAE4}"/>
              </a:ext>
            </a:extLst>
          </p:cNvPr>
          <p:cNvSpPr txBox="1"/>
          <p:nvPr/>
        </p:nvSpPr>
        <p:spPr>
          <a:xfrm>
            <a:off x="5555660" y="4967044"/>
            <a:ext cx="1609287" cy="646331"/>
          </a:xfrm>
          <a:prstGeom prst="rect">
            <a:avLst/>
          </a:prstGeom>
          <a:noFill/>
        </p:spPr>
        <p:txBody>
          <a:bodyPr wrap="none" rtlCol="0">
            <a:spAutoFit/>
          </a:bodyPr>
          <a:lstStyle/>
          <a:p>
            <a:r>
              <a:rPr lang="en-US" dirty="0"/>
              <a:t>Object:</a:t>
            </a:r>
          </a:p>
          <a:p>
            <a:r>
              <a:rPr lang="en-US" dirty="0"/>
              <a:t>	Barry</a:t>
            </a:r>
          </a:p>
        </p:txBody>
      </p:sp>
      <p:sp>
        <p:nvSpPr>
          <p:cNvPr id="13" name="TextBox 12">
            <a:extLst>
              <a:ext uri="{FF2B5EF4-FFF2-40B4-BE49-F238E27FC236}">
                <a16:creationId xmlns:a16="http://schemas.microsoft.com/office/drawing/2014/main" id="{320E40F3-44F3-CE45-B4A4-50B47DBF819F}"/>
              </a:ext>
            </a:extLst>
          </p:cNvPr>
          <p:cNvSpPr txBox="1"/>
          <p:nvPr/>
        </p:nvSpPr>
        <p:spPr>
          <a:xfrm>
            <a:off x="9776699" y="5022831"/>
            <a:ext cx="1476686" cy="646331"/>
          </a:xfrm>
          <a:prstGeom prst="rect">
            <a:avLst/>
          </a:prstGeom>
          <a:noFill/>
        </p:spPr>
        <p:txBody>
          <a:bodyPr wrap="none" rtlCol="0">
            <a:spAutoFit/>
          </a:bodyPr>
          <a:lstStyle/>
          <a:p>
            <a:r>
              <a:rPr lang="en-US" dirty="0"/>
              <a:t>Object:</a:t>
            </a:r>
          </a:p>
          <a:p>
            <a:r>
              <a:rPr lang="en-US" dirty="0"/>
              <a:t>	Bob</a:t>
            </a:r>
          </a:p>
        </p:txBody>
      </p:sp>
      <p:sp>
        <p:nvSpPr>
          <p:cNvPr id="14" name="Left Brace 13">
            <a:extLst>
              <a:ext uri="{FF2B5EF4-FFF2-40B4-BE49-F238E27FC236}">
                <a16:creationId xmlns:a16="http://schemas.microsoft.com/office/drawing/2014/main" id="{E8D06C90-8E4C-8E4A-A6F6-29B364457AA0}"/>
              </a:ext>
            </a:extLst>
          </p:cNvPr>
          <p:cNvSpPr/>
          <p:nvPr/>
        </p:nvSpPr>
        <p:spPr>
          <a:xfrm rot="5400000">
            <a:off x="8746203" y="1833778"/>
            <a:ext cx="468703" cy="4746489"/>
          </a:xfrm>
          <a:prstGeom prst="leftBrace">
            <a:avLst>
              <a:gd name="adj1" fmla="val 8333"/>
              <a:gd name="adj2" fmla="val 5037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EB611EC1-B642-D143-89E8-9C967A09BB53}"/>
              </a:ext>
            </a:extLst>
          </p:cNvPr>
          <p:cNvSpPr txBox="1"/>
          <p:nvPr/>
        </p:nvSpPr>
        <p:spPr>
          <a:xfrm>
            <a:off x="7626434" y="3535870"/>
            <a:ext cx="2708242" cy="369332"/>
          </a:xfrm>
          <a:prstGeom prst="rect">
            <a:avLst/>
          </a:prstGeom>
          <a:noFill/>
        </p:spPr>
        <p:txBody>
          <a:bodyPr wrap="none" rtlCol="0">
            <a:spAutoFit/>
          </a:bodyPr>
          <a:lstStyle/>
          <a:p>
            <a:r>
              <a:rPr lang="en-US" dirty="0"/>
              <a:t>Instances of a class Person </a:t>
            </a:r>
          </a:p>
        </p:txBody>
      </p:sp>
      <p:pic>
        <p:nvPicPr>
          <p:cNvPr id="17" name="Graphic 16" descr="Male profile">
            <a:extLst>
              <a:ext uri="{FF2B5EF4-FFF2-40B4-BE49-F238E27FC236}">
                <a16:creationId xmlns:a16="http://schemas.microsoft.com/office/drawing/2014/main" id="{913C8BD6-BB0E-A441-A69B-B2BEB5CECB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92818" y="4642874"/>
            <a:ext cx="779461" cy="779461"/>
          </a:xfrm>
          <a:prstGeom prst="rect">
            <a:avLst/>
          </a:prstGeom>
        </p:spPr>
      </p:pic>
      <p:pic>
        <p:nvPicPr>
          <p:cNvPr id="18" name="Graphic 17" descr="Male profile">
            <a:extLst>
              <a:ext uri="{FF2B5EF4-FFF2-40B4-BE49-F238E27FC236}">
                <a16:creationId xmlns:a16="http://schemas.microsoft.com/office/drawing/2014/main" id="{8D733333-BCA6-784C-AE2C-03D10AA1FD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76804" y="4642875"/>
            <a:ext cx="779461" cy="779461"/>
          </a:xfrm>
          <a:prstGeom prst="rect">
            <a:avLst/>
          </a:prstGeom>
        </p:spPr>
      </p:pic>
      <p:cxnSp>
        <p:nvCxnSpPr>
          <p:cNvPr id="4" name="Straight Connector 3">
            <a:extLst>
              <a:ext uri="{FF2B5EF4-FFF2-40B4-BE49-F238E27FC236}">
                <a16:creationId xmlns:a16="http://schemas.microsoft.com/office/drawing/2014/main" id="{0539DD1B-3CC1-D722-D8FA-F1D67E2413FC}"/>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6904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1384-B80C-D34D-A6D3-4E5E70401EBF}"/>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Class and Object code Example:</a:t>
            </a:r>
          </a:p>
        </p:txBody>
      </p:sp>
      <p:pic>
        <p:nvPicPr>
          <p:cNvPr id="5" name="Content Placeholder 4" descr="Text&#10;&#10;Description automatically generated">
            <a:extLst>
              <a:ext uri="{FF2B5EF4-FFF2-40B4-BE49-F238E27FC236}">
                <a16:creationId xmlns:a16="http://schemas.microsoft.com/office/drawing/2014/main" id="{B799FC97-9032-184C-82FA-1A0C0FCABA5C}"/>
              </a:ext>
            </a:extLst>
          </p:cNvPr>
          <p:cNvPicPr>
            <a:picLocks noGrp="1" noChangeAspect="1"/>
          </p:cNvPicPr>
          <p:nvPr>
            <p:ph idx="1"/>
          </p:nvPr>
        </p:nvPicPr>
        <p:blipFill>
          <a:blip r:embed="rId2"/>
          <a:stretch>
            <a:fillRect/>
          </a:stretch>
        </p:blipFill>
        <p:spPr>
          <a:xfrm>
            <a:off x="2551684" y="2362200"/>
            <a:ext cx="5941150" cy="2420469"/>
          </a:xfrm>
        </p:spPr>
      </p:pic>
      <p:cxnSp>
        <p:nvCxnSpPr>
          <p:cNvPr id="3" name="Straight Connector 2">
            <a:extLst>
              <a:ext uri="{FF2B5EF4-FFF2-40B4-BE49-F238E27FC236}">
                <a16:creationId xmlns:a16="http://schemas.microsoft.com/office/drawing/2014/main" id="{1DC58E73-6786-4D87-A979-6836BE4A838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9525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20D2-1440-FC41-804B-CB1AD356295C}"/>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Define Object using class</a:t>
            </a:r>
            <a:endParaRPr lang="en-US" dirty="0"/>
          </a:p>
        </p:txBody>
      </p:sp>
      <p:pic>
        <p:nvPicPr>
          <p:cNvPr id="6" name="Graphic 5" descr="Puppy">
            <a:extLst>
              <a:ext uri="{FF2B5EF4-FFF2-40B4-BE49-F238E27FC236}">
                <a16:creationId xmlns:a16="http://schemas.microsoft.com/office/drawing/2014/main" id="{F559D3D9-8AAF-8648-AD58-60E56F8BCC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9280" y="3429000"/>
            <a:ext cx="914400" cy="914400"/>
          </a:xfrm>
          <a:prstGeom prst="rect">
            <a:avLst/>
          </a:prstGeom>
        </p:spPr>
      </p:pic>
      <p:pic>
        <p:nvPicPr>
          <p:cNvPr id="8" name="Graphic 7" descr="Puppy">
            <a:extLst>
              <a:ext uri="{FF2B5EF4-FFF2-40B4-BE49-F238E27FC236}">
                <a16:creationId xmlns:a16="http://schemas.microsoft.com/office/drawing/2014/main" id="{A7972DF1-5FD8-7746-8E16-90FD8A6D82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8820" y="3566160"/>
            <a:ext cx="914400" cy="914400"/>
          </a:xfrm>
          <a:prstGeom prst="rect">
            <a:avLst/>
          </a:prstGeom>
        </p:spPr>
      </p:pic>
      <p:pic>
        <p:nvPicPr>
          <p:cNvPr id="11" name="Graphic 10" descr="Puppy">
            <a:extLst>
              <a:ext uri="{FF2B5EF4-FFF2-40B4-BE49-F238E27FC236}">
                <a16:creationId xmlns:a16="http://schemas.microsoft.com/office/drawing/2014/main" id="{60AE62BB-CB94-C645-8EA3-38366F699C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7190" y="3604260"/>
            <a:ext cx="914400" cy="914400"/>
          </a:xfrm>
          <a:prstGeom prst="rect">
            <a:avLst/>
          </a:prstGeom>
        </p:spPr>
      </p:pic>
      <p:pic>
        <p:nvPicPr>
          <p:cNvPr id="12" name="Graphic 11" descr="Puppy">
            <a:extLst>
              <a:ext uri="{FF2B5EF4-FFF2-40B4-BE49-F238E27FC236}">
                <a16:creationId xmlns:a16="http://schemas.microsoft.com/office/drawing/2014/main" id="{3573D245-A12E-9743-9496-095B5C584DC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02763" y="3604260"/>
            <a:ext cx="914400" cy="914400"/>
          </a:xfrm>
          <a:prstGeom prst="rect">
            <a:avLst/>
          </a:prstGeom>
        </p:spPr>
      </p:pic>
      <p:sp>
        <p:nvSpPr>
          <p:cNvPr id="13" name="TextBox 12">
            <a:extLst>
              <a:ext uri="{FF2B5EF4-FFF2-40B4-BE49-F238E27FC236}">
                <a16:creationId xmlns:a16="http://schemas.microsoft.com/office/drawing/2014/main" id="{B09A4FE9-A9C8-2B40-9A1C-465096CD5ECB}"/>
              </a:ext>
            </a:extLst>
          </p:cNvPr>
          <p:cNvSpPr txBox="1"/>
          <p:nvPr/>
        </p:nvSpPr>
        <p:spPr>
          <a:xfrm>
            <a:off x="1082040" y="3886200"/>
            <a:ext cx="1481496" cy="646331"/>
          </a:xfrm>
          <a:prstGeom prst="rect">
            <a:avLst/>
          </a:prstGeom>
          <a:noFill/>
        </p:spPr>
        <p:txBody>
          <a:bodyPr wrap="none" rtlCol="0">
            <a:spAutoFit/>
          </a:bodyPr>
          <a:lstStyle/>
          <a:p>
            <a:r>
              <a:rPr lang="en-US" dirty="0"/>
              <a:t>Class:</a:t>
            </a:r>
          </a:p>
          <a:p>
            <a:r>
              <a:rPr lang="en-US" dirty="0"/>
              <a:t>	Dog</a:t>
            </a:r>
          </a:p>
        </p:txBody>
      </p:sp>
      <p:sp>
        <p:nvSpPr>
          <p:cNvPr id="14" name="TextBox 13">
            <a:extLst>
              <a:ext uri="{FF2B5EF4-FFF2-40B4-BE49-F238E27FC236}">
                <a16:creationId xmlns:a16="http://schemas.microsoft.com/office/drawing/2014/main" id="{C2061D1D-D3BA-1041-80D7-93BAB8882844}"/>
              </a:ext>
            </a:extLst>
          </p:cNvPr>
          <p:cNvSpPr txBox="1"/>
          <p:nvPr/>
        </p:nvSpPr>
        <p:spPr>
          <a:xfrm>
            <a:off x="5030020" y="4084320"/>
            <a:ext cx="1459823" cy="646331"/>
          </a:xfrm>
          <a:prstGeom prst="rect">
            <a:avLst/>
          </a:prstGeom>
          <a:noFill/>
        </p:spPr>
        <p:txBody>
          <a:bodyPr wrap="none" rtlCol="0">
            <a:spAutoFit/>
          </a:bodyPr>
          <a:lstStyle/>
          <a:p>
            <a:r>
              <a:rPr lang="en-US" dirty="0"/>
              <a:t>Object:</a:t>
            </a:r>
          </a:p>
          <a:p>
            <a:r>
              <a:rPr lang="en-US" dirty="0"/>
              <a:t>	</a:t>
            </a:r>
            <a:r>
              <a:rPr lang="en-US" dirty="0" err="1"/>
              <a:t>Vuk</a:t>
            </a:r>
            <a:endParaRPr lang="en-US" dirty="0"/>
          </a:p>
        </p:txBody>
      </p:sp>
      <p:sp>
        <p:nvSpPr>
          <p:cNvPr id="15" name="TextBox 14">
            <a:extLst>
              <a:ext uri="{FF2B5EF4-FFF2-40B4-BE49-F238E27FC236}">
                <a16:creationId xmlns:a16="http://schemas.microsoft.com/office/drawing/2014/main" id="{E661EA37-A2D3-4649-A423-1F6325AC468F}"/>
              </a:ext>
            </a:extLst>
          </p:cNvPr>
          <p:cNvSpPr txBox="1"/>
          <p:nvPr/>
        </p:nvSpPr>
        <p:spPr>
          <a:xfrm>
            <a:off x="7258643" y="4020234"/>
            <a:ext cx="1500732" cy="646331"/>
          </a:xfrm>
          <a:prstGeom prst="rect">
            <a:avLst/>
          </a:prstGeom>
          <a:noFill/>
        </p:spPr>
        <p:txBody>
          <a:bodyPr wrap="none" rtlCol="0">
            <a:spAutoFit/>
          </a:bodyPr>
          <a:lstStyle/>
          <a:p>
            <a:r>
              <a:rPr lang="en-US" dirty="0"/>
              <a:t>Object:</a:t>
            </a:r>
          </a:p>
          <a:p>
            <a:r>
              <a:rPr lang="en-US" dirty="0"/>
              <a:t>	Bart</a:t>
            </a:r>
          </a:p>
        </p:txBody>
      </p:sp>
      <p:sp>
        <p:nvSpPr>
          <p:cNvPr id="16" name="TextBox 15">
            <a:extLst>
              <a:ext uri="{FF2B5EF4-FFF2-40B4-BE49-F238E27FC236}">
                <a16:creationId xmlns:a16="http://schemas.microsoft.com/office/drawing/2014/main" id="{E4A2D340-E1A3-A244-8654-7DB7810C33A8}"/>
              </a:ext>
            </a:extLst>
          </p:cNvPr>
          <p:cNvSpPr txBox="1"/>
          <p:nvPr/>
        </p:nvSpPr>
        <p:spPr>
          <a:xfrm>
            <a:off x="9465648" y="4038600"/>
            <a:ext cx="1874231" cy="646331"/>
          </a:xfrm>
          <a:prstGeom prst="rect">
            <a:avLst/>
          </a:prstGeom>
          <a:noFill/>
        </p:spPr>
        <p:txBody>
          <a:bodyPr wrap="none" rtlCol="0">
            <a:spAutoFit/>
          </a:bodyPr>
          <a:lstStyle/>
          <a:p>
            <a:r>
              <a:rPr lang="en-US" dirty="0"/>
              <a:t>Object:</a:t>
            </a:r>
          </a:p>
          <a:p>
            <a:r>
              <a:rPr lang="en-US" dirty="0"/>
              <a:t>	Princess</a:t>
            </a:r>
          </a:p>
        </p:txBody>
      </p:sp>
      <p:pic>
        <p:nvPicPr>
          <p:cNvPr id="18" name="Picture 17">
            <a:extLst>
              <a:ext uri="{FF2B5EF4-FFF2-40B4-BE49-F238E27FC236}">
                <a16:creationId xmlns:a16="http://schemas.microsoft.com/office/drawing/2014/main" id="{296BCEEC-E507-924E-9970-BE687312241F}"/>
              </a:ext>
            </a:extLst>
          </p:cNvPr>
          <p:cNvPicPr>
            <a:picLocks noChangeAspect="1"/>
          </p:cNvPicPr>
          <p:nvPr/>
        </p:nvPicPr>
        <p:blipFill>
          <a:blip r:embed="rId10"/>
          <a:stretch>
            <a:fillRect/>
          </a:stretch>
        </p:blipFill>
        <p:spPr>
          <a:xfrm>
            <a:off x="1701132" y="2147887"/>
            <a:ext cx="1164780" cy="1091981"/>
          </a:xfrm>
          <a:prstGeom prst="rect">
            <a:avLst/>
          </a:prstGeom>
        </p:spPr>
      </p:pic>
      <p:cxnSp>
        <p:nvCxnSpPr>
          <p:cNvPr id="3" name="Straight Connector 2">
            <a:extLst>
              <a:ext uri="{FF2B5EF4-FFF2-40B4-BE49-F238E27FC236}">
                <a16:creationId xmlns:a16="http://schemas.microsoft.com/office/drawing/2014/main" id="{C125DA2C-C10D-BB7D-D6F9-F909E18CADA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427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7">
            <a:extLst>
              <a:ext uri="{FF2B5EF4-FFF2-40B4-BE49-F238E27FC236}">
                <a16:creationId xmlns:a16="http://schemas.microsoft.com/office/drawing/2014/main" id="{B162D9C1-3105-0F45-8E28-1BE94FE9F5A7}"/>
              </a:ext>
            </a:extLst>
          </p:cNvPr>
          <p:cNvGraphicFramePr>
            <a:graphicFrameLocks noGrp="1"/>
          </p:cNvGraphicFramePr>
          <p:nvPr>
            <p:extLst>
              <p:ext uri="{D42A27DB-BD31-4B8C-83A1-F6EECF244321}">
                <p14:modId xmlns:p14="http://schemas.microsoft.com/office/powerpoint/2010/main" val="3203816007"/>
              </p:ext>
            </p:extLst>
          </p:nvPr>
        </p:nvGraphicFramePr>
        <p:xfrm>
          <a:off x="3645547" y="2272080"/>
          <a:ext cx="4231340" cy="2313837"/>
        </p:xfrm>
        <a:graphic>
          <a:graphicData uri="http://schemas.openxmlformats.org/drawingml/2006/table">
            <a:tbl>
              <a:tblPr firstRow="1" bandRow="1">
                <a:tableStyleId>{5C22544A-7EE6-4342-B048-85BDC9FD1C3A}</a:tableStyleId>
              </a:tblPr>
              <a:tblGrid>
                <a:gridCol w="4231340">
                  <a:extLst>
                    <a:ext uri="{9D8B030D-6E8A-4147-A177-3AD203B41FA5}">
                      <a16:colId xmlns:a16="http://schemas.microsoft.com/office/drawing/2014/main" val="381975002"/>
                    </a:ext>
                  </a:extLst>
                </a:gridCol>
              </a:tblGrid>
              <a:tr h="2313837">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9061B56D-3406-464A-8419-4FBAFAC1E25F}"/>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A simple class</a:t>
            </a:r>
          </a:p>
        </p:txBody>
      </p:sp>
      <p:sp>
        <p:nvSpPr>
          <p:cNvPr id="4" name="TextBox 3">
            <a:extLst>
              <a:ext uri="{FF2B5EF4-FFF2-40B4-BE49-F238E27FC236}">
                <a16:creationId xmlns:a16="http://schemas.microsoft.com/office/drawing/2014/main" id="{FACE7F75-1616-E148-B87C-0B1C06959D1C}"/>
              </a:ext>
            </a:extLst>
          </p:cNvPr>
          <p:cNvSpPr txBox="1"/>
          <p:nvPr/>
        </p:nvSpPr>
        <p:spPr>
          <a:xfrm>
            <a:off x="4730325" y="2645955"/>
            <a:ext cx="1856598" cy="1077218"/>
          </a:xfrm>
          <a:prstGeom prst="rect">
            <a:avLst/>
          </a:prstGeom>
          <a:noFill/>
        </p:spPr>
        <p:txBody>
          <a:bodyPr wrap="none" rtlCol="0">
            <a:spAutoFit/>
          </a:bodyPr>
          <a:lstStyle/>
          <a:p>
            <a:r>
              <a:rPr lang="en-GB" sz="3200" b="1" dirty="0">
                <a:solidFill>
                  <a:srgbClr val="0C0086"/>
                </a:solidFill>
              </a:rPr>
              <a:t>class</a:t>
            </a:r>
            <a:r>
              <a:rPr lang="en-GB" sz="3200" b="1" dirty="0"/>
              <a:t> </a:t>
            </a:r>
            <a:r>
              <a:rPr lang="en-GB" sz="3200" dirty="0"/>
              <a:t>Dog:</a:t>
            </a:r>
            <a:br>
              <a:rPr lang="en-GB" sz="3200" dirty="0"/>
            </a:br>
            <a:r>
              <a:rPr lang="en-GB" sz="3200" dirty="0"/>
              <a:t>   	</a:t>
            </a:r>
            <a:r>
              <a:rPr lang="en-GB" sz="3200" b="1" dirty="0">
                <a:solidFill>
                  <a:srgbClr val="0C0086"/>
                </a:solidFill>
              </a:rPr>
              <a:t>pass</a:t>
            </a:r>
            <a:endParaRPr lang="en-US" sz="3200" dirty="0">
              <a:solidFill>
                <a:srgbClr val="0C0086"/>
              </a:solidFill>
            </a:endParaRPr>
          </a:p>
        </p:txBody>
      </p:sp>
      <p:sp>
        <p:nvSpPr>
          <p:cNvPr id="11" name="TextBox 10">
            <a:extLst>
              <a:ext uri="{FF2B5EF4-FFF2-40B4-BE49-F238E27FC236}">
                <a16:creationId xmlns:a16="http://schemas.microsoft.com/office/drawing/2014/main" id="{C8E9AC2A-3400-F14E-BD3C-04FE4A3C77C1}"/>
              </a:ext>
            </a:extLst>
          </p:cNvPr>
          <p:cNvSpPr txBox="1"/>
          <p:nvPr/>
        </p:nvSpPr>
        <p:spPr>
          <a:xfrm>
            <a:off x="6983694" y="1288886"/>
            <a:ext cx="893193" cy="461665"/>
          </a:xfrm>
          <a:prstGeom prst="rect">
            <a:avLst/>
          </a:prstGeom>
          <a:noFill/>
        </p:spPr>
        <p:txBody>
          <a:bodyPr wrap="none" rtlCol="0">
            <a:spAutoFit/>
          </a:bodyPr>
          <a:lstStyle/>
          <a:p>
            <a:r>
              <a:rPr lang="en-GB" sz="2400" u="sng" dirty="0"/>
              <a:t>name</a:t>
            </a:r>
            <a:endParaRPr lang="en-US" sz="2400" u="sng" dirty="0"/>
          </a:p>
        </p:txBody>
      </p:sp>
      <p:cxnSp>
        <p:nvCxnSpPr>
          <p:cNvPr id="13" name="Straight Arrow Connector 12">
            <a:extLst>
              <a:ext uri="{FF2B5EF4-FFF2-40B4-BE49-F238E27FC236}">
                <a16:creationId xmlns:a16="http://schemas.microsoft.com/office/drawing/2014/main" id="{7E3940AF-BEAA-B34E-9782-72C96CA1779B}"/>
              </a:ext>
            </a:extLst>
          </p:cNvPr>
          <p:cNvCxnSpPr>
            <a:cxnSpLocks/>
          </p:cNvCxnSpPr>
          <p:nvPr/>
        </p:nvCxnSpPr>
        <p:spPr>
          <a:xfrm flipH="1">
            <a:off x="6560821" y="1644968"/>
            <a:ext cx="696322" cy="955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248E6011-99C5-2342-99CF-0555B6F903D6}"/>
              </a:ext>
            </a:extLst>
          </p:cNvPr>
          <p:cNvSpPr txBox="1"/>
          <p:nvPr/>
        </p:nvSpPr>
        <p:spPr>
          <a:xfrm>
            <a:off x="1201454" y="1891768"/>
            <a:ext cx="1975477" cy="461665"/>
          </a:xfrm>
          <a:prstGeom prst="rect">
            <a:avLst/>
          </a:prstGeom>
          <a:noFill/>
        </p:spPr>
        <p:txBody>
          <a:bodyPr wrap="none" rtlCol="0">
            <a:spAutoFit/>
          </a:bodyPr>
          <a:lstStyle/>
          <a:p>
            <a:r>
              <a:rPr lang="en-GB" sz="2400" u="sng" dirty="0"/>
              <a:t>class key word</a:t>
            </a:r>
            <a:endParaRPr lang="en-US" sz="2400" u="sng" dirty="0"/>
          </a:p>
        </p:txBody>
      </p:sp>
      <p:cxnSp>
        <p:nvCxnSpPr>
          <p:cNvPr id="16" name="Straight Arrow Connector 15">
            <a:extLst>
              <a:ext uri="{FF2B5EF4-FFF2-40B4-BE49-F238E27FC236}">
                <a16:creationId xmlns:a16="http://schemas.microsoft.com/office/drawing/2014/main" id="{ED785957-2702-CA4B-A102-06E6A372E271}"/>
              </a:ext>
            </a:extLst>
          </p:cNvPr>
          <p:cNvCxnSpPr>
            <a:cxnSpLocks/>
          </p:cNvCxnSpPr>
          <p:nvPr/>
        </p:nvCxnSpPr>
        <p:spPr>
          <a:xfrm>
            <a:off x="2336800" y="2272080"/>
            <a:ext cx="2393525" cy="6876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77640BC9-9FAD-CB4A-861C-08C53841D272}"/>
              </a:ext>
            </a:extLst>
          </p:cNvPr>
          <p:cNvSpPr txBox="1"/>
          <p:nvPr/>
        </p:nvSpPr>
        <p:spPr>
          <a:xfrm>
            <a:off x="7933050" y="3275706"/>
            <a:ext cx="2057230" cy="461665"/>
          </a:xfrm>
          <a:prstGeom prst="rect">
            <a:avLst/>
          </a:prstGeom>
          <a:noFill/>
        </p:spPr>
        <p:txBody>
          <a:bodyPr wrap="none" rtlCol="0">
            <a:spAutoFit/>
          </a:bodyPr>
          <a:lstStyle/>
          <a:p>
            <a:r>
              <a:rPr lang="en-GB" sz="2400" u="sng" dirty="0"/>
              <a:t>pass key words</a:t>
            </a:r>
            <a:endParaRPr lang="en-US" sz="2400" u="sng" dirty="0"/>
          </a:p>
        </p:txBody>
      </p:sp>
      <p:cxnSp>
        <p:nvCxnSpPr>
          <p:cNvPr id="20" name="Straight Arrow Connector 19">
            <a:extLst>
              <a:ext uri="{FF2B5EF4-FFF2-40B4-BE49-F238E27FC236}">
                <a16:creationId xmlns:a16="http://schemas.microsoft.com/office/drawing/2014/main" id="{F3DF61E5-3B65-7D43-B8E2-9426AD07AF32}"/>
              </a:ext>
            </a:extLst>
          </p:cNvPr>
          <p:cNvCxnSpPr>
            <a:cxnSpLocks/>
            <a:stCxn id="19" idx="1"/>
          </p:cNvCxnSpPr>
          <p:nvPr/>
        </p:nvCxnSpPr>
        <p:spPr>
          <a:xfrm flipH="1">
            <a:off x="6792108" y="3506539"/>
            <a:ext cx="11409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9ED36C90-5B81-C90F-1C31-B61B443E3D6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3659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1AFA4-9EBB-2B48-A1C9-6D7077915500}"/>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Creating object of a class</a:t>
            </a:r>
          </a:p>
        </p:txBody>
      </p:sp>
      <p:graphicFrame>
        <p:nvGraphicFramePr>
          <p:cNvPr id="4" name="Table 7">
            <a:extLst>
              <a:ext uri="{FF2B5EF4-FFF2-40B4-BE49-F238E27FC236}">
                <a16:creationId xmlns:a16="http://schemas.microsoft.com/office/drawing/2014/main" id="{79D22AB6-6D7C-6244-BD32-BD64730F1649}"/>
              </a:ext>
            </a:extLst>
          </p:cNvPr>
          <p:cNvGraphicFramePr>
            <a:graphicFrameLocks noGrp="1"/>
          </p:cNvGraphicFramePr>
          <p:nvPr>
            <p:extLst>
              <p:ext uri="{D42A27DB-BD31-4B8C-83A1-F6EECF244321}">
                <p14:modId xmlns:p14="http://schemas.microsoft.com/office/powerpoint/2010/main" val="1956970947"/>
              </p:ext>
            </p:extLst>
          </p:nvPr>
        </p:nvGraphicFramePr>
        <p:xfrm>
          <a:off x="3645547" y="2766377"/>
          <a:ext cx="4231340" cy="1325563"/>
        </p:xfrm>
        <a:graphic>
          <a:graphicData uri="http://schemas.openxmlformats.org/drawingml/2006/table">
            <a:tbl>
              <a:tblPr firstRow="1" bandRow="1">
                <a:tableStyleId>{5C22544A-7EE6-4342-B048-85BDC9FD1C3A}</a:tableStyleId>
              </a:tblPr>
              <a:tblGrid>
                <a:gridCol w="4231340">
                  <a:extLst>
                    <a:ext uri="{9D8B030D-6E8A-4147-A177-3AD203B41FA5}">
                      <a16:colId xmlns:a16="http://schemas.microsoft.com/office/drawing/2014/main" val="381975002"/>
                    </a:ext>
                  </a:extLst>
                </a:gridCol>
              </a:tblGrid>
              <a:tr h="1325563">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5" name="TextBox 4">
            <a:extLst>
              <a:ext uri="{FF2B5EF4-FFF2-40B4-BE49-F238E27FC236}">
                <a16:creationId xmlns:a16="http://schemas.microsoft.com/office/drawing/2014/main" id="{19B0A0F6-5AF1-FD42-9B1B-A01A956FE624}"/>
              </a:ext>
            </a:extLst>
          </p:cNvPr>
          <p:cNvSpPr txBox="1"/>
          <p:nvPr/>
        </p:nvSpPr>
        <p:spPr>
          <a:xfrm>
            <a:off x="4794445" y="3167390"/>
            <a:ext cx="1838965" cy="523220"/>
          </a:xfrm>
          <a:prstGeom prst="rect">
            <a:avLst/>
          </a:prstGeom>
          <a:noFill/>
        </p:spPr>
        <p:txBody>
          <a:bodyPr wrap="none" rtlCol="0">
            <a:spAutoFit/>
          </a:bodyPr>
          <a:lstStyle/>
          <a:p>
            <a:r>
              <a:rPr lang="en-GB" sz="2800" dirty="0" err="1"/>
              <a:t>vuk</a:t>
            </a:r>
            <a:r>
              <a:rPr lang="en-GB" sz="2800" dirty="0"/>
              <a:t> = Dog()</a:t>
            </a:r>
            <a:endParaRPr lang="en-US" sz="2800" dirty="0"/>
          </a:p>
        </p:txBody>
      </p:sp>
      <p:cxnSp>
        <p:nvCxnSpPr>
          <p:cNvPr id="3" name="Straight Connector 2">
            <a:extLst>
              <a:ext uri="{FF2B5EF4-FFF2-40B4-BE49-F238E27FC236}">
                <a16:creationId xmlns:a16="http://schemas.microsoft.com/office/drawing/2014/main" id="{EC60B127-BA35-A8B1-C360-7F3F9A88AF6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670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7">
            <a:extLst>
              <a:ext uri="{FF2B5EF4-FFF2-40B4-BE49-F238E27FC236}">
                <a16:creationId xmlns:a16="http://schemas.microsoft.com/office/drawing/2014/main" id="{0262DB22-D4D8-A94E-B090-FDD913B16974}"/>
              </a:ext>
            </a:extLst>
          </p:cNvPr>
          <p:cNvGraphicFramePr>
            <a:graphicFrameLocks noGrp="1"/>
          </p:cNvGraphicFramePr>
          <p:nvPr>
            <p:extLst>
              <p:ext uri="{D42A27DB-BD31-4B8C-83A1-F6EECF244321}">
                <p14:modId xmlns:p14="http://schemas.microsoft.com/office/powerpoint/2010/main" val="2132296726"/>
              </p:ext>
            </p:extLst>
          </p:nvPr>
        </p:nvGraphicFramePr>
        <p:xfrm>
          <a:off x="3106236" y="3519714"/>
          <a:ext cx="5259934" cy="2105907"/>
        </p:xfrm>
        <a:graphic>
          <a:graphicData uri="http://schemas.openxmlformats.org/drawingml/2006/table">
            <a:tbl>
              <a:tblPr firstRow="1" bandRow="1">
                <a:tableStyleId>{5C22544A-7EE6-4342-B048-85BDC9FD1C3A}</a:tableStyleId>
              </a:tblPr>
              <a:tblGrid>
                <a:gridCol w="5259934">
                  <a:extLst>
                    <a:ext uri="{9D8B030D-6E8A-4147-A177-3AD203B41FA5}">
                      <a16:colId xmlns:a16="http://schemas.microsoft.com/office/drawing/2014/main" val="381975002"/>
                    </a:ext>
                  </a:extLst>
                </a:gridCol>
              </a:tblGrid>
              <a:tr h="2105907">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C1FA8453-BBE6-D04F-8B66-3131CA401203}"/>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Defining method</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951CCFF-D3B7-CB4E-B5AE-B7607148D477}"/>
              </a:ext>
            </a:extLst>
          </p:cNvPr>
          <p:cNvSpPr>
            <a:spLocks noGrp="1"/>
          </p:cNvSpPr>
          <p:nvPr>
            <p:ph idx="1"/>
          </p:nvPr>
        </p:nvSpPr>
        <p:spPr/>
        <p:txBody>
          <a:bodyPr/>
          <a:lstStyle/>
          <a:p>
            <a:r>
              <a:rPr lang="en-GB" sz="2400" dirty="0"/>
              <a:t>A method is a function defined in class scope and with first parameter </a:t>
            </a:r>
            <a:r>
              <a:rPr lang="en-GB" sz="2400" dirty="0">
                <a:solidFill>
                  <a:srgbClr val="9E4F90"/>
                </a:solidFill>
              </a:rPr>
              <a:t>self</a:t>
            </a:r>
            <a:r>
              <a:rPr lang="en-GB" sz="2400" dirty="0"/>
              <a:t>:</a:t>
            </a:r>
          </a:p>
          <a:p>
            <a:r>
              <a:rPr lang="en-GB" sz="2400" dirty="0"/>
              <a:t>The </a:t>
            </a:r>
            <a:r>
              <a:rPr lang="en-GB" sz="2400" dirty="0">
                <a:solidFill>
                  <a:srgbClr val="9E4F90"/>
                </a:solidFill>
              </a:rPr>
              <a:t>self</a:t>
            </a:r>
            <a:r>
              <a:rPr lang="en-GB" sz="2400" dirty="0"/>
              <a:t> variable is explicit. It references the current object, that is the object whose method is currently executing.</a:t>
            </a:r>
          </a:p>
          <a:p>
            <a:endParaRPr lang="en-GB" dirty="0"/>
          </a:p>
          <a:p>
            <a:endParaRPr lang="en-US" dirty="0"/>
          </a:p>
        </p:txBody>
      </p:sp>
      <p:sp>
        <p:nvSpPr>
          <p:cNvPr id="4" name="TextBox 3">
            <a:extLst>
              <a:ext uri="{FF2B5EF4-FFF2-40B4-BE49-F238E27FC236}">
                <a16:creationId xmlns:a16="http://schemas.microsoft.com/office/drawing/2014/main" id="{2CDCDD3B-728E-0F4F-AEB9-845C8E7BDB54}"/>
              </a:ext>
            </a:extLst>
          </p:cNvPr>
          <p:cNvSpPr txBox="1"/>
          <p:nvPr/>
        </p:nvSpPr>
        <p:spPr>
          <a:xfrm>
            <a:off x="3193143" y="3686629"/>
            <a:ext cx="3628750" cy="1938992"/>
          </a:xfrm>
          <a:prstGeom prst="rect">
            <a:avLst/>
          </a:prstGeom>
          <a:noFill/>
        </p:spPr>
        <p:txBody>
          <a:bodyPr wrap="none" rtlCol="0">
            <a:spAutoFit/>
          </a:bodyPr>
          <a:lstStyle/>
          <a:p>
            <a:r>
              <a:rPr lang="en-GB" sz="2400" b="1" dirty="0">
                <a:solidFill>
                  <a:srgbClr val="0C0086"/>
                </a:solidFill>
              </a:rPr>
              <a:t>class</a:t>
            </a:r>
            <a:r>
              <a:rPr lang="en-GB" sz="2400" b="1" dirty="0"/>
              <a:t> </a:t>
            </a:r>
            <a:r>
              <a:rPr lang="en-GB" sz="2400" dirty="0"/>
              <a:t>Dog:</a:t>
            </a:r>
            <a:br>
              <a:rPr lang="en-GB" sz="2400" dirty="0"/>
            </a:br>
            <a:br>
              <a:rPr lang="en-GB" sz="2400" dirty="0"/>
            </a:br>
            <a:r>
              <a:rPr lang="en-GB" sz="2400" dirty="0"/>
              <a:t>    </a:t>
            </a:r>
            <a:r>
              <a:rPr lang="en-GB" sz="2400" b="1" dirty="0">
                <a:solidFill>
                  <a:srgbClr val="0C0086"/>
                </a:solidFill>
              </a:rPr>
              <a:t>def</a:t>
            </a:r>
            <a:r>
              <a:rPr lang="en-GB" sz="2400" b="1" dirty="0"/>
              <a:t> </a:t>
            </a:r>
            <a:r>
              <a:rPr lang="en-GB" sz="2400" dirty="0"/>
              <a:t>bark(</a:t>
            </a:r>
            <a:r>
              <a:rPr lang="en-GB" sz="2400" dirty="0">
                <a:solidFill>
                  <a:srgbClr val="9E4F90"/>
                </a:solidFill>
              </a:rPr>
              <a:t>self</a:t>
            </a:r>
            <a:r>
              <a:rPr lang="en-GB" sz="2400" dirty="0"/>
              <a:t>, sound):</a:t>
            </a:r>
            <a:br>
              <a:rPr lang="en-GB" sz="2400" dirty="0"/>
            </a:br>
            <a:r>
              <a:rPr lang="en-GB" sz="2400" dirty="0"/>
              <a:t>        </a:t>
            </a:r>
            <a:r>
              <a:rPr lang="en-GB" sz="2400" b="1" dirty="0">
                <a:solidFill>
                  <a:srgbClr val="0C0086"/>
                </a:solidFill>
              </a:rPr>
              <a:t>return</a:t>
            </a:r>
            <a:r>
              <a:rPr lang="en-GB" sz="2400" b="1" dirty="0"/>
              <a:t> </a:t>
            </a:r>
            <a:r>
              <a:rPr lang="en-GB" sz="2400" b="1" dirty="0">
                <a:solidFill>
                  <a:srgbClr val="008281"/>
                </a:solidFill>
              </a:rPr>
              <a:t>f' bark: </a:t>
            </a:r>
            <a:r>
              <a:rPr lang="en-GB" sz="2400" b="1" dirty="0">
                <a:solidFill>
                  <a:srgbClr val="0C0086"/>
                </a:solidFill>
              </a:rPr>
              <a:t>{</a:t>
            </a:r>
            <a:r>
              <a:rPr lang="en-GB" sz="2400" dirty="0"/>
              <a:t>sound</a:t>
            </a:r>
            <a:r>
              <a:rPr lang="en-GB" sz="2400" b="1" dirty="0">
                <a:solidFill>
                  <a:srgbClr val="0C0086"/>
                </a:solidFill>
              </a:rPr>
              <a:t>}</a:t>
            </a:r>
            <a:r>
              <a:rPr lang="en-GB" sz="2400" b="1" dirty="0">
                <a:solidFill>
                  <a:srgbClr val="008281"/>
                </a:solidFill>
              </a:rPr>
              <a:t>'</a:t>
            </a:r>
            <a:br>
              <a:rPr lang="en-GB" sz="2400" b="1" dirty="0"/>
            </a:br>
            <a:endParaRPr lang="en-US" sz="2400" dirty="0"/>
          </a:p>
        </p:txBody>
      </p:sp>
      <p:cxnSp>
        <p:nvCxnSpPr>
          <p:cNvPr id="5" name="Straight Connector 4">
            <a:extLst>
              <a:ext uri="{FF2B5EF4-FFF2-40B4-BE49-F238E27FC236}">
                <a16:creationId xmlns:a16="http://schemas.microsoft.com/office/drawing/2014/main" id="{2657CCBD-F12E-C782-279E-F5473AF4F533}"/>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924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7">
            <a:extLst>
              <a:ext uri="{FF2B5EF4-FFF2-40B4-BE49-F238E27FC236}">
                <a16:creationId xmlns:a16="http://schemas.microsoft.com/office/drawing/2014/main" id="{E6C4CBD4-2646-B042-81C7-8328B43E0396}"/>
              </a:ext>
            </a:extLst>
          </p:cNvPr>
          <p:cNvGraphicFramePr>
            <a:graphicFrameLocks noGrp="1"/>
          </p:cNvGraphicFramePr>
          <p:nvPr>
            <p:extLst>
              <p:ext uri="{D42A27DB-BD31-4B8C-83A1-F6EECF244321}">
                <p14:modId xmlns:p14="http://schemas.microsoft.com/office/powerpoint/2010/main" val="98913671"/>
              </p:ext>
            </p:extLst>
          </p:nvPr>
        </p:nvGraphicFramePr>
        <p:xfrm>
          <a:off x="3091721" y="2806933"/>
          <a:ext cx="5259934" cy="2105907"/>
        </p:xfrm>
        <a:graphic>
          <a:graphicData uri="http://schemas.openxmlformats.org/drawingml/2006/table">
            <a:tbl>
              <a:tblPr firstRow="1" bandRow="1">
                <a:tableStyleId>{5C22544A-7EE6-4342-B048-85BDC9FD1C3A}</a:tableStyleId>
              </a:tblPr>
              <a:tblGrid>
                <a:gridCol w="5259934">
                  <a:extLst>
                    <a:ext uri="{9D8B030D-6E8A-4147-A177-3AD203B41FA5}">
                      <a16:colId xmlns:a16="http://schemas.microsoft.com/office/drawing/2014/main" val="381975002"/>
                    </a:ext>
                  </a:extLst>
                </a:gridCol>
              </a:tblGrid>
              <a:tr h="2105907">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CFE2B5B3-DFB3-D049-80F6-860C44EEC9D2}"/>
              </a:ext>
            </a:extLst>
          </p:cNvPr>
          <p:cNvSpPr>
            <a:spLocks noGrp="1"/>
          </p:cNvSpPr>
          <p:nvPr>
            <p:ph type="title"/>
          </p:nvPr>
        </p:nvSpPr>
        <p:spPr>
          <a:xfrm>
            <a:off x="838199" y="365125"/>
            <a:ext cx="10816771" cy="1325563"/>
          </a:xfrm>
        </p:spPr>
        <p:txBody>
          <a:bodyPr/>
          <a:lstStyle/>
          <a:p>
            <a:r>
              <a:rPr lang="en-US" b="1" dirty="0">
                <a:latin typeface="Arial" panose="020B0604020202020204" pitchFamily="34" charset="0"/>
                <a:cs typeface="Arial" panose="020B0604020202020204" pitchFamily="34" charset="0"/>
              </a:rPr>
              <a:t>Calling</a:t>
            </a:r>
            <a:r>
              <a:rPr lang="en-GB" b="1" dirty="0">
                <a:latin typeface="Arial" panose="020B0604020202020204" pitchFamily="34" charset="0"/>
                <a:cs typeface="Arial" panose="020B0604020202020204" pitchFamily="34" charset="0"/>
              </a:rPr>
              <a:t> methods using the </a:t>
            </a:r>
            <a:r>
              <a:rPr lang="en-GB" b="1" dirty="0">
                <a:latin typeface="Consolas" panose="020B0609020204030204" pitchFamily="49" charset="0"/>
                <a:cs typeface="Consolas" panose="020B0609020204030204" pitchFamily="49" charset="0"/>
              </a:rPr>
              <a:t>dot</a:t>
            </a:r>
            <a:r>
              <a:rPr lang="en-GB" b="1" dirty="0">
                <a:latin typeface="Arial" panose="020B0604020202020204" pitchFamily="34" charset="0"/>
                <a:cs typeface="Arial" panose="020B0604020202020204" pitchFamily="34" charset="0"/>
              </a:rPr>
              <a:t> operator</a:t>
            </a:r>
            <a:endParaRPr 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805E8EF-F521-7D4A-9B85-709E291B0098}"/>
              </a:ext>
            </a:extLst>
          </p:cNvPr>
          <p:cNvSpPr txBox="1"/>
          <p:nvPr/>
        </p:nvSpPr>
        <p:spPr>
          <a:xfrm>
            <a:off x="4274820" y="3259721"/>
            <a:ext cx="3321550" cy="1200329"/>
          </a:xfrm>
          <a:prstGeom prst="rect">
            <a:avLst/>
          </a:prstGeom>
          <a:noFill/>
        </p:spPr>
        <p:txBody>
          <a:bodyPr wrap="none" rtlCol="0">
            <a:spAutoFit/>
          </a:bodyPr>
          <a:lstStyle/>
          <a:p>
            <a:r>
              <a:rPr lang="en-GB" sz="2400" dirty="0" err="1"/>
              <a:t>vuk</a:t>
            </a:r>
            <a:r>
              <a:rPr lang="en-GB" sz="2400" dirty="0"/>
              <a:t> = Dog()</a:t>
            </a:r>
            <a:endParaRPr lang="en-US" sz="2400" dirty="0"/>
          </a:p>
          <a:p>
            <a:endParaRPr lang="en-GB" sz="2400" dirty="0"/>
          </a:p>
          <a:p>
            <a:r>
              <a:rPr lang="en-GB" sz="2400" dirty="0" err="1"/>
              <a:t>vuk</a:t>
            </a:r>
            <a:r>
              <a:rPr lang="en-GB" sz="2400" b="1" dirty="0" err="1"/>
              <a:t>.</a:t>
            </a:r>
            <a:r>
              <a:rPr lang="en-GB" sz="2400" dirty="0" err="1"/>
              <a:t>bark</a:t>
            </a:r>
            <a:r>
              <a:rPr lang="en-GB" sz="2400" dirty="0"/>
              <a:t>(</a:t>
            </a:r>
            <a:r>
              <a:rPr lang="en-GB" sz="2400" b="1" dirty="0">
                <a:solidFill>
                  <a:srgbClr val="008281"/>
                </a:solidFill>
              </a:rPr>
              <a:t>'Woof woof ...'</a:t>
            </a:r>
            <a:r>
              <a:rPr lang="en-GB" sz="2400" dirty="0"/>
              <a:t>)</a:t>
            </a:r>
            <a:endParaRPr lang="en-US" sz="2400" dirty="0"/>
          </a:p>
        </p:txBody>
      </p:sp>
      <p:cxnSp>
        <p:nvCxnSpPr>
          <p:cNvPr id="3" name="Straight Connector 2">
            <a:extLst>
              <a:ext uri="{FF2B5EF4-FFF2-40B4-BE49-F238E27FC236}">
                <a16:creationId xmlns:a16="http://schemas.microsoft.com/office/drawing/2014/main" id="{FA286307-F514-361B-664B-46F338402EC3}"/>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997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7">
            <a:extLst>
              <a:ext uri="{FF2B5EF4-FFF2-40B4-BE49-F238E27FC236}">
                <a16:creationId xmlns:a16="http://schemas.microsoft.com/office/drawing/2014/main" id="{1643FF73-FF59-AB4D-B37F-E8BDADCC85DB}"/>
              </a:ext>
            </a:extLst>
          </p:cNvPr>
          <p:cNvGraphicFramePr>
            <a:graphicFrameLocks noGrp="1"/>
          </p:cNvGraphicFramePr>
          <p:nvPr>
            <p:extLst>
              <p:ext uri="{D42A27DB-BD31-4B8C-83A1-F6EECF244321}">
                <p14:modId xmlns:p14="http://schemas.microsoft.com/office/powerpoint/2010/main" val="1638739050"/>
              </p:ext>
            </p:extLst>
          </p:nvPr>
        </p:nvGraphicFramePr>
        <p:xfrm>
          <a:off x="3688565" y="3103842"/>
          <a:ext cx="5259934" cy="2492990"/>
        </p:xfrm>
        <a:graphic>
          <a:graphicData uri="http://schemas.openxmlformats.org/drawingml/2006/table">
            <a:tbl>
              <a:tblPr firstRow="1" bandRow="1">
                <a:tableStyleId>{5C22544A-7EE6-4342-B048-85BDC9FD1C3A}</a:tableStyleId>
              </a:tblPr>
              <a:tblGrid>
                <a:gridCol w="5259934">
                  <a:extLst>
                    <a:ext uri="{9D8B030D-6E8A-4147-A177-3AD203B41FA5}">
                      <a16:colId xmlns:a16="http://schemas.microsoft.com/office/drawing/2014/main" val="381975002"/>
                    </a:ext>
                  </a:extLst>
                </a:gridCol>
              </a:tblGrid>
              <a:tr h="2492990">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519AA475-EF5F-BF41-A7D2-853D40759E93}"/>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constructor/initializer</a:t>
            </a:r>
            <a:endParaRPr 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23FC83E-1118-6E4F-B2AC-6EA5245321C9}"/>
              </a:ext>
            </a:extLst>
          </p:cNvPr>
          <p:cNvSpPr txBox="1"/>
          <p:nvPr/>
        </p:nvSpPr>
        <p:spPr>
          <a:xfrm>
            <a:off x="3836913" y="2928856"/>
            <a:ext cx="4752135" cy="2492990"/>
          </a:xfrm>
          <a:prstGeom prst="rect">
            <a:avLst/>
          </a:prstGeom>
          <a:noFill/>
        </p:spPr>
        <p:txBody>
          <a:bodyPr wrap="square" rtlCol="0">
            <a:spAutoFit/>
          </a:bodyPr>
          <a:lstStyle/>
          <a:p>
            <a:br>
              <a:rPr lang="en-GB" sz="3600" dirty="0"/>
            </a:br>
            <a:r>
              <a:rPr lang="en-GB" sz="2400" b="1" dirty="0">
                <a:solidFill>
                  <a:srgbClr val="0C0086"/>
                </a:solidFill>
              </a:rPr>
              <a:t>class</a:t>
            </a:r>
            <a:r>
              <a:rPr lang="en-GB" sz="2400" b="1" dirty="0"/>
              <a:t> </a:t>
            </a:r>
            <a:r>
              <a:rPr lang="en-GB" sz="2400" dirty="0"/>
              <a:t>Dog:</a:t>
            </a:r>
            <a:br>
              <a:rPr lang="en-GB" sz="2400" dirty="0"/>
            </a:br>
            <a:br>
              <a:rPr lang="en-GB" sz="2400" dirty="0"/>
            </a:br>
            <a:r>
              <a:rPr lang="en-GB" sz="2400" dirty="0"/>
              <a:t>    </a:t>
            </a:r>
            <a:r>
              <a:rPr lang="en-GB" sz="2400" b="1" dirty="0">
                <a:solidFill>
                  <a:srgbClr val="0C0086"/>
                </a:solidFill>
              </a:rPr>
              <a:t>def</a:t>
            </a:r>
            <a:r>
              <a:rPr lang="en-GB" sz="2400" b="1" dirty="0"/>
              <a:t> </a:t>
            </a:r>
            <a:r>
              <a:rPr lang="en-GB" sz="2400" dirty="0">
                <a:solidFill>
                  <a:srgbClr val="C300B8"/>
                </a:solidFill>
              </a:rPr>
              <a:t>__</a:t>
            </a:r>
            <a:r>
              <a:rPr lang="en-GB" sz="2400" dirty="0" err="1">
                <a:solidFill>
                  <a:srgbClr val="C300B8"/>
                </a:solidFill>
              </a:rPr>
              <a:t>init</a:t>
            </a:r>
            <a:r>
              <a:rPr lang="en-GB" sz="2400" dirty="0">
                <a:solidFill>
                  <a:srgbClr val="C300B8"/>
                </a:solidFill>
              </a:rPr>
              <a:t>__</a:t>
            </a:r>
            <a:r>
              <a:rPr lang="en-GB" sz="2400" dirty="0"/>
              <a:t>(</a:t>
            </a:r>
            <a:r>
              <a:rPr lang="en-GB" sz="2400" dirty="0">
                <a:solidFill>
                  <a:srgbClr val="9E4F90"/>
                </a:solidFill>
              </a:rPr>
              <a:t>self</a:t>
            </a:r>
            <a:r>
              <a:rPr lang="en-GB" sz="2400" dirty="0"/>
              <a:t>, name, age):</a:t>
            </a:r>
            <a:br>
              <a:rPr lang="en-GB" sz="2400" dirty="0"/>
            </a:br>
            <a:r>
              <a:rPr lang="en-GB" sz="2400" dirty="0"/>
              <a:t>        </a:t>
            </a:r>
            <a:r>
              <a:rPr lang="en-GB" sz="2400" dirty="0" err="1">
                <a:solidFill>
                  <a:srgbClr val="9E4F90"/>
                </a:solidFill>
              </a:rPr>
              <a:t>self</a:t>
            </a:r>
            <a:r>
              <a:rPr lang="en-GB" sz="2400" dirty="0" err="1"/>
              <a:t>.name</a:t>
            </a:r>
            <a:r>
              <a:rPr lang="en-GB" sz="2400" dirty="0"/>
              <a:t> = name</a:t>
            </a:r>
            <a:br>
              <a:rPr lang="en-GB" sz="2400" dirty="0"/>
            </a:br>
            <a:r>
              <a:rPr lang="en-GB" sz="2400" dirty="0"/>
              <a:t>        </a:t>
            </a:r>
            <a:r>
              <a:rPr lang="en-GB" sz="2400" dirty="0" err="1">
                <a:solidFill>
                  <a:srgbClr val="9E4F90"/>
                </a:solidFill>
              </a:rPr>
              <a:t>self</a:t>
            </a:r>
            <a:r>
              <a:rPr lang="en-GB" sz="2400" dirty="0" err="1"/>
              <a:t>.age</a:t>
            </a:r>
            <a:r>
              <a:rPr lang="en-GB" sz="2400" dirty="0"/>
              <a:t> = age</a:t>
            </a:r>
            <a:endParaRPr lang="en-US" sz="2400" dirty="0"/>
          </a:p>
        </p:txBody>
      </p:sp>
      <p:sp>
        <p:nvSpPr>
          <p:cNvPr id="7" name="Content Placeholder 2">
            <a:extLst>
              <a:ext uri="{FF2B5EF4-FFF2-40B4-BE49-F238E27FC236}">
                <a16:creationId xmlns:a16="http://schemas.microsoft.com/office/drawing/2014/main" id="{EBAEEACB-5ECC-F342-A1C2-18EC38A3E9B1}"/>
              </a:ext>
            </a:extLst>
          </p:cNvPr>
          <p:cNvSpPr>
            <a:spLocks noGrp="1"/>
          </p:cNvSpPr>
          <p:nvPr>
            <p:ph idx="1"/>
          </p:nvPr>
        </p:nvSpPr>
        <p:spPr>
          <a:xfrm>
            <a:off x="605972" y="1603293"/>
            <a:ext cx="10747828" cy="4351338"/>
          </a:xfrm>
        </p:spPr>
        <p:txBody>
          <a:bodyPr/>
          <a:lstStyle/>
          <a:p>
            <a:r>
              <a:rPr lang="en-GB" dirty="0"/>
              <a:t>The constructor/initializer is a method named </a:t>
            </a:r>
            <a:r>
              <a:rPr lang="en-GB" dirty="0">
                <a:solidFill>
                  <a:srgbClr val="C300B8"/>
                </a:solidFill>
              </a:rPr>
              <a:t>__</a:t>
            </a:r>
            <a:r>
              <a:rPr lang="en-GB" dirty="0" err="1">
                <a:solidFill>
                  <a:srgbClr val="C300B8"/>
                </a:solidFill>
              </a:rPr>
              <a:t>init</a:t>
            </a:r>
            <a:r>
              <a:rPr lang="en-GB" dirty="0">
                <a:solidFill>
                  <a:srgbClr val="C300B8"/>
                </a:solidFill>
              </a:rPr>
              <a:t>__</a:t>
            </a:r>
            <a:r>
              <a:rPr lang="en-GB" dirty="0"/>
              <a:t>.</a:t>
            </a:r>
          </a:p>
          <a:p>
            <a:r>
              <a:rPr lang="en-GB" dirty="0"/>
              <a:t>Include in member variables are created with assignment.</a:t>
            </a:r>
          </a:p>
          <a:p>
            <a:endParaRPr lang="en-GB" dirty="0"/>
          </a:p>
          <a:p>
            <a:endParaRPr lang="en-US" dirty="0"/>
          </a:p>
        </p:txBody>
      </p:sp>
      <p:sp>
        <p:nvSpPr>
          <p:cNvPr id="8" name="TextBox 7">
            <a:extLst>
              <a:ext uri="{FF2B5EF4-FFF2-40B4-BE49-F238E27FC236}">
                <a16:creationId xmlns:a16="http://schemas.microsoft.com/office/drawing/2014/main" id="{A3BD84F9-5FE1-5448-B1FC-A8D612354914}"/>
              </a:ext>
            </a:extLst>
          </p:cNvPr>
          <p:cNvSpPr txBox="1"/>
          <p:nvPr/>
        </p:nvSpPr>
        <p:spPr>
          <a:xfrm>
            <a:off x="288807" y="4281882"/>
            <a:ext cx="2315955" cy="369332"/>
          </a:xfrm>
          <a:prstGeom prst="rect">
            <a:avLst/>
          </a:prstGeom>
          <a:noFill/>
        </p:spPr>
        <p:txBody>
          <a:bodyPr wrap="none" rtlCol="0">
            <a:spAutoFit/>
          </a:bodyPr>
          <a:lstStyle/>
          <a:p>
            <a:r>
              <a:rPr lang="en-US" u="sng" dirty="0"/>
              <a:t>constructor / initializer</a:t>
            </a:r>
          </a:p>
        </p:txBody>
      </p:sp>
      <p:cxnSp>
        <p:nvCxnSpPr>
          <p:cNvPr id="10" name="Straight Arrow Connector 9">
            <a:extLst>
              <a:ext uri="{FF2B5EF4-FFF2-40B4-BE49-F238E27FC236}">
                <a16:creationId xmlns:a16="http://schemas.microsoft.com/office/drawing/2014/main" id="{88C89B60-49C5-E24A-8099-B8F693C27801}"/>
              </a:ext>
            </a:extLst>
          </p:cNvPr>
          <p:cNvCxnSpPr>
            <a:cxnSpLocks/>
            <a:stCxn id="8" idx="3"/>
          </p:cNvCxnSpPr>
          <p:nvPr/>
        </p:nvCxnSpPr>
        <p:spPr>
          <a:xfrm>
            <a:off x="2604762" y="4466548"/>
            <a:ext cx="10659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0EE901F7-E2D6-2C11-1BDC-2627B46047F4}"/>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028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6B431182-5462-0643-AE3E-E351D146D4AB}"/>
              </a:ext>
            </a:extLst>
          </p:cNvPr>
          <p:cNvGraphicFramePr>
            <a:graphicFrameLocks noGrp="1"/>
          </p:cNvGraphicFramePr>
          <p:nvPr>
            <p:extLst>
              <p:ext uri="{D42A27DB-BD31-4B8C-83A1-F6EECF244321}">
                <p14:modId xmlns:p14="http://schemas.microsoft.com/office/powerpoint/2010/main" val="46769947"/>
              </p:ext>
            </p:extLst>
          </p:nvPr>
        </p:nvGraphicFramePr>
        <p:xfrm>
          <a:off x="3558461" y="2911519"/>
          <a:ext cx="4231340" cy="1325563"/>
        </p:xfrm>
        <a:graphic>
          <a:graphicData uri="http://schemas.openxmlformats.org/drawingml/2006/table">
            <a:tbl>
              <a:tblPr firstRow="1" bandRow="1">
                <a:tableStyleId>{5C22544A-7EE6-4342-B048-85BDC9FD1C3A}</a:tableStyleId>
              </a:tblPr>
              <a:tblGrid>
                <a:gridCol w="4231340">
                  <a:extLst>
                    <a:ext uri="{9D8B030D-6E8A-4147-A177-3AD203B41FA5}">
                      <a16:colId xmlns:a16="http://schemas.microsoft.com/office/drawing/2014/main" val="381975002"/>
                    </a:ext>
                  </a:extLst>
                </a:gridCol>
              </a:tblGrid>
              <a:tr h="1325563">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5EFB6780-B6BE-2A4B-A1EE-CC75B90B7875}"/>
              </a:ext>
            </a:extLst>
          </p:cNvPr>
          <p:cNvSpPr>
            <a:spLocks noGrp="1"/>
          </p:cNvSpPr>
          <p:nvPr>
            <p:ph type="title"/>
          </p:nvPr>
        </p:nvSpPr>
        <p:spPr>
          <a:xfrm>
            <a:off x="838200" y="365125"/>
            <a:ext cx="11140440" cy="1325563"/>
          </a:xfrm>
        </p:spPr>
        <p:txBody>
          <a:bodyPr/>
          <a:lstStyle/>
          <a:p>
            <a:r>
              <a:rPr lang="en-US" b="1" dirty="0">
                <a:latin typeface="Arial" panose="020B0604020202020204" pitchFamily="34" charset="0"/>
                <a:cs typeface="Arial" panose="020B0604020202020204" pitchFamily="34" charset="0"/>
              </a:rPr>
              <a:t>Instantiated object (initialize constructor)</a:t>
            </a:r>
          </a:p>
        </p:txBody>
      </p:sp>
      <p:sp>
        <p:nvSpPr>
          <p:cNvPr id="4" name="TextBox 3">
            <a:extLst>
              <a:ext uri="{FF2B5EF4-FFF2-40B4-BE49-F238E27FC236}">
                <a16:creationId xmlns:a16="http://schemas.microsoft.com/office/drawing/2014/main" id="{978A3727-D99D-7649-B12C-483E9C3769DE}"/>
              </a:ext>
            </a:extLst>
          </p:cNvPr>
          <p:cNvSpPr txBox="1"/>
          <p:nvPr/>
        </p:nvSpPr>
        <p:spPr>
          <a:xfrm>
            <a:off x="4325257" y="3207657"/>
            <a:ext cx="2926827" cy="523220"/>
          </a:xfrm>
          <a:prstGeom prst="rect">
            <a:avLst/>
          </a:prstGeom>
          <a:noFill/>
        </p:spPr>
        <p:txBody>
          <a:bodyPr wrap="none" rtlCol="0">
            <a:spAutoFit/>
          </a:bodyPr>
          <a:lstStyle/>
          <a:p>
            <a:r>
              <a:rPr lang="en-GB" sz="2800" dirty="0" err="1"/>
              <a:t>vuk</a:t>
            </a:r>
            <a:r>
              <a:rPr lang="en-GB" sz="2800" dirty="0"/>
              <a:t> = Dog(</a:t>
            </a:r>
            <a:r>
              <a:rPr lang="en-GB" sz="2800" b="1" dirty="0">
                <a:solidFill>
                  <a:srgbClr val="008281"/>
                </a:solidFill>
              </a:rPr>
              <a:t>'</a:t>
            </a:r>
            <a:r>
              <a:rPr lang="en-GB" sz="2800" b="1" dirty="0" err="1">
                <a:solidFill>
                  <a:srgbClr val="008281"/>
                </a:solidFill>
              </a:rPr>
              <a:t>Vuk</a:t>
            </a:r>
            <a:r>
              <a:rPr lang="en-GB" sz="2800" b="1" dirty="0">
                <a:solidFill>
                  <a:srgbClr val="008281"/>
                </a:solidFill>
              </a:rPr>
              <a:t>'</a:t>
            </a:r>
            <a:r>
              <a:rPr lang="en-GB" sz="2800" dirty="0"/>
              <a:t>, </a:t>
            </a:r>
            <a:r>
              <a:rPr lang="en-GB" sz="2800" dirty="0">
                <a:solidFill>
                  <a:srgbClr val="0C0086"/>
                </a:solidFill>
              </a:rPr>
              <a:t>4</a:t>
            </a:r>
            <a:r>
              <a:rPr lang="en-GB" sz="2800" dirty="0"/>
              <a:t>)</a:t>
            </a:r>
            <a:endParaRPr lang="en-US" sz="2800" dirty="0"/>
          </a:p>
        </p:txBody>
      </p:sp>
      <p:cxnSp>
        <p:nvCxnSpPr>
          <p:cNvPr id="3" name="Straight Connector 2">
            <a:extLst>
              <a:ext uri="{FF2B5EF4-FFF2-40B4-BE49-F238E27FC236}">
                <a16:creationId xmlns:a16="http://schemas.microsoft.com/office/drawing/2014/main" id="{FC5E0292-910A-58AF-748D-0C1B116D990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783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BBD7AE3F-D81E-6D43-B6E3-57127707EF8C}"/>
              </a:ext>
            </a:extLst>
          </p:cNvPr>
          <p:cNvGraphicFramePr>
            <a:graphicFrameLocks noGrp="1"/>
          </p:cNvGraphicFramePr>
          <p:nvPr/>
        </p:nvGraphicFramePr>
        <p:xfrm>
          <a:off x="2938417" y="3164681"/>
          <a:ext cx="7090954" cy="3693318"/>
        </p:xfrm>
        <a:graphic>
          <a:graphicData uri="http://schemas.openxmlformats.org/drawingml/2006/table">
            <a:tbl>
              <a:tblPr firstRow="1" bandRow="1">
                <a:tableStyleId>{5C22544A-7EE6-4342-B048-85BDC9FD1C3A}</a:tableStyleId>
              </a:tblPr>
              <a:tblGrid>
                <a:gridCol w="7090954">
                  <a:extLst>
                    <a:ext uri="{9D8B030D-6E8A-4147-A177-3AD203B41FA5}">
                      <a16:colId xmlns:a16="http://schemas.microsoft.com/office/drawing/2014/main" val="381975002"/>
                    </a:ext>
                  </a:extLst>
                </a:gridCol>
              </a:tblGrid>
              <a:tr h="369331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DE5CC063-9764-4B4E-84F1-0DE11CD75F99}"/>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Class variables</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2B047D9-366F-8F40-9533-EE707E55507C}"/>
              </a:ext>
            </a:extLst>
          </p:cNvPr>
          <p:cNvSpPr>
            <a:spLocks noGrp="1"/>
          </p:cNvSpPr>
          <p:nvPr>
            <p:ph idx="1"/>
          </p:nvPr>
        </p:nvSpPr>
        <p:spPr>
          <a:xfrm>
            <a:off x="838200" y="1552576"/>
            <a:ext cx="10515600" cy="4351338"/>
          </a:xfrm>
        </p:spPr>
        <p:txBody>
          <a:bodyPr/>
          <a:lstStyle/>
          <a:p>
            <a:r>
              <a:rPr lang="en-GB" dirty="0"/>
              <a:t>A class variable is shared by instances of the class. Also called static data.</a:t>
            </a:r>
          </a:p>
          <a:p>
            <a:r>
              <a:rPr lang="en-GB" dirty="0"/>
              <a:t>Define at class level with assignment. </a:t>
            </a:r>
            <a:endParaRPr lang="en-US" dirty="0"/>
          </a:p>
        </p:txBody>
      </p:sp>
      <p:sp>
        <p:nvSpPr>
          <p:cNvPr id="4" name="TextBox 3">
            <a:extLst>
              <a:ext uri="{FF2B5EF4-FFF2-40B4-BE49-F238E27FC236}">
                <a16:creationId xmlns:a16="http://schemas.microsoft.com/office/drawing/2014/main" id="{3CCF1B14-038F-FC4A-9401-80DFFA4394EF}"/>
              </a:ext>
            </a:extLst>
          </p:cNvPr>
          <p:cNvSpPr txBox="1"/>
          <p:nvPr/>
        </p:nvSpPr>
        <p:spPr>
          <a:xfrm>
            <a:off x="2998228" y="3164681"/>
            <a:ext cx="6971332" cy="3693319"/>
          </a:xfrm>
          <a:prstGeom prst="rect">
            <a:avLst/>
          </a:prstGeom>
          <a:noFill/>
        </p:spPr>
        <p:txBody>
          <a:bodyPr wrap="none" rtlCol="0">
            <a:spAutoFit/>
          </a:bodyPr>
          <a:lstStyle/>
          <a:p>
            <a:r>
              <a:rPr lang="en-GB" b="1" dirty="0">
                <a:solidFill>
                  <a:srgbClr val="0C0086"/>
                </a:solidFill>
              </a:rPr>
              <a:t>class</a:t>
            </a:r>
            <a:r>
              <a:rPr lang="en-GB" b="1" dirty="0"/>
              <a:t> </a:t>
            </a:r>
            <a:r>
              <a:rPr lang="en-GB" dirty="0"/>
              <a:t>Dog:</a:t>
            </a:r>
            <a:br>
              <a:rPr lang="en-GB" dirty="0"/>
            </a:br>
            <a:r>
              <a:rPr lang="en-GB" dirty="0"/>
              <a:t>    </a:t>
            </a:r>
            <a:br>
              <a:rPr lang="en-GB" dirty="0"/>
            </a:br>
            <a:r>
              <a:rPr lang="en-GB" dirty="0"/>
              <a:t>    species = </a:t>
            </a:r>
            <a:r>
              <a:rPr lang="en-GB" b="1" dirty="0">
                <a:solidFill>
                  <a:srgbClr val="008281"/>
                </a:solidFill>
              </a:rPr>
              <a:t>"Canis"</a:t>
            </a:r>
            <a:br>
              <a:rPr lang="en-GB" b="1" dirty="0"/>
            </a:br>
            <a:r>
              <a:rPr lang="en-GB" b="1" dirty="0"/>
              <a:t>    </a:t>
            </a:r>
            <a:br>
              <a:rPr lang="en-GB" b="1" dirty="0"/>
            </a:br>
            <a:r>
              <a:rPr lang="en-GB" b="1" dirty="0"/>
              <a:t>    </a:t>
            </a:r>
            <a:r>
              <a:rPr lang="en-GB" b="1" dirty="0">
                <a:solidFill>
                  <a:srgbClr val="0C0086"/>
                </a:solidFill>
              </a:rPr>
              <a:t>def</a:t>
            </a:r>
            <a:r>
              <a:rPr lang="en-GB" b="1" dirty="0"/>
              <a:t> </a:t>
            </a:r>
            <a:r>
              <a:rPr lang="en-GB" dirty="0">
                <a:solidFill>
                  <a:srgbClr val="C300B8"/>
                </a:solidFill>
              </a:rPr>
              <a:t>__</a:t>
            </a:r>
            <a:r>
              <a:rPr lang="en-GB" dirty="0" err="1">
                <a:solidFill>
                  <a:srgbClr val="C300B8"/>
                </a:solidFill>
              </a:rPr>
              <a:t>init</a:t>
            </a:r>
            <a:r>
              <a:rPr lang="en-GB" dirty="0">
                <a:solidFill>
                  <a:srgbClr val="C300B8"/>
                </a:solidFill>
              </a:rPr>
              <a:t>__</a:t>
            </a:r>
            <a:r>
              <a:rPr lang="en-GB" dirty="0"/>
              <a:t>(</a:t>
            </a:r>
            <a:r>
              <a:rPr lang="en-GB" dirty="0">
                <a:solidFill>
                  <a:srgbClr val="9E4F90"/>
                </a:solidFill>
              </a:rPr>
              <a:t>self</a:t>
            </a:r>
            <a:r>
              <a:rPr lang="en-GB" dirty="0"/>
              <a:t>, name, age):</a:t>
            </a:r>
            <a:br>
              <a:rPr lang="en-GB" dirty="0"/>
            </a:br>
            <a:r>
              <a:rPr lang="en-GB" dirty="0"/>
              <a:t>        </a:t>
            </a:r>
            <a:r>
              <a:rPr lang="en-GB" dirty="0" err="1"/>
              <a:t>self.name</a:t>
            </a:r>
            <a:r>
              <a:rPr lang="en-GB" dirty="0"/>
              <a:t> = name</a:t>
            </a:r>
            <a:br>
              <a:rPr lang="en-GB" dirty="0"/>
            </a:br>
            <a:r>
              <a:rPr lang="en-GB" dirty="0"/>
              <a:t>        </a:t>
            </a:r>
            <a:r>
              <a:rPr lang="en-GB" dirty="0" err="1"/>
              <a:t>self.age</a:t>
            </a:r>
            <a:r>
              <a:rPr lang="en-GB" dirty="0"/>
              <a:t> =age</a:t>
            </a:r>
            <a:br>
              <a:rPr lang="en-GB" dirty="0"/>
            </a:br>
            <a:br>
              <a:rPr lang="en-GB" dirty="0"/>
            </a:br>
            <a:r>
              <a:rPr lang="en-GB" dirty="0"/>
              <a:t>    </a:t>
            </a:r>
            <a:r>
              <a:rPr lang="en-GB" b="1" dirty="0">
                <a:solidFill>
                  <a:srgbClr val="0C0086"/>
                </a:solidFill>
              </a:rPr>
              <a:t>def</a:t>
            </a:r>
            <a:r>
              <a:rPr lang="en-GB" b="1" dirty="0"/>
              <a:t> </a:t>
            </a:r>
            <a:r>
              <a:rPr lang="en-GB" dirty="0"/>
              <a:t>bark(self, sound):</a:t>
            </a:r>
            <a:br>
              <a:rPr lang="en-GB" dirty="0"/>
            </a:br>
            <a:r>
              <a:rPr lang="en-GB" dirty="0"/>
              <a:t>        </a:t>
            </a:r>
            <a:r>
              <a:rPr lang="en-GB" b="1" dirty="0">
                <a:solidFill>
                  <a:srgbClr val="0C0086"/>
                </a:solidFill>
              </a:rPr>
              <a:t>return</a:t>
            </a:r>
            <a:r>
              <a:rPr lang="en-GB" b="1" dirty="0"/>
              <a:t> </a:t>
            </a:r>
            <a:r>
              <a:rPr lang="en-GB" b="1" dirty="0">
                <a:solidFill>
                  <a:srgbClr val="008281"/>
                </a:solidFill>
              </a:rPr>
              <a:t>f' bark:</a:t>
            </a:r>
            <a:r>
              <a:rPr lang="en-GB" b="1" dirty="0"/>
              <a:t> {</a:t>
            </a:r>
            <a:r>
              <a:rPr lang="en-GB" dirty="0"/>
              <a:t>sound</a:t>
            </a:r>
            <a:r>
              <a:rPr lang="en-GB" b="1" dirty="0"/>
              <a:t>}</a:t>
            </a:r>
            <a:r>
              <a:rPr lang="en-GB" b="1" dirty="0">
                <a:solidFill>
                  <a:srgbClr val="008281"/>
                </a:solidFill>
              </a:rPr>
              <a:t>'</a:t>
            </a:r>
            <a:br>
              <a:rPr lang="en-GB" b="1" dirty="0"/>
            </a:br>
            <a:br>
              <a:rPr lang="en-GB" b="1" dirty="0"/>
            </a:br>
            <a:r>
              <a:rPr lang="en-GB" b="1" dirty="0"/>
              <a:t>    </a:t>
            </a:r>
            <a:r>
              <a:rPr lang="en-GB" b="1" dirty="0">
                <a:solidFill>
                  <a:srgbClr val="0C0086"/>
                </a:solidFill>
              </a:rPr>
              <a:t>def</a:t>
            </a:r>
            <a:r>
              <a:rPr lang="en-GB" b="1" dirty="0"/>
              <a:t> </a:t>
            </a:r>
            <a:r>
              <a:rPr lang="en-GB" dirty="0">
                <a:solidFill>
                  <a:srgbClr val="C300B8"/>
                </a:solidFill>
              </a:rPr>
              <a:t>__str__ </a:t>
            </a:r>
            <a:r>
              <a:rPr lang="en-GB" dirty="0"/>
              <a:t>(self):</a:t>
            </a:r>
            <a:br>
              <a:rPr lang="en-GB" dirty="0"/>
            </a:br>
            <a:r>
              <a:rPr lang="en-GB" dirty="0"/>
              <a:t>        </a:t>
            </a:r>
            <a:r>
              <a:rPr lang="en-GB" b="1" dirty="0">
                <a:solidFill>
                  <a:srgbClr val="0C0086"/>
                </a:solidFill>
              </a:rPr>
              <a:t>return</a:t>
            </a:r>
            <a:r>
              <a:rPr lang="en-GB" b="1" dirty="0"/>
              <a:t> </a:t>
            </a:r>
            <a:r>
              <a:rPr lang="en-GB" b="1" dirty="0" err="1">
                <a:solidFill>
                  <a:srgbClr val="008281"/>
                </a:solidFill>
              </a:rPr>
              <a:t>f'the</a:t>
            </a:r>
            <a:r>
              <a:rPr lang="en-GB" b="1" dirty="0">
                <a:solidFill>
                  <a:srgbClr val="008281"/>
                </a:solidFill>
              </a:rPr>
              <a:t> Dog name is:</a:t>
            </a:r>
            <a:r>
              <a:rPr lang="en-GB" b="1" dirty="0"/>
              <a:t> {</a:t>
            </a:r>
            <a:r>
              <a:rPr lang="en-GB" dirty="0" err="1">
                <a:solidFill>
                  <a:srgbClr val="9E4F90"/>
                </a:solidFill>
              </a:rPr>
              <a:t>self</a:t>
            </a:r>
            <a:r>
              <a:rPr lang="en-GB" dirty="0" err="1"/>
              <a:t>.name</a:t>
            </a:r>
            <a:r>
              <a:rPr lang="en-GB" b="1" dirty="0"/>
              <a:t>} </a:t>
            </a:r>
            <a:r>
              <a:rPr lang="en-GB" b="1" dirty="0">
                <a:solidFill>
                  <a:srgbClr val="008281"/>
                </a:solidFill>
              </a:rPr>
              <a:t>and he is: </a:t>
            </a:r>
            <a:r>
              <a:rPr lang="en-GB" b="1" dirty="0"/>
              <a:t>{</a:t>
            </a:r>
            <a:r>
              <a:rPr lang="en-GB" dirty="0" err="1">
                <a:solidFill>
                  <a:srgbClr val="9E4F90"/>
                </a:solidFill>
              </a:rPr>
              <a:t>self</a:t>
            </a:r>
            <a:r>
              <a:rPr lang="en-GB" dirty="0" err="1"/>
              <a:t>.age</a:t>
            </a:r>
            <a:r>
              <a:rPr lang="en-GB" b="1" dirty="0"/>
              <a:t>} </a:t>
            </a:r>
            <a:r>
              <a:rPr lang="en-GB" b="1" dirty="0">
                <a:solidFill>
                  <a:srgbClr val="008281"/>
                </a:solidFill>
              </a:rPr>
              <a:t>years old'</a:t>
            </a:r>
            <a:endParaRPr lang="en-US" dirty="0">
              <a:solidFill>
                <a:srgbClr val="008281"/>
              </a:solidFill>
            </a:endParaRPr>
          </a:p>
        </p:txBody>
      </p:sp>
      <p:sp>
        <p:nvSpPr>
          <p:cNvPr id="6" name="TextBox 5">
            <a:extLst>
              <a:ext uri="{FF2B5EF4-FFF2-40B4-BE49-F238E27FC236}">
                <a16:creationId xmlns:a16="http://schemas.microsoft.com/office/drawing/2014/main" id="{3012D86A-8F27-EB4A-98B2-0CA51DAEA3B3}"/>
              </a:ext>
            </a:extLst>
          </p:cNvPr>
          <p:cNvSpPr txBox="1"/>
          <p:nvPr/>
        </p:nvSpPr>
        <p:spPr>
          <a:xfrm>
            <a:off x="902190" y="3612635"/>
            <a:ext cx="1423595" cy="369332"/>
          </a:xfrm>
          <a:prstGeom prst="rect">
            <a:avLst/>
          </a:prstGeom>
          <a:noFill/>
        </p:spPr>
        <p:txBody>
          <a:bodyPr wrap="none" rtlCol="0">
            <a:spAutoFit/>
          </a:bodyPr>
          <a:lstStyle/>
          <a:p>
            <a:r>
              <a:rPr lang="en-GB" u="sng" dirty="0"/>
              <a:t>class variable</a:t>
            </a:r>
            <a:endParaRPr lang="en-US" u="sng" dirty="0"/>
          </a:p>
        </p:txBody>
      </p:sp>
      <p:cxnSp>
        <p:nvCxnSpPr>
          <p:cNvPr id="7" name="Straight Arrow Connector 6">
            <a:extLst>
              <a:ext uri="{FF2B5EF4-FFF2-40B4-BE49-F238E27FC236}">
                <a16:creationId xmlns:a16="http://schemas.microsoft.com/office/drawing/2014/main" id="{E1CF15DE-A93F-484D-8D07-3B1AE61CA9D1}"/>
              </a:ext>
            </a:extLst>
          </p:cNvPr>
          <p:cNvCxnSpPr>
            <a:cxnSpLocks/>
          </p:cNvCxnSpPr>
          <p:nvPr/>
        </p:nvCxnSpPr>
        <p:spPr>
          <a:xfrm>
            <a:off x="2242649" y="3851087"/>
            <a:ext cx="9348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0600E07-8B73-5B7E-C4E6-1E3184555AF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69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8F31E53C-6D87-4444-900F-3B47A6D92167}"/>
              </a:ext>
            </a:extLst>
          </p:cNvPr>
          <p:cNvGraphicFramePr>
            <a:graphicFrameLocks noGrp="1"/>
          </p:cNvGraphicFramePr>
          <p:nvPr>
            <p:extLst>
              <p:ext uri="{D42A27DB-BD31-4B8C-83A1-F6EECF244321}">
                <p14:modId xmlns:p14="http://schemas.microsoft.com/office/powerpoint/2010/main" val="1639855360"/>
              </p:ext>
            </p:extLst>
          </p:nvPr>
        </p:nvGraphicFramePr>
        <p:xfrm>
          <a:off x="2533018" y="1779687"/>
          <a:ext cx="8137737" cy="4713188"/>
        </p:xfrm>
        <a:graphic>
          <a:graphicData uri="http://schemas.openxmlformats.org/drawingml/2006/table">
            <a:tbl>
              <a:tblPr firstRow="1" bandRow="1">
                <a:tableStyleId>{5C22544A-7EE6-4342-B048-85BDC9FD1C3A}</a:tableStyleId>
              </a:tblPr>
              <a:tblGrid>
                <a:gridCol w="8137737">
                  <a:extLst>
                    <a:ext uri="{9D8B030D-6E8A-4147-A177-3AD203B41FA5}">
                      <a16:colId xmlns:a16="http://schemas.microsoft.com/office/drawing/2014/main" val="381975002"/>
                    </a:ext>
                  </a:extLst>
                </a:gridCol>
              </a:tblGrid>
              <a:tr h="471318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161A920A-A276-E249-AE2C-1F4118F56ED1}"/>
              </a:ext>
            </a:extLst>
          </p:cNvPr>
          <p:cNvSpPr>
            <a:spLocks noGrp="1"/>
          </p:cNvSpPr>
          <p:nvPr>
            <p:ph type="title"/>
          </p:nvPr>
        </p:nvSpPr>
        <p:spPr>
          <a:xfrm>
            <a:off x="0" y="365125"/>
            <a:ext cx="12390120" cy="1325563"/>
          </a:xfrm>
        </p:spPr>
        <p:txBody>
          <a:bodyPr/>
          <a:lstStyle/>
          <a:p>
            <a:r>
              <a:rPr lang="en-GB" b="1" dirty="0">
                <a:latin typeface="Arial" panose="020B0604020202020204" pitchFamily="34" charset="0"/>
                <a:cs typeface="Arial" panose="020B0604020202020204" pitchFamily="34" charset="0"/>
              </a:rPr>
              <a:t>Using </a:t>
            </a:r>
            <a:r>
              <a:rPr lang="en-GB" dirty="0">
                <a:solidFill>
                  <a:srgbClr val="C300B8"/>
                </a:solidFill>
                <a:latin typeface="Arial" panose="020B0604020202020204" pitchFamily="34" charset="0"/>
                <a:cs typeface="Arial" panose="020B0604020202020204" pitchFamily="34" charset="0"/>
              </a:rPr>
              <a:t>__</a:t>
            </a:r>
            <a:r>
              <a:rPr lang="en-GB" dirty="0" err="1">
                <a:solidFill>
                  <a:srgbClr val="C300B8"/>
                </a:solidFill>
                <a:latin typeface="Arial" panose="020B0604020202020204" pitchFamily="34" charset="0"/>
                <a:cs typeface="Arial" panose="020B0604020202020204" pitchFamily="34" charset="0"/>
              </a:rPr>
              <a:t>repr</a:t>
            </a:r>
            <a:r>
              <a:rPr lang="en-GB" dirty="0">
                <a:solidFill>
                  <a:srgbClr val="C300B8"/>
                </a:solidFill>
                <a:latin typeface="Arial" panose="020B0604020202020204" pitchFamily="34" charset="0"/>
                <a:cs typeface="Arial" panose="020B0604020202020204" pitchFamily="34" charset="0"/>
              </a:rPr>
              <a:t>__ </a:t>
            </a:r>
            <a:r>
              <a:rPr lang="en-GB" b="1" dirty="0">
                <a:latin typeface="Arial" panose="020B0604020202020204" pitchFamily="34" charset="0"/>
                <a:cs typeface="Arial" panose="020B0604020202020204" pitchFamily="34" charset="0"/>
              </a:rPr>
              <a:t>method to represent an object</a:t>
            </a:r>
            <a:endParaRPr lang="en-US" dirty="0"/>
          </a:p>
        </p:txBody>
      </p:sp>
      <p:sp>
        <p:nvSpPr>
          <p:cNvPr id="9" name="TextBox 8">
            <a:extLst>
              <a:ext uri="{FF2B5EF4-FFF2-40B4-BE49-F238E27FC236}">
                <a16:creationId xmlns:a16="http://schemas.microsoft.com/office/drawing/2014/main" id="{18F04B1C-CB0A-5E43-A02F-D91BC470B042}"/>
              </a:ext>
            </a:extLst>
          </p:cNvPr>
          <p:cNvSpPr txBox="1"/>
          <p:nvPr/>
        </p:nvSpPr>
        <p:spPr>
          <a:xfrm>
            <a:off x="2741085" y="1779687"/>
            <a:ext cx="7721601" cy="4093428"/>
          </a:xfrm>
          <a:prstGeom prst="rect">
            <a:avLst/>
          </a:prstGeom>
          <a:noFill/>
        </p:spPr>
        <p:txBody>
          <a:bodyPr wrap="none" rtlCol="0">
            <a:spAutoFit/>
          </a:bodyPr>
          <a:lstStyle/>
          <a:p>
            <a:r>
              <a:rPr lang="en-GB" sz="2000" b="1" dirty="0">
                <a:solidFill>
                  <a:srgbClr val="0C0086"/>
                </a:solidFill>
              </a:rPr>
              <a:t>class</a:t>
            </a:r>
            <a:r>
              <a:rPr lang="en-GB" sz="2000" b="1" dirty="0"/>
              <a:t> </a:t>
            </a:r>
            <a:r>
              <a:rPr lang="en-GB" sz="2000" dirty="0"/>
              <a:t>Dog:</a:t>
            </a:r>
            <a:br>
              <a:rPr lang="en-GB" sz="2000" dirty="0"/>
            </a:br>
            <a:br>
              <a:rPr lang="en-GB" sz="2000" dirty="0"/>
            </a:br>
            <a:r>
              <a:rPr lang="en-GB" sz="2000" dirty="0"/>
              <a:t>    species = </a:t>
            </a:r>
            <a:r>
              <a:rPr lang="en-GB" sz="2000" b="1" dirty="0">
                <a:solidFill>
                  <a:srgbClr val="008281"/>
                </a:solidFill>
              </a:rPr>
              <a:t>"Canis"</a:t>
            </a:r>
            <a:br>
              <a:rPr lang="en-GB" sz="2000" b="1" dirty="0"/>
            </a:b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a:t>
            </a:r>
            <a:r>
              <a:rPr lang="en-GB" sz="2000" dirty="0" err="1">
                <a:solidFill>
                  <a:srgbClr val="C300B8"/>
                </a:solidFill>
              </a:rPr>
              <a:t>init</a:t>
            </a:r>
            <a:r>
              <a:rPr lang="en-GB" sz="2000" dirty="0">
                <a:solidFill>
                  <a:srgbClr val="C300B8"/>
                </a:solidFill>
              </a:rPr>
              <a:t>__</a:t>
            </a:r>
            <a:r>
              <a:rPr lang="en-GB" sz="2000" dirty="0"/>
              <a:t>(</a:t>
            </a:r>
            <a:r>
              <a:rPr lang="en-GB" sz="2000" dirty="0">
                <a:solidFill>
                  <a:srgbClr val="9E4F90"/>
                </a:solidFill>
              </a:rPr>
              <a:t>self</a:t>
            </a:r>
            <a:r>
              <a:rPr lang="en-GB" sz="2000" dirty="0"/>
              <a:t>, name, age):</a:t>
            </a:r>
            <a:br>
              <a:rPr lang="en-GB" sz="2000" dirty="0"/>
            </a:br>
            <a:r>
              <a:rPr lang="en-GB" sz="2000" dirty="0"/>
              <a:t>        </a:t>
            </a:r>
            <a:r>
              <a:rPr lang="en-GB" sz="2000" dirty="0" err="1"/>
              <a:t>self.name</a:t>
            </a:r>
            <a:r>
              <a:rPr lang="en-GB" sz="2000" dirty="0"/>
              <a:t> = name</a:t>
            </a:r>
            <a:br>
              <a:rPr lang="en-GB" sz="2000" dirty="0"/>
            </a:br>
            <a:r>
              <a:rPr lang="en-GB" sz="2000" dirty="0"/>
              <a:t>        </a:t>
            </a:r>
            <a:r>
              <a:rPr lang="en-GB" sz="2000" dirty="0" err="1"/>
              <a:t>self.age</a:t>
            </a:r>
            <a:r>
              <a:rPr lang="en-GB" sz="2000" dirty="0"/>
              <a:t> =age</a:t>
            </a:r>
            <a:br>
              <a:rPr lang="en-GB" sz="2000" dirty="0"/>
            </a:br>
            <a:br>
              <a:rPr lang="en-GB" sz="2000" dirty="0"/>
            </a:br>
            <a:r>
              <a:rPr lang="en-GB" sz="2000" dirty="0"/>
              <a:t>    </a:t>
            </a:r>
            <a:r>
              <a:rPr lang="en-GB" sz="2000" b="1" dirty="0">
                <a:solidFill>
                  <a:srgbClr val="0C0086"/>
                </a:solidFill>
              </a:rPr>
              <a:t>def</a:t>
            </a:r>
            <a:r>
              <a:rPr lang="en-GB" sz="2000" b="1" dirty="0"/>
              <a:t> </a:t>
            </a:r>
            <a:r>
              <a:rPr lang="en-GB" sz="2000" dirty="0"/>
              <a:t>bark(</a:t>
            </a:r>
            <a:r>
              <a:rPr lang="en-GB" sz="2000" dirty="0">
                <a:solidFill>
                  <a:srgbClr val="9E4F90"/>
                </a:solidFill>
              </a:rPr>
              <a:t>self</a:t>
            </a:r>
            <a:r>
              <a:rPr lang="en-GB" sz="2000" dirty="0"/>
              <a:t>, sound):</a:t>
            </a:r>
            <a:br>
              <a:rPr lang="en-GB" sz="2000" dirty="0"/>
            </a:br>
            <a:r>
              <a:rPr lang="en-GB" sz="2000" dirty="0"/>
              <a:t>        </a:t>
            </a:r>
            <a:r>
              <a:rPr lang="en-GB" sz="2000" b="1" dirty="0">
                <a:solidFill>
                  <a:srgbClr val="0C0086"/>
                </a:solidFill>
              </a:rPr>
              <a:t>return</a:t>
            </a:r>
            <a:r>
              <a:rPr lang="en-GB" sz="2000" b="1" dirty="0"/>
              <a:t> </a:t>
            </a:r>
            <a:r>
              <a:rPr lang="en-GB" sz="2000" b="1" dirty="0">
                <a:solidFill>
                  <a:srgbClr val="008281"/>
                </a:solidFill>
              </a:rPr>
              <a:t>f' bark:</a:t>
            </a:r>
            <a:r>
              <a:rPr lang="en-GB" sz="2000" b="1" dirty="0"/>
              <a:t> </a:t>
            </a:r>
            <a:r>
              <a:rPr lang="en-GB" sz="2000" b="1" dirty="0">
                <a:solidFill>
                  <a:srgbClr val="0C0086"/>
                </a:solidFill>
              </a:rPr>
              <a:t>{</a:t>
            </a:r>
            <a:r>
              <a:rPr lang="en-GB" sz="2000" dirty="0"/>
              <a:t>sound</a:t>
            </a:r>
            <a:r>
              <a:rPr lang="en-GB" sz="2000" b="1" dirty="0">
                <a:solidFill>
                  <a:srgbClr val="0C0086"/>
                </a:solidFill>
              </a:rPr>
              <a:t>}</a:t>
            </a:r>
            <a:r>
              <a:rPr lang="en-GB" sz="2000" b="1" dirty="0">
                <a:solidFill>
                  <a:srgbClr val="008281"/>
                </a:solidFill>
              </a:rPr>
              <a:t>'</a:t>
            </a:r>
            <a:br>
              <a:rPr lang="en-GB" sz="2000" b="1" dirty="0"/>
            </a:b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a:t>
            </a:r>
            <a:r>
              <a:rPr lang="en-GB" sz="2000" dirty="0" err="1">
                <a:solidFill>
                  <a:srgbClr val="C300B8"/>
                </a:solidFill>
              </a:rPr>
              <a:t>repr</a:t>
            </a:r>
            <a:r>
              <a:rPr lang="en-GB" sz="2000" dirty="0">
                <a:solidFill>
                  <a:srgbClr val="C300B8"/>
                </a:solidFill>
              </a:rPr>
              <a:t>__</a:t>
            </a:r>
            <a:r>
              <a:rPr lang="en-GB" sz="2000" dirty="0"/>
              <a:t>(</a:t>
            </a:r>
            <a:r>
              <a:rPr lang="en-GB" sz="2000" dirty="0">
                <a:solidFill>
                  <a:srgbClr val="9E4F90"/>
                </a:solidFill>
              </a:rPr>
              <a:t>self</a:t>
            </a:r>
            <a:r>
              <a:rPr lang="en-GB" sz="2000" dirty="0"/>
              <a:t>):</a:t>
            </a:r>
            <a:br>
              <a:rPr lang="en-GB" sz="2000" dirty="0"/>
            </a:br>
            <a:r>
              <a:rPr lang="en-GB" sz="2000" dirty="0"/>
              <a:t>        </a:t>
            </a:r>
            <a:r>
              <a:rPr lang="en-GB" sz="2000" b="1" dirty="0">
                <a:solidFill>
                  <a:srgbClr val="0C0086"/>
                </a:solidFill>
              </a:rPr>
              <a:t>return</a:t>
            </a:r>
            <a:r>
              <a:rPr lang="en-GB" sz="2000" b="1" dirty="0"/>
              <a:t> </a:t>
            </a:r>
            <a:r>
              <a:rPr lang="en-GB" sz="2000" b="1" dirty="0" err="1">
                <a:solidFill>
                  <a:srgbClr val="008281"/>
                </a:solidFill>
              </a:rPr>
              <a:t>f'the</a:t>
            </a:r>
            <a:r>
              <a:rPr lang="en-GB" sz="2000" b="1" dirty="0">
                <a:solidFill>
                  <a:srgbClr val="008281"/>
                </a:solidFill>
              </a:rPr>
              <a:t> Dog name is:</a:t>
            </a:r>
            <a:r>
              <a:rPr lang="en-GB" sz="2000" b="1" dirty="0"/>
              <a:t> {</a:t>
            </a:r>
            <a:r>
              <a:rPr lang="en-GB" sz="2000" dirty="0" err="1">
                <a:solidFill>
                  <a:srgbClr val="9E4F90"/>
                </a:solidFill>
              </a:rPr>
              <a:t>self</a:t>
            </a:r>
            <a:r>
              <a:rPr lang="en-GB" sz="2000" dirty="0" err="1"/>
              <a:t>.name</a:t>
            </a:r>
            <a:r>
              <a:rPr lang="en-GB" sz="2000" b="1" dirty="0">
                <a:solidFill>
                  <a:srgbClr val="0C0086"/>
                </a:solidFill>
              </a:rPr>
              <a:t>}</a:t>
            </a:r>
            <a:r>
              <a:rPr lang="en-GB" sz="2000" b="1" dirty="0"/>
              <a:t> </a:t>
            </a:r>
            <a:r>
              <a:rPr lang="en-GB" sz="2000" b="1" dirty="0">
                <a:solidFill>
                  <a:srgbClr val="008281"/>
                </a:solidFill>
              </a:rPr>
              <a:t>and he is: </a:t>
            </a:r>
            <a:r>
              <a:rPr lang="en-GB" sz="2000" b="1" dirty="0">
                <a:solidFill>
                  <a:srgbClr val="0C0086"/>
                </a:solidFill>
              </a:rPr>
              <a:t>{</a:t>
            </a:r>
            <a:r>
              <a:rPr lang="en-GB" sz="2000" dirty="0" err="1">
                <a:solidFill>
                  <a:srgbClr val="9E4F90"/>
                </a:solidFill>
              </a:rPr>
              <a:t>self</a:t>
            </a:r>
            <a:r>
              <a:rPr lang="en-GB" sz="2000" dirty="0" err="1"/>
              <a:t>.age</a:t>
            </a:r>
            <a:r>
              <a:rPr lang="en-GB" sz="2000" b="1" dirty="0">
                <a:solidFill>
                  <a:srgbClr val="0C0086"/>
                </a:solidFill>
              </a:rPr>
              <a:t>}</a:t>
            </a:r>
            <a:r>
              <a:rPr lang="en-GB" sz="2000" b="1" dirty="0"/>
              <a:t> </a:t>
            </a:r>
            <a:r>
              <a:rPr lang="en-GB" sz="2000" b="1" dirty="0">
                <a:solidFill>
                  <a:srgbClr val="008281"/>
                </a:solidFill>
              </a:rPr>
              <a:t>years old'</a:t>
            </a:r>
            <a:endParaRPr lang="en-US" sz="2000" dirty="0">
              <a:solidFill>
                <a:srgbClr val="008281"/>
              </a:solidFill>
            </a:endParaRPr>
          </a:p>
        </p:txBody>
      </p:sp>
      <p:sp>
        <p:nvSpPr>
          <p:cNvPr id="10" name="TextBox 9">
            <a:extLst>
              <a:ext uri="{FF2B5EF4-FFF2-40B4-BE49-F238E27FC236}">
                <a16:creationId xmlns:a16="http://schemas.microsoft.com/office/drawing/2014/main" id="{BC4A4489-5800-1E49-B8A5-7C824D1EC621}"/>
              </a:ext>
            </a:extLst>
          </p:cNvPr>
          <p:cNvSpPr txBox="1"/>
          <p:nvPr/>
        </p:nvSpPr>
        <p:spPr>
          <a:xfrm>
            <a:off x="418026" y="4854414"/>
            <a:ext cx="2206438" cy="923330"/>
          </a:xfrm>
          <a:prstGeom prst="rect">
            <a:avLst/>
          </a:prstGeom>
          <a:noFill/>
        </p:spPr>
        <p:txBody>
          <a:bodyPr wrap="none" rtlCol="0">
            <a:spAutoFit/>
          </a:bodyPr>
          <a:lstStyle/>
          <a:p>
            <a:r>
              <a:rPr lang="en-GB" u="sng" dirty="0"/>
              <a:t>string representation </a:t>
            </a:r>
          </a:p>
          <a:p>
            <a:r>
              <a:rPr lang="en-GB" u="sng" dirty="0"/>
              <a:t>of object</a:t>
            </a:r>
          </a:p>
          <a:p>
            <a:endParaRPr lang="en-US" dirty="0"/>
          </a:p>
        </p:txBody>
      </p:sp>
      <p:cxnSp>
        <p:nvCxnSpPr>
          <p:cNvPr id="11" name="Straight Arrow Connector 10">
            <a:extLst>
              <a:ext uri="{FF2B5EF4-FFF2-40B4-BE49-F238E27FC236}">
                <a16:creationId xmlns:a16="http://schemas.microsoft.com/office/drawing/2014/main" id="{34709FA4-BCF6-984C-AE73-F34FCD247C18}"/>
              </a:ext>
            </a:extLst>
          </p:cNvPr>
          <p:cNvCxnSpPr>
            <a:cxnSpLocks/>
          </p:cNvCxnSpPr>
          <p:nvPr/>
        </p:nvCxnSpPr>
        <p:spPr>
          <a:xfrm>
            <a:off x="2137548" y="5162338"/>
            <a:ext cx="1439841" cy="1537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E50A6CCD-6A4D-21F9-71C8-00F4B4534546}"/>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535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8655-FCE3-7240-90EC-0227F66C87B8}"/>
              </a:ext>
            </a:extLst>
          </p:cNvPr>
          <p:cNvSpPr>
            <a:spLocks noGrp="1"/>
          </p:cNvSpPr>
          <p:nvPr>
            <p:ph type="title"/>
          </p:nvPr>
        </p:nvSpPr>
        <p:spPr>
          <a:xfrm>
            <a:off x="182880" y="365125"/>
            <a:ext cx="12230100" cy="1325563"/>
          </a:xfrm>
        </p:spPr>
        <p:txBody>
          <a:bodyPr/>
          <a:lstStyle/>
          <a:p>
            <a:r>
              <a:rPr lang="en-GB" b="1" dirty="0">
                <a:latin typeface="Arial" panose="020B0604020202020204" pitchFamily="34" charset="0"/>
                <a:cs typeface="Arial" panose="020B0604020202020204" pitchFamily="34" charset="0"/>
              </a:rPr>
              <a:t>Using </a:t>
            </a:r>
            <a:r>
              <a:rPr lang="en-GB" dirty="0">
                <a:solidFill>
                  <a:srgbClr val="C300B8"/>
                </a:solidFill>
                <a:latin typeface="Arial" panose="020B0604020202020204" pitchFamily="34" charset="0"/>
                <a:cs typeface="Arial" panose="020B0604020202020204" pitchFamily="34" charset="0"/>
              </a:rPr>
              <a:t>__str__ </a:t>
            </a:r>
            <a:r>
              <a:rPr lang="en-GB" b="1" dirty="0">
                <a:latin typeface="Arial" panose="020B0604020202020204" pitchFamily="34" charset="0"/>
                <a:cs typeface="Arial" panose="020B0604020202020204" pitchFamily="34" charset="0"/>
              </a:rPr>
              <a:t>method to represent an object</a:t>
            </a:r>
            <a:endParaRPr lang="en-US" b="1" dirty="0">
              <a:latin typeface="Arial" panose="020B0604020202020204" pitchFamily="34" charset="0"/>
              <a:cs typeface="Arial" panose="020B0604020202020204" pitchFamily="34" charset="0"/>
            </a:endParaRPr>
          </a:p>
        </p:txBody>
      </p:sp>
      <p:graphicFrame>
        <p:nvGraphicFramePr>
          <p:cNvPr id="4" name="Table 7">
            <a:extLst>
              <a:ext uri="{FF2B5EF4-FFF2-40B4-BE49-F238E27FC236}">
                <a16:creationId xmlns:a16="http://schemas.microsoft.com/office/drawing/2014/main" id="{07F74C23-2A7E-394E-93EE-31C49786CA3A}"/>
              </a:ext>
            </a:extLst>
          </p:cNvPr>
          <p:cNvGraphicFramePr>
            <a:graphicFrameLocks noGrp="1"/>
          </p:cNvGraphicFramePr>
          <p:nvPr>
            <p:extLst>
              <p:ext uri="{D42A27DB-BD31-4B8C-83A1-F6EECF244321}">
                <p14:modId xmlns:p14="http://schemas.microsoft.com/office/powerpoint/2010/main" val="1356674333"/>
              </p:ext>
            </p:extLst>
          </p:nvPr>
        </p:nvGraphicFramePr>
        <p:xfrm>
          <a:off x="2476817" y="2285230"/>
          <a:ext cx="8137737" cy="4093428"/>
        </p:xfrm>
        <a:graphic>
          <a:graphicData uri="http://schemas.openxmlformats.org/drawingml/2006/table">
            <a:tbl>
              <a:tblPr firstRow="1" bandRow="1">
                <a:tableStyleId>{5C22544A-7EE6-4342-B048-85BDC9FD1C3A}</a:tableStyleId>
              </a:tblPr>
              <a:tblGrid>
                <a:gridCol w="8137737">
                  <a:extLst>
                    <a:ext uri="{9D8B030D-6E8A-4147-A177-3AD203B41FA5}">
                      <a16:colId xmlns:a16="http://schemas.microsoft.com/office/drawing/2014/main" val="381975002"/>
                    </a:ext>
                  </a:extLst>
                </a:gridCol>
              </a:tblGrid>
              <a:tr h="409342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5" name="TextBox 4">
            <a:extLst>
              <a:ext uri="{FF2B5EF4-FFF2-40B4-BE49-F238E27FC236}">
                <a16:creationId xmlns:a16="http://schemas.microsoft.com/office/drawing/2014/main" id="{22A9C740-A21D-B842-9F3B-92B398D55128}"/>
              </a:ext>
            </a:extLst>
          </p:cNvPr>
          <p:cNvSpPr txBox="1"/>
          <p:nvPr/>
        </p:nvSpPr>
        <p:spPr>
          <a:xfrm>
            <a:off x="2574682" y="2285230"/>
            <a:ext cx="7729584" cy="4093428"/>
          </a:xfrm>
          <a:prstGeom prst="rect">
            <a:avLst/>
          </a:prstGeom>
          <a:noFill/>
        </p:spPr>
        <p:txBody>
          <a:bodyPr wrap="square" rtlCol="0">
            <a:spAutoFit/>
          </a:bodyPr>
          <a:lstStyle/>
          <a:p>
            <a:r>
              <a:rPr lang="en-GB" sz="2000" b="1" dirty="0">
                <a:solidFill>
                  <a:srgbClr val="0C0086"/>
                </a:solidFill>
              </a:rPr>
              <a:t>class</a:t>
            </a:r>
            <a:r>
              <a:rPr lang="en-GB" sz="2000" b="1" dirty="0"/>
              <a:t> </a:t>
            </a:r>
            <a:r>
              <a:rPr lang="en-GB" sz="2000" dirty="0"/>
              <a:t>Dog:</a:t>
            </a:r>
            <a:br>
              <a:rPr lang="en-GB" sz="2000" dirty="0"/>
            </a:br>
            <a:r>
              <a:rPr lang="en-GB" sz="2000" dirty="0"/>
              <a:t>    </a:t>
            </a:r>
            <a:br>
              <a:rPr lang="en-GB" sz="2000" dirty="0"/>
            </a:br>
            <a:r>
              <a:rPr lang="en-GB" sz="2000" dirty="0"/>
              <a:t>    species = </a:t>
            </a:r>
            <a:r>
              <a:rPr lang="en-GB" sz="2000" b="1" dirty="0">
                <a:solidFill>
                  <a:srgbClr val="008281"/>
                </a:solidFill>
              </a:rPr>
              <a:t>"Canis"</a:t>
            </a:r>
            <a:br>
              <a:rPr lang="en-GB" sz="2000" b="1" dirty="0"/>
            </a:br>
            <a:r>
              <a:rPr lang="en-GB" sz="2000" b="1" dirty="0"/>
              <a:t>    </a:t>
            </a: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a:t>
            </a:r>
            <a:r>
              <a:rPr lang="en-GB" sz="2000" dirty="0" err="1">
                <a:solidFill>
                  <a:srgbClr val="C300B8"/>
                </a:solidFill>
              </a:rPr>
              <a:t>init</a:t>
            </a:r>
            <a:r>
              <a:rPr lang="en-GB" sz="2000" dirty="0">
                <a:solidFill>
                  <a:srgbClr val="C300B8"/>
                </a:solidFill>
              </a:rPr>
              <a:t>__</a:t>
            </a:r>
            <a:r>
              <a:rPr lang="en-GB" sz="2000" dirty="0"/>
              <a:t>(</a:t>
            </a:r>
            <a:r>
              <a:rPr lang="en-GB" sz="2000" dirty="0">
                <a:solidFill>
                  <a:srgbClr val="9E4F90"/>
                </a:solidFill>
              </a:rPr>
              <a:t>self</a:t>
            </a:r>
            <a:r>
              <a:rPr lang="en-GB" sz="2000" dirty="0"/>
              <a:t>, name, age):</a:t>
            </a:r>
            <a:br>
              <a:rPr lang="en-GB" sz="2000" dirty="0"/>
            </a:br>
            <a:r>
              <a:rPr lang="en-GB" sz="2000" dirty="0"/>
              <a:t>        </a:t>
            </a:r>
            <a:r>
              <a:rPr lang="en-GB" sz="2000" dirty="0" err="1"/>
              <a:t>self.name</a:t>
            </a:r>
            <a:r>
              <a:rPr lang="en-GB" sz="2000" dirty="0"/>
              <a:t> = name</a:t>
            </a:r>
            <a:br>
              <a:rPr lang="en-GB" sz="2000" dirty="0"/>
            </a:br>
            <a:r>
              <a:rPr lang="en-GB" sz="2000" dirty="0"/>
              <a:t>        </a:t>
            </a:r>
            <a:r>
              <a:rPr lang="en-GB" sz="2000" dirty="0" err="1"/>
              <a:t>self.age</a:t>
            </a:r>
            <a:r>
              <a:rPr lang="en-GB" sz="2000" dirty="0"/>
              <a:t> =age</a:t>
            </a:r>
            <a:br>
              <a:rPr lang="en-GB" sz="2000" dirty="0"/>
            </a:br>
            <a:br>
              <a:rPr lang="en-GB" sz="2000" dirty="0"/>
            </a:br>
            <a:r>
              <a:rPr lang="en-GB" sz="2000" dirty="0"/>
              <a:t>    </a:t>
            </a:r>
            <a:r>
              <a:rPr lang="en-GB" sz="2000" b="1" dirty="0">
                <a:solidFill>
                  <a:srgbClr val="0C0086"/>
                </a:solidFill>
              </a:rPr>
              <a:t>def</a:t>
            </a:r>
            <a:r>
              <a:rPr lang="en-GB" sz="2000" b="1" dirty="0"/>
              <a:t> </a:t>
            </a:r>
            <a:r>
              <a:rPr lang="en-GB" sz="2000" dirty="0"/>
              <a:t>bark(self, sound):</a:t>
            </a:r>
            <a:br>
              <a:rPr lang="en-GB" sz="2000" dirty="0"/>
            </a:br>
            <a:r>
              <a:rPr lang="en-GB" sz="2000" dirty="0"/>
              <a:t>        </a:t>
            </a:r>
            <a:r>
              <a:rPr lang="en-GB" sz="2000" b="1" dirty="0">
                <a:solidFill>
                  <a:srgbClr val="0C0086"/>
                </a:solidFill>
              </a:rPr>
              <a:t>return</a:t>
            </a:r>
            <a:r>
              <a:rPr lang="en-GB" sz="2000" b="1" dirty="0"/>
              <a:t> </a:t>
            </a:r>
            <a:r>
              <a:rPr lang="en-GB" sz="2000" b="1" dirty="0">
                <a:solidFill>
                  <a:srgbClr val="008281"/>
                </a:solidFill>
              </a:rPr>
              <a:t>f' bark:</a:t>
            </a:r>
            <a:r>
              <a:rPr lang="en-GB" sz="2000" b="1" dirty="0"/>
              <a:t> {</a:t>
            </a:r>
            <a:r>
              <a:rPr lang="en-GB" sz="2000" dirty="0"/>
              <a:t>sound</a:t>
            </a:r>
            <a:r>
              <a:rPr lang="en-GB" sz="2000" b="1" dirty="0"/>
              <a:t>}</a:t>
            </a:r>
            <a:r>
              <a:rPr lang="en-GB" sz="2000" b="1" dirty="0">
                <a:solidFill>
                  <a:srgbClr val="008281"/>
                </a:solidFill>
              </a:rPr>
              <a:t>'</a:t>
            </a:r>
            <a:br>
              <a:rPr lang="en-GB" sz="2000" b="1" dirty="0"/>
            </a:b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__str__ </a:t>
            </a:r>
            <a:r>
              <a:rPr lang="en-GB" sz="2000" dirty="0"/>
              <a:t>(self):</a:t>
            </a:r>
            <a:br>
              <a:rPr lang="en-GB" sz="2000" dirty="0"/>
            </a:br>
            <a:r>
              <a:rPr lang="en-GB" sz="2000" dirty="0"/>
              <a:t>        </a:t>
            </a:r>
            <a:r>
              <a:rPr lang="en-GB" sz="2000" b="1" dirty="0">
                <a:solidFill>
                  <a:srgbClr val="0C0086"/>
                </a:solidFill>
              </a:rPr>
              <a:t>return</a:t>
            </a:r>
            <a:r>
              <a:rPr lang="en-GB" sz="2000" b="1" dirty="0"/>
              <a:t> </a:t>
            </a:r>
            <a:r>
              <a:rPr lang="en-GB" sz="2000" b="1" dirty="0" err="1">
                <a:solidFill>
                  <a:srgbClr val="008281"/>
                </a:solidFill>
              </a:rPr>
              <a:t>f'the</a:t>
            </a:r>
            <a:r>
              <a:rPr lang="en-GB" sz="2000" b="1" dirty="0">
                <a:solidFill>
                  <a:srgbClr val="008281"/>
                </a:solidFill>
              </a:rPr>
              <a:t> Dog name is:</a:t>
            </a:r>
            <a:r>
              <a:rPr lang="en-GB" sz="2000" b="1" dirty="0"/>
              <a:t> {</a:t>
            </a:r>
            <a:r>
              <a:rPr lang="en-GB" sz="2000" dirty="0" err="1">
                <a:solidFill>
                  <a:srgbClr val="9E4F90"/>
                </a:solidFill>
              </a:rPr>
              <a:t>self</a:t>
            </a:r>
            <a:r>
              <a:rPr lang="en-GB" sz="2000" dirty="0" err="1"/>
              <a:t>.name</a:t>
            </a:r>
            <a:r>
              <a:rPr lang="en-GB" sz="2000" b="1" dirty="0"/>
              <a:t>} </a:t>
            </a:r>
            <a:r>
              <a:rPr lang="en-GB" sz="2000" b="1" dirty="0">
                <a:solidFill>
                  <a:srgbClr val="008281"/>
                </a:solidFill>
              </a:rPr>
              <a:t>and he is: </a:t>
            </a:r>
            <a:r>
              <a:rPr lang="en-GB" sz="2000" b="1" dirty="0"/>
              <a:t>{</a:t>
            </a:r>
            <a:r>
              <a:rPr lang="en-GB" sz="2000" dirty="0" err="1">
                <a:solidFill>
                  <a:srgbClr val="9E4F90"/>
                </a:solidFill>
              </a:rPr>
              <a:t>self</a:t>
            </a:r>
            <a:r>
              <a:rPr lang="en-GB" sz="2000" dirty="0" err="1"/>
              <a:t>.age</a:t>
            </a:r>
            <a:r>
              <a:rPr lang="en-GB" sz="2000" b="1" dirty="0"/>
              <a:t>} </a:t>
            </a:r>
            <a:r>
              <a:rPr lang="en-GB" sz="2000" b="1" dirty="0">
                <a:solidFill>
                  <a:srgbClr val="008281"/>
                </a:solidFill>
              </a:rPr>
              <a:t>years old'</a:t>
            </a:r>
            <a:endParaRPr lang="en-US" sz="2000" dirty="0">
              <a:solidFill>
                <a:srgbClr val="008281"/>
              </a:solidFill>
            </a:endParaRPr>
          </a:p>
        </p:txBody>
      </p:sp>
      <p:sp>
        <p:nvSpPr>
          <p:cNvPr id="6" name="TextBox 5">
            <a:extLst>
              <a:ext uri="{FF2B5EF4-FFF2-40B4-BE49-F238E27FC236}">
                <a16:creationId xmlns:a16="http://schemas.microsoft.com/office/drawing/2014/main" id="{AD618EFE-13BC-8F46-A405-C8B2C8DE10BA}"/>
              </a:ext>
            </a:extLst>
          </p:cNvPr>
          <p:cNvSpPr txBox="1"/>
          <p:nvPr/>
        </p:nvSpPr>
        <p:spPr>
          <a:xfrm>
            <a:off x="368244" y="5008154"/>
            <a:ext cx="2206438" cy="923330"/>
          </a:xfrm>
          <a:prstGeom prst="rect">
            <a:avLst/>
          </a:prstGeom>
          <a:noFill/>
        </p:spPr>
        <p:txBody>
          <a:bodyPr wrap="none" rtlCol="0">
            <a:spAutoFit/>
          </a:bodyPr>
          <a:lstStyle/>
          <a:p>
            <a:r>
              <a:rPr lang="en-GB" u="sng" dirty="0"/>
              <a:t>string representation </a:t>
            </a:r>
          </a:p>
          <a:p>
            <a:r>
              <a:rPr lang="en-GB" u="sng" dirty="0"/>
              <a:t>of object</a:t>
            </a:r>
          </a:p>
          <a:p>
            <a:endParaRPr lang="en-US" dirty="0"/>
          </a:p>
        </p:txBody>
      </p:sp>
      <p:cxnSp>
        <p:nvCxnSpPr>
          <p:cNvPr id="8" name="Straight Arrow Connector 7">
            <a:extLst>
              <a:ext uri="{FF2B5EF4-FFF2-40B4-BE49-F238E27FC236}">
                <a16:creationId xmlns:a16="http://schemas.microsoft.com/office/drawing/2014/main" id="{E50D8968-7128-6A40-8A1B-7F13B6D3535A}"/>
              </a:ext>
            </a:extLst>
          </p:cNvPr>
          <p:cNvCxnSpPr>
            <a:cxnSpLocks/>
          </p:cNvCxnSpPr>
          <p:nvPr/>
        </p:nvCxnSpPr>
        <p:spPr>
          <a:xfrm>
            <a:off x="2027554" y="5316079"/>
            <a:ext cx="1261078" cy="4269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9D743112-3F06-1F08-2C85-5C49F3D6F9C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635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C37897C9-7451-8A4F-9684-B02D30DF8636}"/>
              </a:ext>
            </a:extLst>
          </p:cNvPr>
          <p:cNvGraphicFramePr>
            <a:graphicFrameLocks noGrp="1"/>
          </p:cNvGraphicFramePr>
          <p:nvPr>
            <p:extLst>
              <p:ext uri="{D42A27DB-BD31-4B8C-83A1-F6EECF244321}">
                <p14:modId xmlns:p14="http://schemas.microsoft.com/office/powerpoint/2010/main" val="1591773978"/>
              </p:ext>
            </p:extLst>
          </p:nvPr>
        </p:nvGraphicFramePr>
        <p:xfrm>
          <a:off x="1683083" y="1690687"/>
          <a:ext cx="8744285" cy="5016758"/>
        </p:xfrm>
        <a:graphic>
          <a:graphicData uri="http://schemas.openxmlformats.org/drawingml/2006/table">
            <a:tbl>
              <a:tblPr firstRow="1" bandRow="1">
                <a:tableStyleId>{5C22544A-7EE6-4342-B048-85BDC9FD1C3A}</a:tableStyleId>
              </a:tblPr>
              <a:tblGrid>
                <a:gridCol w="8744285">
                  <a:extLst>
                    <a:ext uri="{9D8B030D-6E8A-4147-A177-3AD203B41FA5}">
                      <a16:colId xmlns:a16="http://schemas.microsoft.com/office/drawing/2014/main" val="381975002"/>
                    </a:ext>
                  </a:extLst>
                </a:gridCol>
              </a:tblGrid>
              <a:tr h="501675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C45D2EA3-7DAD-D84D-BAEA-08066A4DDD70}"/>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Hiding Data Fields</a:t>
            </a:r>
            <a:endParaRPr 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E3266BF-5B42-F94C-B367-0D352176DC80}"/>
              </a:ext>
            </a:extLst>
          </p:cNvPr>
          <p:cNvSpPr txBox="1"/>
          <p:nvPr/>
        </p:nvSpPr>
        <p:spPr>
          <a:xfrm>
            <a:off x="2106960" y="1680909"/>
            <a:ext cx="8320408" cy="5016758"/>
          </a:xfrm>
          <a:prstGeom prst="rect">
            <a:avLst/>
          </a:prstGeom>
          <a:noFill/>
        </p:spPr>
        <p:txBody>
          <a:bodyPr wrap="square" rtlCol="0">
            <a:spAutoFit/>
          </a:bodyPr>
          <a:lstStyle/>
          <a:p>
            <a:r>
              <a:rPr lang="en-GB" sz="2000" b="1" dirty="0">
                <a:solidFill>
                  <a:srgbClr val="0C0086"/>
                </a:solidFill>
              </a:rPr>
              <a:t>class</a:t>
            </a:r>
            <a:r>
              <a:rPr lang="en-GB" sz="2000" b="1" dirty="0"/>
              <a:t> </a:t>
            </a:r>
            <a:r>
              <a:rPr lang="en-GB" sz="2000" dirty="0"/>
              <a:t>Dog:</a:t>
            </a:r>
            <a:br>
              <a:rPr lang="en-GB" sz="2000" dirty="0"/>
            </a:br>
            <a:br>
              <a:rPr lang="en-GB" sz="2000" dirty="0"/>
            </a:br>
            <a:r>
              <a:rPr lang="en-GB" sz="2000" dirty="0"/>
              <a:t>    species = </a:t>
            </a:r>
            <a:r>
              <a:rPr lang="en-GB" sz="2000" b="1" dirty="0">
                <a:solidFill>
                  <a:srgbClr val="008281"/>
                </a:solidFill>
              </a:rPr>
              <a:t>"Canis"</a:t>
            </a:r>
            <a:br>
              <a:rPr lang="en-GB" sz="2000" b="1" dirty="0"/>
            </a:b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a:t>
            </a:r>
            <a:r>
              <a:rPr lang="en-GB" sz="2000" dirty="0" err="1">
                <a:solidFill>
                  <a:srgbClr val="C300B8"/>
                </a:solidFill>
              </a:rPr>
              <a:t>init</a:t>
            </a:r>
            <a:r>
              <a:rPr lang="en-GB" sz="2000" dirty="0">
                <a:solidFill>
                  <a:srgbClr val="C300B8"/>
                </a:solidFill>
              </a:rPr>
              <a:t>__(</a:t>
            </a:r>
            <a:r>
              <a:rPr lang="en-GB" sz="2000" dirty="0">
                <a:solidFill>
                  <a:srgbClr val="9E4F90"/>
                </a:solidFill>
              </a:rPr>
              <a:t>self</a:t>
            </a:r>
            <a:r>
              <a:rPr lang="en-GB" sz="2000" dirty="0"/>
              <a:t>, name, age):</a:t>
            </a:r>
            <a:br>
              <a:rPr lang="en-GB" sz="2000" dirty="0"/>
            </a:br>
            <a:r>
              <a:rPr lang="en-GB" sz="2000" dirty="0"/>
              <a:t>        </a:t>
            </a:r>
            <a:r>
              <a:rPr lang="en-GB" sz="2000" dirty="0" err="1">
                <a:solidFill>
                  <a:srgbClr val="9E4F90"/>
                </a:solidFill>
              </a:rPr>
              <a:t>self</a:t>
            </a:r>
            <a:r>
              <a:rPr lang="en-GB" sz="2000" dirty="0" err="1"/>
              <a:t>.__name</a:t>
            </a:r>
            <a:r>
              <a:rPr lang="en-GB" sz="2000" dirty="0"/>
              <a:t> = name</a:t>
            </a:r>
            <a:br>
              <a:rPr lang="en-GB" sz="2000" dirty="0"/>
            </a:br>
            <a:r>
              <a:rPr lang="en-GB" sz="2000" dirty="0"/>
              <a:t>        </a:t>
            </a:r>
            <a:r>
              <a:rPr lang="en-GB" sz="2000" dirty="0" err="1">
                <a:solidFill>
                  <a:srgbClr val="9E4F90"/>
                </a:solidFill>
              </a:rPr>
              <a:t>self</a:t>
            </a:r>
            <a:r>
              <a:rPr lang="en-GB" sz="2000" dirty="0" err="1"/>
              <a:t>.age</a:t>
            </a:r>
            <a:r>
              <a:rPr lang="en-GB" sz="2000" dirty="0"/>
              <a:t> =age</a:t>
            </a:r>
            <a:br>
              <a:rPr lang="en-GB" sz="2000" dirty="0"/>
            </a:br>
            <a:br>
              <a:rPr lang="en-GB" sz="2000" dirty="0"/>
            </a:br>
            <a:r>
              <a:rPr lang="en-GB" sz="2000" dirty="0"/>
              <a:t>    </a:t>
            </a:r>
            <a:r>
              <a:rPr lang="en-GB" sz="2000" b="1" dirty="0">
                <a:solidFill>
                  <a:srgbClr val="0C0086"/>
                </a:solidFill>
              </a:rPr>
              <a:t>def</a:t>
            </a:r>
            <a:r>
              <a:rPr lang="en-GB" sz="2000" b="1" dirty="0"/>
              <a:t> </a:t>
            </a:r>
            <a:r>
              <a:rPr lang="en-GB" sz="2000" dirty="0" err="1"/>
              <a:t>get_name</a:t>
            </a:r>
            <a:r>
              <a:rPr lang="en-GB" sz="2000" dirty="0"/>
              <a:t>(</a:t>
            </a:r>
            <a:r>
              <a:rPr lang="en-GB" sz="2000" dirty="0">
                <a:solidFill>
                  <a:srgbClr val="9E4F90"/>
                </a:solidFill>
              </a:rPr>
              <a:t>self</a:t>
            </a:r>
            <a:r>
              <a:rPr lang="en-GB" sz="2000" dirty="0"/>
              <a:t>):</a:t>
            </a:r>
            <a:br>
              <a:rPr lang="en-GB" sz="2000" dirty="0"/>
            </a:br>
            <a:r>
              <a:rPr lang="en-GB" sz="2000" dirty="0"/>
              <a:t>        </a:t>
            </a:r>
            <a:r>
              <a:rPr lang="en-GB" sz="2000" b="1" dirty="0">
                <a:solidFill>
                  <a:srgbClr val="0C0086"/>
                </a:solidFill>
              </a:rPr>
              <a:t>return</a:t>
            </a:r>
            <a:r>
              <a:rPr lang="en-GB" sz="2000" b="1" dirty="0"/>
              <a:t> </a:t>
            </a:r>
            <a:r>
              <a:rPr lang="en-GB" sz="2000" dirty="0" err="1">
                <a:solidFill>
                  <a:srgbClr val="9E4F90"/>
                </a:solidFill>
              </a:rPr>
              <a:t>self</a:t>
            </a:r>
            <a:r>
              <a:rPr lang="en-GB" sz="2000" dirty="0" err="1"/>
              <a:t>.__name</a:t>
            </a:r>
            <a:br>
              <a:rPr lang="en-GB" sz="2000" dirty="0"/>
            </a:br>
            <a:br>
              <a:rPr lang="en-GB" sz="2000" dirty="0"/>
            </a:br>
            <a:r>
              <a:rPr lang="en-GB" sz="2000" dirty="0"/>
              <a:t>    </a:t>
            </a:r>
            <a:r>
              <a:rPr lang="en-GB" sz="2000" b="1" dirty="0">
                <a:solidFill>
                  <a:srgbClr val="0C0086"/>
                </a:solidFill>
              </a:rPr>
              <a:t>def</a:t>
            </a:r>
            <a:r>
              <a:rPr lang="en-GB" sz="2000" b="1" dirty="0"/>
              <a:t> </a:t>
            </a:r>
            <a:r>
              <a:rPr lang="en-GB" sz="2000" dirty="0"/>
              <a:t>bark(</a:t>
            </a:r>
            <a:r>
              <a:rPr lang="en-GB" sz="2000" dirty="0">
                <a:solidFill>
                  <a:srgbClr val="9E4F90"/>
                </a:solidFill>
              </a:rPr>
              <a:t>self</a:t>
            </a:r>
            <a:r>
              <a:rPr lang="en-GB" sz="2000" dirty="0"/>
              <a:t>, sound):</a:t>
            </a:r>
            <a:br>
              <a:rPr lang="en-GB" sz="2000" dirty="0"/>
            </a:br>
            <a:r>
              <a:rPr lang="en-GB" sz="2000" dirty="0"/>
              <a:t>        </a:t>
            </a:r>
            <a:r>
              <a:rPr lang="en-GB" sz="2000" b="1" dirty="0">
                <a:solidFill>
                  <a:srgbClr val="0C0086"/>
                </a:solidFill>
              </a:rPr>
              <a:t>return</a:t>
            </a:r>
            <a:r>
              <a:rPr lang="en-GB" sz="2000" b="1" dirty="0"/>
              <a:t> </a:t>
            </a:r>
            <a:r>
              <a:rPr lang="en-GB" sz="2000" b="1" dirty="0">
                <a:solidFill>
                  <a:srgbClr val="008281"/>
                </a:solidFill>
              </a:rPr>
              <a:t>f' bark: </a:t>
            </a:r>
            <a:r>
              <a:rPr lang="en-GB" sz="2000" b="1" dirty="0"/>
              <a:t>{</a:t>
            </a:r>
            <a:r>
              <a:rPr lang="en-GB" sz="2000" dirty="0"/>
              <a:t>sound</a:t>
            </a:r>
            <a:r>
              <a:rPr lang="en-GB" sz="2000" b="1" dirty="0"/>
              <a:t>}</a:t>
            </a:r>
            <a:r>
              <a:rPr lang="en-GB" sz="2000" b="1" dirty="0">
                <a:solidFill>
                  <a:srgbClr val="008281"/>
                </a:solidFill>
              </a:rPr>
              <a:t>'</a:t>
            </a:r>
            <a:br>
              <a:rPr lang="en-GB" sz="2000" b="1" dirty="0"/>
            </a:br>
            <a:br>
              <a:rPr lang="en-GB" sz="2000" b="1" dirty="0"/>
            </a:br>
            <a:r>
              <a:rPr lang="en-GB" sz="2000" b="1" dirty="0"/>
              <a:t>    </a:t>
            </a:r>
            <a:r>
              <a:rPr lang="en-GB" sz="2000" b="1" dirty="0">
                <a:solidFill>
                  <a:srgbClr val="0C0086"/>
                </a:solidFill>
              </a:rPr>
              <a:t>def</a:t>
            </a:r>
            <a:r>
              <a:rPr lang="en-GB" sz="2000" b="1" dirty="0"/>
              <a:t> </a:t>
            </a:r>
            <a:r>
              <a:rPr lang="en-GB" sz="2000" dirty="0">
                <a:solidFill>
                  <a:srgbClr val="C300B8"/>
                </a:solidFill>
              </a:rPr>
              <a:t>__str__(</a:t>
            </a:r>
            <a:r>
              <a:rPr lang="en-GB" sz="2000" dirty="0">
                <a:solidFill>
                  <a:srgbClr val="9E4F90"/>
                </a:solidFill>
              </a:rPr>
              <a:t>self</a:t>
            </a:r>
            <a:r>
              <a:rPr lang="en-GB" sz="2000" dirty="0"/>
              <a:t>):</a:t>
            </a:r>
            <a:br>
              <a:rPr lang="en-GB" sz="2000" dirty="0"/>
            </a:br>
            <a:r>
              <a:rPr lang="en-GB" sz="2000" dirty="0"/>
              <a:t>        </a:t>
            </a:r>
            <a:r>
              <a:rPr lang="en-GB" sz="2000" b="1" dirty="0">
                <a:solidFill>
                  <a:srgbClr val="0C0086"/>
                </a:solidFill>
              </a:rPr>
              <a:t>return</a:t>
            </a:r>
            <a:r>
              <a:rPr lang="en-GB" sz="2000" b="1" dirty="0"/>
              <a:t> </a:t>
            </a:r>
            <a:r>
              <a:rPr lang="en-GB" sz="2000" b="1" dirty="0" err="1">
                <a:solidFill>
                  <a:srgbClr val="008281"/>
                </a:solidFill>
              </a:rPr>
              <a:t>f'the</a:t>
            </a:r>
            <a:r>
              <a:rPr lang="en-GB" sz="2000" b="1" dirty="0">
                <a:solidFill>
                  <a:srgbClr val="008281"/>
                </a:solidFill>
              </a:rPr>
              <a:t> Dog name is: </a:t>
            </a:r>
            <a:r>
              <a:rPr lang="en-GB" sz="2000" b="1" dirty="0"/>
              <a:t>{</a:t>
            </a:r>
            <a:r>
              <a:rPr lang="en-GB" sz="2000" dirty="0" err="1">
                <a:solidFill>
                  <a:srgbClr val="9E4F90"/>
                </a:solidFill>
              </a:rPr>
              <a:t>self</a:t>
            </a:r>
            <a:r>
              <a:rPr lang="en-GB" sz="2000" dirty="0" err="1"/>
              <a:t>.__name</a:t>
            </a:r>
            <a:r>
              <a:rPr lang="en-GB" sz="2000" b="1" dirty="0"/>
              <a:t>}</a:t>
            </a:r>
            <a:r>
              <a:rPr lang="en-GB" sz="2000" b="1" dirty="0">
                <a:solidFill>
                  <a:srgbClr val="008281"/>
                </a:solidFill>
              </a:rPr>
              <a:t> and he is:</a:t>
            </a:r>
            <a:r>
              <a:rPr lang="en-GB" sz="2000" b="1" dirty="0"/>
              <a:t> {</a:t>
            </a:r>
            <a:r>
              <a:rPr lang="en-GB" sz="2000" dirty="0" err="1">
                <a:solidFill>
                  <a:srgbClr val="9E4F90"/>
                </a:solidFill>
              </a:rPr>
              <a:t>self</a:t>
            </a:r>
            <a:r>
              <a:rPr lang="en-GB" sz="2000" dirty="0" err="1"/>
              <a:t>.age</a:t>
            </a:r>
            <a:r>
              <a:rPr lang="en-GB" sz="2000" b="1" dirty="0"/>
              <a:t>} </a:t>
            </a:r>
            <a:r>
              <a:rPr lang="en-GB" sz="2000" b="1" dirty="0">
                <a:solidFill>
                  <a:srgbClr val="008281"/>
                </a:solidFill>
              </a:rPr>
              <a:t>years old'</a:t>
            </a:r>
            <a:endParaRPr lang="en-US" sz="2000" dirty="0">
              <a:solidFill>
                <a:srgbClr val="008281"/>
              </a:solidFill>
            </a:endParaRPr>
          </a:p>
        </p:txBody>
      </p:sp>
      <p:sp>
        <p:nvSpPr>
          <p:cNvPr id="6" name="TextBox 5">
            <a:extLst>
              <a:ext uri="{FF2B5EF4-FFF2-40B4-BE49-F238E27FC236}">
                <a16:creationId xmlns:a16="http://schemas.microsoft.com/office/drawing/2014/main" id="{ECC55C7E-5B1C-F748-9D05-4F0624544658}"/>
              </a:ext>
            </a:extLst>
          </p:cNvPr>
          <p:cNvSpPr txBox="1"/>
          <p:nvPr/>
        </p:nvSpPr>
        <p:spPr>
          <a:xfrm>
            <a:off x="372419" y="2782669"/>
            <a:ext cx="1311769" cy="646331"/>
          </a:xfrm>
          <a:prstGeom prst="rect">
            <a:avLst/>
          </a:prstGeom>
          <a:noFill/>
        </p:spPr>
        <p:txBody>
          <a:bodyPr wrap="none" rtlCol="0">
            <a:spAutoFit/>
          </a:bodyPr>
          <a:lstStyle/>
          <a:p>
            <a:r>
              <a:rPr lang="en-US" u="sng" dirty="0"/>
              <a:t>private date</a:t>
            </a:r>
          </a:p>
          <a:p>
            <a:r>
              <a:rPr lang="en-US" u="sng" dirty="0"/>
              <a:t> fields</a:t>
            </a:r>
          </a:p>
        </p:txBody>
      </p:sp>
      <p:cxnSp>
        <p:nvCxnSpPr>
          <p:cNvPr id="8" name="Straight Arrow Connector 7">
            <a:extLst>
              <a:ext uri="{FF2B5EF4-FFF2-40B4-BE49-F238E27FC236}">
                <a16:creationId xmlns:a16="http://schemas.microsoft.com/office/drawing/2014/main" id="{F231F34C-35BC-7A44-B94D-6798769835B8}"/>
              </a:ext>
            </a:extLst>
          </p:cNvPr>
          <p:cNvCxnSpPr>
            <a:cxnSpLocks/>
          </p:cNvCxnSpPr>
          <p:nvPr/>
        </p:nvCxnSpPr>
        <p:spPr>
          <a:xfrm>
            <a:off x="1427747" y="3112168"/>
            <a:ext cx="1620253" cy="270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783A629-EBCB-A048-B466-CAA2FB139C9B}"/>
              </a:ext>
            </a:extLst>
          </p:cNvPr>
          <p:cNvSpPr txBox="1"/>
          <p:nvPr/>
        </p:nvSpPr>
        <p:spPr>
          <a:xfrm>
            <a:off x="387077" y="3887978"/>
            <a:ext cx="1040670" cy="646331"/>
          </a:xfrm>
          <a:prstGeom prst="rect">
            <a:avLst/>
          </a:prstGeom>
          <a:noFill/>
        </p:spPr>
        <p:txBody>
          <a:bodyPr wrap="none" rtlCol="0">
            <a:spAutoFit/>
          </a:bodyPr>
          <a:lstStyle/>
          <a:p>
            <a:r>
              <a:rPr lang="en-US" u="sng" dirty="0"/>
              <a:t>accessor </a:t>
            </a:r>
          </a:p>
          <a:p>
            <a:r>
              <a:rPr lang="en-US" u="sng" dirty="0"/>
              <a:t>method</a:t>
            </a:r>
          </a:p>
        </p:txBody>
      </p:sp>
      <p:cxnSp>
        <p:nvCxnSpPr>
          <p:cNvPr id="11" name="Straight Arrow Connector 10">
            <a:extLst>
              <a:ext uri="{FF2B5EF4-FFF2-40B4-BE49-F238E27FC236}">
                <a16:creationId xmlns:a16="http://schemas.microsoft.com/office/drawing/2014/main" id="{B68A9899-5FF9-0041-94E9-E1AF9AA02251}"/>
              </a:ext>
            </a:extLst>
          </p:cNvPr>
          <p:cNvCxnSpPr>
            <a:cxnSpLocks/>
          </p:cNvCxnSpPr>
          <p:nvPr/>
        </p:nvCxnSpPr>
        <p:spPr>
          <a:xfrm>
            <a:off x="1314687" y="4199066"/>
            <a:ext cx="1733313" cy="1483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2B18A95-B2A9-0844-B9E5-A4585A6EACFE}"/>
              </a:ext>
            </a:extLst>
          </p:cNvPr>
          <p:cNvSpPr txBox="1"/>
          <p:nvPr/>
        </p:nvSpPr>
        <p:spPr>
          <a:xfrm>
            <a:off x="907412" y="1315011"/>
            <a:ext cx="7533216" cy="646331"/>
          </a:xfrm>
          <a:prstGeom prst="rect">
            <a:avLst/>
          </a:prstGeom>
          <a:noFill/>
        </p:spPr>
        <p:txBody>
          <a:bodyPr wrap="none" rtlCol="0">
            <a:spAutoFit/>
          </a:bodyPr>
          <a:lstStyle/>
          <a:p>
            <a:r>
              <a:rPr lang="en-GB" dirty="0"/>
              <a:t> Making data fields private protects data and makes the class easy to maintain.</a:t>
            </a:r>
          </a:p>
          <a:p>
            <a:endParaRPr lang="en-US" dirty="0"/>
          </a:p>
        </p:txBody>
      </p:sp>
      <p:cxnSp>
        <p:nvCxnSpPr>
          <p:cNvPr id="3" name="Straight Connector 2">
            <a:extLst>
              <a:ext uri="{FF2B5EF4-FFF2-40B4-BE49-F238E27FC236}">
                <a16:creationId xmlns:a16="http://schemas.microsoft.com/office/drawing/2014/main" id="{3B911A1D-24FE-29D8-BBD3-1E3D952032FA}"/>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727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94AC-0A93-E64F-863D-098802F10029}"/>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Activity</a:t>
            </a:r>
            <a:endParaRPr lang="en-US" dirty="0"/>
          </a:p>
        </p:txBody>
      </p:sp>
      <p:pic>
        <p:nvPicPr>
          <p:cNvPr id="6" name="Graphic 5" descr="Car">
            <a:extLst>
              <a:ext uri="{FF2B5EF4-FFF2-40B4-BE49-F238E27FC236}">
                <a16:creationId xmlns:a16="http://schemas.microsoft.com/office/drawing/2014/main" id="{3B8A8AE9-996A-4B4A-92AB-F36A483F78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8449" y="3514166"/>
            <a:ext cx="914400" cy="914400"/>
          </a:xfrm>
          <a:prstGeom prst="rect">
            <a:avLst/>
          </a:prstGeom>
        </p:spPr>
      </p:pic>
      <p:pic>
        <p:nvPicPr>
          <p:cNvPr id="8" name="Graphic 7" descr="Car">
            <a:extLst>
              <a:ext uri="{FF2B5EF4-FFF2-40B4-BE49-F238E27FC236}">
                <a16:creationId xmlns:a16="http://schemas.microsoft.com/office/drawing/2014/main" id="{784F78AF-E6BB-9746-B80D-781E9084C3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66766" y="3550462"/>
            <a:ext cx="914400" cy="914400"/>
          </a:xfrm>
          <a:prstGeom prst="rect">
            <a:avLst/>
          </a:prstGeom>
        </p:spPr>
      </p:pic>
      <p:pic>
        <p:nvPicPr>
          <p:cNvPr id="9" name="Graphic 8" descr="Car">
            <a:extLst>
              <a:ext uri="{FF2B5EF4-FFF2-40B4-BE49-F238E27FC236}">
                <a16:creationId xmlns:a16="http://schemas.microsoft.com/office/drawing/2014/main" id="{0723DFF8-5AC5-7A46-8184-5F7A8B1EA2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11862" y="3514166"/>
            <a:ext cx="914400" cy="914400"/>
          </a:xfrm>
          <a:prstGeom prst="rect">
            <a:avLst/>
          </a:prstGeom>
        </p:spPr>
      </p:pic>
      <p:pic>
        <p:nvPicPr>
          <p:cNvPr id="10" name="Graphic 9" descr="Car">
            <a:extLst>
              <a:ext uri="{FF2B5EF4-FFF2-40B4-BE49-F238E27FC236}">
                <a16:creationId xmlns:a16="http://schemas.microsoft.com/office/drawing/2014/main" id="{FF0696DD-2A1A-AE4E-98F1-2F58E39181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46544" y="3487271"/>
            <a:ext cx="914400" cy="914400"/>
          </a:xfrm>
          <a:prstGeom prst="rect">
            <a:avLst/>
          </a:prstGeom>
        </p:spPr>
      </p:pic>
      <p:sp>
        <p:nvSpPr>
          <p:cNvPr id="11" name="TextBox 10">
            <a:extLst>
              <a:ext uri="{FF2B5EF4-FFF2-40B4-BE49-F238E27FC236}">
                <a16:creationId xmlns:a16="http://schemas.microsoft.com/office/drawing/2014/main" id="{48BDD44F-0D1A-4941-8D20-FD6E9C7F8460}"/>
              </a:ext>
            </a:extLst>
          </p:cNvPr>
          <p:cNvSpPr txBox="1"/>
          <p:nvPr/>
        </p:nvSpPr>
        <p:spPr>
          <a:xfrm>
            <a:off x="1104860" y="3971366"/>
            <a:ext cx="1394613" cy="646331"/>
          </a:xfrm>
          <a:prstGeom prst="rect">
            <a:avLst/>
          </a:prstGeom>
          <a:noFill/>
        </p:spPr>
        <p:txBody>
          <a:bodyPr wrap="none" rtlCol="0">
            <a:spAutoFit/>
          </a:bodyPr>
          <a:lstStyle/>
          <a:p>
            <a:r>
              <a:rPr lang="en-US" dirty="0"/>
              <a:t>Class:</a:t>
            </a:r>
          </a:p>
          <a:p>
            <a:r>
              <a:rPr lang="en-US" dirty="0"/>
              <a:t>	car</a:t>
            </a:r>
          </a:p>
        </p:txBody>
      </p:sp>
      <p:sp>
        <p:nvSpPr>
          <p:cNvPr id="12" name="TextBox 11">
            <a:extLst>
              <a:ext uri="{FF2B5EF4-FFF2-40B4-BE49-F238E27FC236}">
                <a16:creationId xmlns:a16="http://schemas.microsoft.com/office/drawing/2014/main" id="{A165C9B7-5284-E641-8A13-3719A2F5EDD1}"/>
              </a:ext>
            </a:extLst>
          </p:cNvPr>
          <p:cNvSpPr txBox="1"/>
          <p:nvPr/>
        </p:nvSpPr>
        <p:spPr>
          <a:xfrm>
            <a:off x="4453555" y="3854390"/>
            <a:ext cx="1537600" cy="646331"/>
          </a:xfrm>
          <a:prstGeom prst="rect">
            <a:avLst/>
          </a:prstGeom>
          <a:noFill/>
        </p:spPr>
        <p:txBody>
          <a:bodyPr wrap="none" rtlCol="0">
            <a:spAutoFit/>
          </a:bodyPr>
          <a:lstStyle/>
          <a:p>
            <a:r>
              <a:rPr lang="en-US" dirty="0"/>
              <a:t>Object:</a:t>
            </a:r>
          </a:p>
          <a:p>
            <a:r>
              <a:rPr lang="en-US" dirty="0"/>
              <a:t>	Audi</a:t>
            </a:r>
          </a:p>
        </p:txBody>
      </p:sp>
      <p:sp>
        <p:nvSpPr>
          <p:cNvPr id="13" name="TextBox 12">
            <a:extLst>
              <a:ext uri="{FF2B5EF4-FFF2-40B4-BE49-F238E27FC236}">
                <a16:creationId xmlns:a16="http://schemas.microsoft.com/office/drawing/2014/main" id="{96543375-C7F3-C545-AC22-3268F68F8093}"/>
              </a:ext>
            </a:extLst>
          </p:cNvPr>
          <p:cNvSpPr txBox="1"/>
          <p:nvPr/>
        </p:nvSpPr>
        <p:spPr>
          <a:xfrm>
            <a:off x="6753490" y="3818531"/>
            <a:ext cx="1628394" cy="646331"/>
          </a:xfrm>
          <a:prstGeom prst="rect">
            <a:avLst/>
          </a:prstGeom>
          <a:noFill/>
        </p:spPr>
        <p:txBody>
          <a:bodyPr wrap="none" rtlCol="0">
            <a:spAutoFit/>
          </a:bodyPr>
          <a:lstStyle/>
          <a:p>
            <a:r>
              <a:rPr lang="en-US" dirty="0"/>
              <a:t>Object:</a:t>
            </a:r>
          </a:p>
          <a:p>
            <a:r>
              <a:rPr lang="en-US" dirty="0"/>
              <a:t>	Volvo</a:t>
            </a:r>
          </a:p>
        </p:txBody>
      </p:sp>
      <p:sp>
        <p:nvSpPr>
          <p:cNvPr id="14" name="TextBox 13">
            <a:extLst>
              <a:ext uri="{FF2B5EF4-FFF2-40B4-BE49-F238E27FC236}">
                <a16:creationId xmlns:a16="http://schemas.microsoft.com/office/drawing/2014/main" id="{46DB8586-7ACB-9B47-BCE9-DA2B569AA1D1}"/>
              </a:ext>
            </a:extLst>
          </p:cNvPr>
          <p:cNvSpPr txBox="1"/>
          <p:nvPr/>
        </p:nvSpPr>
        <p:spPr>
          <a:xfrm>
            <a:off x="9232347" y="3818531"/>
            <a:ext cx="1628394" cy="646331"/>
          </a:xfrm>
          <a:prstGeom prst="rect">
            <a:avLst/>
          </a:prstGeom>
          <a:noFill/>
        </p:spPr>
        <p:txBody>
          <a:bodyPr wrap="none" rtlCol="0">
            <a:spAutoFit/>
          </a:bodyPr>
          <a:lstStyle/>
          <a:p>
            <a:r>
              <a:rPr lang="en-US" dirty="0"/>
              <a:t>Object:</a:t>
            </a:r>
          </a:p>
          <a:p>
            <a:r>
              <a:rPr lang="en-US" dirty="0"/>
              <a:t>	Volvo</a:t>
            </a:r>
          </a:p>
        </p:txBody>
      </p:sp>
      <p:sp>
        <p:nvSpPr>
          <p:cNvPr id="15" name="TextBox 14">
            <a:extLst>
              <a:ext uri="{FF2B5EF4-FFF2-40B4-BE49-F238E27FC236}">
                <a16:creationId xmlns:a16="http://schemas.microsoft.com/office/drawing/2014/main" id="{D26326CF-D252-D543-853C-D7C57E169D64}"/>
              </a:ext>
            </a:extLst>
          </p:cNvPr>
          <p:cNvSpPr txBox="1"/>
          <p:nvPr/>
        </p:nvSpPr>
        <p:spPr>
          <a:xfrm>
            <a:off x="709291" y="1655543"/>
            <a:ext cx="10029349" cy="830997"/>
          </a:xfrm>
          <a:prstGeom prst="rect">
            <a:avLst/>
          </a:prstGeom>
          <a:noFill/>
        </p:spPr>
        <p:txBody>
          <a:bodyPr wrap="none" rtlCol="0">
            <a:spAutoFit/>
          </a:bodyPr>
          <a:lstStyle/>
          <a:p>
            <a:r>
              <a:rPr lang="en-US" sz="2400" dirty="0"/>
              <a:t>Create a Class of a Car as the UML diagram below and three object of the class.</a:t>
            </a:r>
          </a:p>
          <a:p>
            <a:r>
              <a:rPr lang="en-US" sz="2400" dirty="0"/>
              <a:t> </a:t>
            </a:r>
          </a:p>
        </p:txBody>
      </p:sp>
      <p:pic>
        <p:nvPicPr>
          <p:cNvPr id="16" name="Picture 15">
            <a:extLst>
              <a:ext uri="{FF2B5EF4-FFF2-40B4-BE49-F238E27FC236}">
                <a16:creationId xmlns:a16="http://schemas.microsoft.com/office/drawing/2014/main" id="{EAD15C9C-6AA9-2943-8D3F-CB71F743A831}"/>
              </a:ext>
            </a:extLst>
          </p:cNvPr>
          <p:cNvPicPr>
            <a:picLocks noChangeAspect="1"/>
          </p:cNvPicPr>
          <p:nvPr/>
        </p:nvPicPr>
        <p:blipFill>
          <a:blip r:embed="rId10"/>
          <a:stretch>
            <a:fillRect/>
          </a:stretch>
        </p:blipFill>
        <p:spPr>
          <a:xfrm>
            <a:off x="1211740" y="2308740"/>
            <a:ext cx="1587500" cy="1270000"/>
          </a:xfrm>
          <a:prstGeom prst="rect">
            <a:avLst/>
          </a:prstGeom>
        </p:spPr>
      </p:pic>
      <p:sp>
        <p:nvSpPr>
          <p:cNvPr id="17" name="TextBox 16">
            <a:extLst>
              <a:ext uri="{FF2B5EF4-FFF2-40B4-BE49-F238E27FC236}">
                <a16:creationId xmlns:a16="http://schemas.microsoft.com/office/drawing/2014/main" id="{C459BEA4-E54D-2F44-A034-2C44E90C7032}"/>
              </a:ext>
            </a:extLst>
          </p:cNvPr>
          <p:cNvSpPr txBox="1"/>
          <p:nvPr/>
        </p:nvSpPr>
        <p:spPr>
          <a:xfrm>
            <a:off x="258664" y="5513378"/>
            <a:ext cx="11674671" cy="369332"/>
          </a:xfrm>
          <a:prstGeom prst="rect">
            <a:avLst/>
          </a:prstGeom>
          <a:noFill/>
        </p:spPr>
        <p:txBody>
          <a:bodyPr wrap="none" rtlCol="0">
            <a:spAutoFit/>
          </a:bodyPr>
          <a:lstStyle/>
          <a:p>
            <a:r>
              <a:rPr lang="en-US" dirty="0"/>
              <a:t>Change the make year, model, and fuel type into private attributes and create accessor methods to be able to get the data   </a:t>
            </a:r>
          </a:p>
        </p:txBody>
      </p:sp>
      <p:cxnSp>
        <p:nvCxnSpPr>
          <p:cNvPr id="3" name="Straight Connector 2">
            <a:extLst>
              <a:ext uri="{FF2B5EF4-FFF2-40B4-BE49-F238E27FC236}">
                <a16:creationId xmlns:a16="http://schemas.microsoft.com/office/drawing/2014/main" id="{6FE8948C-E654-67C0-5B23-2C6031A42DEE}"/>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378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9287-93E2-3F42-9D82-A554629CB529}"/>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Underscores in Python</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11E0C9-D390-644D-8332-EA84F5597A5F}"/>
              </a:ext>
            </a:extLst>
          </p:cNvPr>
          <p:cNvSpPr>
            <a:spLocks noGrp="1"/>
          </p:cNvSpPr>
          <p:nvPr>
            <p:ph idx="1"/>
          </p:nvPr>
        </p:nvSpPr>
        <p:spPr/>
        <p:txBody>
          <a:bodyPr/>
          <a:lstStyle/>
          <a:p>
            <a:r>
              <a:rPr lang="en-GB" dirty="0"/>
              <a:t>Double underscores (“</a:t>
            </a:r>
            <a:r>
              <a:rPr lang="en-GB" b="1" dirty="0" err="1"/>
              <a:t>dunder</a:t>
            </a:r>
            <a:r>
              <a:rPr lang="en-GB" dirty="0"/>
              <a:t>”)</a:t>
            </a:r>
          </a:p>
          <a:p>
            <a:r>
              <a:rPr lang="en-GB" dirty="0"/>
              <a:t>Single Leading Underscore: _var </a:t>
            </a:r>
            <a:r>
              <a:rPr lang="en-GB" sz="1800" dirty="0"/>
              <a:t>(naming preferences for variables, in functions however it would not allow import such function from the method )</a:t>
            </a:r>
          </a:p>
          <a:p>
            <a:r>
              <a:rPr lang="en-GB" dirty="0"/>
              <a:t>Single Trailing Underscore: var_ </a:t>
            </a:r>
            <a:r>
              <a:rPr lang="en-GB" sz="2000" dirty="0"/>
              <a:t>(to break the naming conflict: in a variable is already defined)</a:t>
            </a:r>
          </a:p>
          <a:p>
            <a:r>
              <a:rPr lang="en-GB" dirty="0"/>
              <a:t>Double Leading Underscore: __var </a:t>
            </a:r>
            <a:r>
              <a:rPr lang="en-GB" sz="1800" dirty="0"/>
              <a:t>(create  private data field)</a:t>
            </a:r>
          </a:p>
          <a:p>
            <a:r>
              <a:rPr lang="en-GB" dirty="0"/>
              <a:t>Double Leading and Trailing Underscore: __var__</a:t>
            </a:r>
          </a:p>
          <a:p>
            <a:endParaRPr lang="en-US" dirty="0"/>
          </a:p>
        </p:txBody>
      </p:sp>
      <p:cxnSp>
        <p:nvCxnSpPr>
          <p:cNvPr id="4" name="Straight Connector 3">
            <a:extLst>
              <a:ext uri="{FF2B5EF4-FFF2-40B4-BE49-F238E27FC236}">
                <a16:creationId xmlns:a16="http://schemas.microsoft.com/office/drawing/2014/main" id="{B94C775C-F1F5-4CAC-AE4C-44AE203159D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226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AA74-ADF1-4D4F-B766-5CB83A726B4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Inheritance:</a:t>
            </a:r>
          </a:p>
        </p:txBody>
      </p:sp>
      <p:sp>
        <p:nvSpPr>
          <p:cNvPr id="3" name="Content Placeholder 2">
            <a:extLst>
              <a:ext uri="{FF2B5EF4-FFF2-40B4-BE49-F238E27FC236}">
                <a16:creationId xmlns:a16="http://schemas.microsoft.com/office/drawing/2014/main" id="{A4DE65DF-24CF-F740-9C9B-A504D0307688}"/>
              </a:ext>
            </a:extLst>
          </p:cNvPr>
          <p:cNvSpPr>
            <a:spLocks noGrp="1"/>
          </p:cNvSpPr>
          <p:nvPr>
            <p:ph idx="1"/>
          </p:nvPr>
        </p:nvSpPr>
        <p:spPr/>
        <p:txBody>
          <a:bodyPr>
            <a:normAutofit/>
          </a:bodyPr>
          <a:lstStyle/>
          <a:p>
            <a:r>
              <a:rPr lang="en-GB" sz="2400" dirty="0"/>
              <a:t> Object-oriented programming (OOP) allows you to define new classes from existing classes.</a:t>
            </a:r>
          </a:p>
          <a:p>
            <a:r>
              <a:rPr lang="en-GB" sz="2400" dirty="0"/>
              <a:t> </a:t>
            </a:r>
            <a:r>
              <a:rPr lang="en-GB" sz="2400" b="1" dirty="0"/>
              <a:t>Inheritance</a:t>
            </a:r>
            <a:r>
              <a:rPr lang="en-GB" sz="2400" dirty="0"/>
              <a:t> enables you to define a general class (</a:t>
            </a:r>
            <a:r>
              <a:rPr lang="en-GB" sz="2400" b="1" dirty="0"/>
              <a:t>a superclass</a:t>
            </a:r>
            <a:r>
              <a:rPr lang="en-GB" sz="2400" dirty="0"/>
              <a:t>) and later extend it to more specialized classes (</a:t>
            </a:r>
            <a:r>
              <a:rPr lang="en-GB" sz="2400" b="1" dirty="0"/>
              <a:t>subclasses</a:t>
            </a:r>
            <a:r>
              <a:rPr lang="en-GB" sz="2400" dirty="0"/>
              <a:t>).</a:t>
            </a:r>
          </a:p>
          <a:p>
            <a:r>
              <a:rPr lang="en-GB" sz="2400" u="sng" dirty="0"/>
              <a:t> A subclass </a:t>
            </a:r>
            <a:r>
              <a:rPr lang="en-GB" sz="2400" i="1" u="sng" dirty="0"/>
              <a:t>inherits</a:t>
            </a:r>
            <a:r>
              <a:rPr lang="en-GB" sz="2400" u="sng" dirty="0"/>
              <a:t> accessible </a:t>
            </a:r>
            <a:r>
              <a:rPr lang="en-GB" sz="2400" i="1" u="sng" dirty="0"/>
              <a:t>data fields </a:t>
            </a:r>
            <a:r>
              <a:rPr lang="en-GB" sz="2400" u="sng" dirty="0"/>
              <a:t>and </a:t>
            </a:r>
            <a:r>
              <a:rPr lang="en-GB" sz="2400" i="1" u="sng" dirty="0"/>
              <a:t>methods</a:t>
            </a:r>
            <a:r>
              <a:rPr lang="en-GB" sz="2400" u="sng" dirty="0"/>
              <a:t> </a:t>
            </a:r>
            <a:r>
              <a:rPr lang="en-GB" sz="2400" dirty="0"/>
              <a:t>from its superclass, but it can also have other data fields and methods. </a:t>
            </a:r>
          </a:p>
          <a:p>
            <a:endParaRPr lang="en-GB" sz="2400" dirty="0"/>
          </a:p>
          <a:p>
            <a:endParaRPr lang="en-US" sz="2400" dirty="0"/>
          </a:p>
        </p:txBody>
      </p:sp>
      <p:cxnSp>
        <p:nvCxnSpPr>
          <p:cNvPr id="4" name="Straight Connector 3">
            <a:extLst>
              <a:ext uri="{FF2B5EF4-FFF2-40B4-BE49-F238E27FC236}">
                <a16:creationId xmlns:a16="http://schemas.microsoft.com/office/drawing/2014/main" id="{480524F3-1A1A-7378-0A74-CEE3FBC38A1A}"/>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544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565C-7019-4249-B76D-E531654F8CE4}"/>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Example of Inheritance</a:t>
            </a:r>
          </a:p>
        </p:txBody>
      </p:sp>
      <p:pic>
        <p:nvPicPr>
          <p:cNvPr id="5" name="Content Placeholder 4" descr="Diagram&#10;&#10;Description automatically generated">
            <a:extLst>
              <a:ext uri="{FF2B5EF4-FFF2-40B4-BE49-F238E27FC236}">
                <a16:creationId xmlns:a16="http://schemas.microsoft.com/office/drawing/2014/main" id="{20811A6D-DD88-334F-9C85-B5226896886B}"/>
              </a:ext>
            </a:extLst>
          </p:cNvPr>
          <p:cNvPicPr>
            <a:picLocks noGrp="1" noChangeAspect="1"/>
          </p:cNvPicPr>
          <p:nvPr>
            <p:ph idx="1"/>
          </p:nvPr>
        </p:nvPicPr>
        <p:blipFill>
          <a:blip r:embed="rId2"/>
          <a:stretch>
            <a:fillRect/>
          </a:stretch>
        </p:blipFill>
        <p:spPr>
          <a:xfrm>
            <a:off x="979715" y="1960377"/>
            <a:ext cx="3038403" cy="2885045"/>
          </a:xfrm>
        </p:spPr>
      </p:pic>
      <p:pic>
        <p:nvPicPr>
          <p:cNvPr id="7" name="Picture 6" descr="Diagram&#10;&#10;Description automatically generated">
            <a:extLst>
              <a:ext uri="{FF2B5EF4-FFF2-40B4-BE49-F238E27FC236}">
                <a16:creationId xmlns:a16="http://schemas.microsoft.com/office/drawing/2014/main" id="{5822B95C-807B-E942-BFD4-FBC0DF67C2FE}"/>
              </a:ext>
            </a:extLst>
          </p:cNvPr>
          <p:cNvPicPr>
            <a:picLocks noChangeAspect="1"/>
          </p:cNvPicPr>
          <p:nvPr/>
        </p:nvPicPr>
        <p:blipFill>
          <a:blip r:embed="rId3"/>
          <a:stretch>
            <a:fillRect/>
          </a:stretch>
        </p:blipFill>
        <p:spPr>
          <a:xfrm>
            <a:off x="7613224" y="2299732"/>
            <a:ext cx="4288971" cy="3243095"/>
          </a:xfrm>
          <a:prstGeom prst="rect">
            <a:avLst/>
          </a:prstGeom>
        </p:spPr>
      </p:pic>
      <p:sp>
        <p:nvSpPr>
          <p:cNvPr id="8" name="TextBox 7">
            <a:extLst>
              <a:ext uri="{FF2B5EF4-FFF2-40B4-BE49-F238E27FC236}">
                <a16:creationId xmlns:a16="http://schemas.microsoft.com/office/drawing/2014/main" id="{6FEF6305-E25A-AF40-A606-EA46626E747A}"/>
              </a:ext>
            </a:extLst>
          </p:cNvPr>
          <p:cNvSpPr txBox="1"/>
          <p:nvPr/>
        </p:nvSpPr>
        <p:spPr>
          <a:xfrm>
            <a:off x="561949" y="2200646"/>
            <a:ext cx="1147109" cy="369332"/>
          </a:xfrm>
          <a:prstGeom prst="rect">
            <a:avLst/>
          </a:prstGeom>
          <a:noFill/>
        </p:spPr>
        <p:txBody>
          <a:bodyPr wrap="none" rtlCol="0">
            <a:spAutoFit/>
          </a:bodyPr>
          <a:lstStyle/>
          <a:p>
            <a:r>
              <a:rPr lang="en-US" dirty="0">
                <a:solidFill>
                  <a:schemeClr val="bg1">
                    <a:lumMod val="50000"/>
                  </a:schemeClr>
                </a:solidFill>
              </a:rPr>
              <a:t>Example 1</a:t>
            </a:r>
          </a:p>
        </p:txBody>
      </p:sp>
      <p:sp>
        <p:nvSpPr>
          <p:cNvPr id="9" name="TextBox 8">
            <a:extLst>
              <a:ext uri="{FF2B5EF4-FFF2-40B4-BE49-F238E27FC236}">
                <a16:creationId xmlns:a16="http://schemas.microsoft.com/office/drawing/2014/main" id="{37FFE63C-EBE8-6044-BDE5-FA71E46D2299}"/>
              </a:ext>
            </a:extLst>
          </p:cNvPr>
          <p:cNvSpPr txBox="1"/>
          <p:nvPr/>
        </p:nvSpPr>
        <p:spPr>
          <a:xfrm>
            <a:off x="7600329" y="2195121"/>
            <a:ext cx="1147109" cy="369332"/>
          </a:xfrm>
          <a:prstGeom prst="rect">
            <a:avLst/>
          </a:prstGeom>
          <a:noFill/>
        </p:spPr>
        <p:txBody>
          <a:bodyPr wrap="none" rtlCol="0">
            <a:spAutoFit/>
          </a:bodyPr>
          <a:lstStyle/>
          <a:p>
            <a:r>
              <a:rPr lang="en-US" dirty="0">
                <a:solidFill>
                  <a:schemeClr val="bg1">
                    <a:lumMod val="50000"/>
                  </a:schemeClr>
                </a:solidFill>
              </a:rPr>
              <a:t>Example 2</a:t>
            </a:r>
          </a:p>
        </p:txBody>
      </p:sp>
      <p:sp>
        <p:nvSpPr>
          <p:cNvPr id="10" name="TextBox 9">
            <a:extLst>
              <a:ext uri="{FF2B5EF4-FFF2-40B4-BE49-F238E27FC236}">
                <a16:creationId xmlns:a16="http://schemas.microsoft.com/office/drawing/2014/main" id="{0A265B6D-7464-7848-ADE0-700C186B4657}"/>
              </a:ext>
            </a:extLst>
          </p:cNvPr>
          <p:cNvSpPr txBox="1"/>
          <p:nvPr/>
        </p:nvSpPr>
        <p:spPr>
          <a:xfrm>
            <a:off x="7820330" y="6119712"/>
            <a:ext cx="4360489" cy="830997"/>
          </a:xfrm>
          <a:prstGeom prst="rect">
            <a:avLst/>
          </a:prstGeom>
          <a:noFill/>
        </p:spPr>
        <p:txBody>
          <a:bodyPr wrap="none" rtlCol="0">
            <a:spAutoFit/>
          </a:bodyPr>
          <a:lstStyle/>
          <a:p>
            <a:r>
              <a:rPr lang="en-GB" sz="2400" dirty="0">
                <a:solidFill>
                  <a:srgbClr val="0A007A"/>
                </a:solidFill>
                <a:latin typeface="Arial" panose="020B0604020202020204" pitchFamily="34" charset="0"/>
                <a:cs typeface="Arial" panose="020B0604020202020204" pitchFamily="34" charset="0"/>
              </a:rPr>
              <a:t>class</a:t>
            </a:r>
            <a:r>
              <a:rPr lang="en-GB" sz="2400" dirty="0">
                <a:latin typeface="Arial" panose="020B0604020202020204" pitchFamily="34" charset="0"/>
                <a:cs typeface="Arial" panose="020B0604020202020204" pitchFamily="34" charset="0"/>
              </a:rPr>
              <a:t> Circle(</a:t>
            </a:r>
            <a:r>
              <a:rPr lang="en-GB" sz="2400" dirty="0" err="1">
                <a:latin typeface="Arial" panose="020B0604020202020204" pitchFamily="34" charset="0"/>
                <a:cs typeface="Arial" panose="020B0604020202020204" pitchFamily="34" charset="0"/>
              </a:rPr>
              <a:t>GeometricObject</a:t>
            </a:r>
            <a:r>
              <a:rPr lang="en-GB"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48417BA-DF3C-B64F-8C86-40191C9F5C13}"/>
              </a:ext>
            </a:extLst>
          </p:cNvPr>
          <p:cNvSpPr txBox="1"/>
          <p:nvPr/>
        </p:nvSpPr>
        <p:spPr>
          <a:xfrm>
            <a:off x="507851" y="6077376"/>
            <a:ext cx="3396640" cy="830997"/>
          </a:xfrm>
          <a:prstGeom prst="rect">
            <a:avLst/>
          </a:prstGeom>
          <a:noFill/>
        </p:spPr>
        <p:txBody>
          <a:bodyPr wrap="square" rtlCol="0">
            <a:spAutoFit/>
          </a:bodyPr>
          <a:lstStyle/>
          <a:p>
            <a:r>
              <a:rPr lang="en-GB" sz="2400" dirty="0">
                <a:solidFill>
                  <a:srgbClr val="0A007A"/>
                </a:solidFill>
                <a:latin typeface="Arial" panose="020B0604020202020204" pitchFamily="34" charset="0"/>
                <a:cs typeface="Arial" panose="020B0604020202020204" pitchFamily="34" charset="0"/>
              </a:rPr>
              <a:t>class</a:t>
            </a:r>
            <a:r>
              <a:rPr lang="en-GB" sz="2400" dirty="0">
                <a:latin typeface="Arial" panose="020B0604020202020204" pitchFamily="34" charset="0"/>
                <a:cs typeface="Arial" panose="020B0604020202020204" pitchFamily="34" charset="0"/>
              </a:rPr>
              <a:t> Dog(Animal):</a:t>
            </a:r>
          </a:p>
          <a:p>
            <a:endParaRPr lang="en-US" sz="2400" dirty="0">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A43AEB7E-AF87-5A41-95C8-12E53F50D9AD}"/>
              </a:ext>
            </a:extLst>
          </p:cNvPr>
          <p:cNvSpPr/>
          <p:nvPr/>
        </p:nvSpPr>
        <p:spPr>
          <a:xfrm>
            <a:off x="689427" y="5428359"/>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subclass</a:t>
            </a:r>
            <a:endParaRPr lang="en-US" dirty="0"/>
          </a:p>
        </p:txBody>
      </p:sp>
      <p:sp>
        <p:nvSpPr>
          <p:cNvPr id="15" name="Rounded Rectangle 14">
            <a:extLst>
              <a:ext uri="{FF2B5EF4-FFF2-40B4-BE49-F238E27FC236}">
                <a16:creationId xmlns:a16="http://schemas.microsoft.com/office/drawing/2014/main" id="{CA19833E-D466-EE47-9321-9E5B19BEDBB3}"/>
              </a:ext>
            </a:extLst>
          </p:cNvPr>
          <p:cNvSpPr/>
          <p:nvPr/>
        </p:nvSpPr>
        <p:spPr>
          <a:xfrm>
            <a:off x="2498916" y="5442634"/>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superclass</a:t>
            </a:r>
            <a:endParaRPr lang="en-US" dirty="0"/>
          </a:p>
        </p:txBody>
      </p:sp>
      <p:cxnSp>
        <p:nvCxnSpPr>
          <p:cNvPr id="17" name="Straight Arrow Connector 16">
            <a:extLst>
              <a:ext uri="{FF2B5EF4-FFF2-40B4-BE49-F238E27FC236}">
                <a16:creationId xmlns:a16="http://schemas.microsoft.com/office/drawing/2014/main" id="{577B6FB2-F2A0-D84B-8A42-206DF122BD97}"/>
              </a:ext>
            </a:extLst>
          </p:cNvPr>
          <p:cNvCxnSpPr>
            <a:cxnSpLocks/>
            <a:stCxn id="14" idx="2"/>
          </p:cNvCxnSpPr>
          <p:nvPr/>
        </p:nvCxnSpPr>
        <p:spPr>
          <a:xfrm>
            <a:off x="1345475" y="5797691"/>
            <a:ext cx="238893" cy="39351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1" name="Straight Arrow Connector 20">
            <a:extLst>
              <a:ext uri="{FF2B5EF4-FFF2-40B4-BE49-F238E27FC236}">
                <a16:creationId xmlns:a16="http://schemas.microsoft.com/office/drawing/2014/main" id="{6AFF29EC-ECF5-D240-88B3-A501D00BF161}"/>
              </a:ext>
            </a:extLst>
          </p:cNvPr>
          <p:cNvCxnSpPr>
            <a:cxnSpLocks/>
          </p:cNvCxnSpPr>
          <p:nvPr/>
        </p:nvCxnSpPr>
        <p:spPr>
          <a:xfrm flipH="1">
            <a:off x="2624983" y="5811966"/>
            <a:ext cx="364960" cy="37923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4" name="Rounded Rectangle 23">
            <a:extLst>
              <a:ext uri="{FF2B5EF4-FFF2-40B4-BE49-F238E27FC236}">
                <a16:creationId xmlns:a16="http://schemas.microsoft.com/office/drawing/2014/main" id="{3E12F019-78FF-E747-8DF5-7999FE2F9544}"/>
              </a:ext>
            </a:extLst>
          </p:cNvPr>
          <p:cNvSpPr/>
          <p:nvPr/>
        </p:nvSpPr>
        <p:spPr>
          <a:xfrm>
            <a:off x="4182258" y="2580013"/>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superclass</a:t>
            </a:r>
            <a:endParaRPr lang="en-US" dirty="0"/>
          </a:p>
        </p:txBody>
      </p:sp>
      <p:sp>
        <p:nvSpPr>
          <p:cNvPr id="25" name="Rounded Rectangle 24">
            <a:extLst>
              <a:ext uri="{FF2B5EF4-FFF2-40B4-BE49-F238E27FC236}">
                <a16:creationId xmlns:a16="http://schemas.microsoft.com/office/drawing/2014/main" id="{3F4CA6F8-329E-3B4A-90F5-BE39B19A247D}"/>
              </a:ext>
            </a:extLst>
          </p:cNvPr>
          <p:cNvSpPr/>
          <p:nvPr/>
        </p:nvSpPr>
        <p:spPr>
          <a:xfrm>
            <a:off x="4218613" y="3971535"/>
            <a:ext cx="1312095" cy="36933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dirty="0"/>
              <a:t>subclass</a:t>
            </a:r>
            <a:endParaRPr lang="en-US" dirty="0"/>
          </a:p>
        </p:txBody>
      </p:sp>
      <p:sp>
        <p:nvSpPr>
          <p:cNvPr id="28" name="Right Brace 27">
            <a:extLst>
              <a:ext uri="{FF2B5EF4-FFF2-40B4-BE49-F238E27FC236}">
                <a16:creationId xmlns:a16="http://schemas.microsoft.com/office/drawing/2014/main" id="{0F734FA8-502D-3549-9DB5-6CB4A1A24B07}"/>
              </a:ext>
            </a:extLst>
          </p:cNvPr>
          <p:cNvSpPr/>
          <p:nvPr/>
        </p:nvSpPr>
        <p:spPr>
          <a:xfrm>
            <a:off x="3904491" y="2200646"/>
            <a:ext cx="113627" cy="1202253"/>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D15696F4-E997-BE46-A7F9-85A3268980F6}"/>
              </a:ext>
            </a:extLst>
          </p:cNvPr>
          <p:cNvSpPr/>
          <p:nvPr/>
        </p:nvSpPr>
        <p:spPr>
          <a:xfrm>
            <a:off x="3975516" y="3763305"/>
            <a:ext cx="45719" cy="785792"/>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E406637-C4F5-F141-AD15-721951EEFB25}"/>
              </a:ext>
            </a:extLst>
          </p:cNvPr>
          <p:cNvSpPr txBox="1"/>
          <p:nvPr/>
        </p:nvSpPr>
        <p:spPr>
          <a:xfrm>
            <a:off x="7820330" y="6535210"/>
            <a:ext cx="1601721" cy="584775"/>
          </a:xfrm>
          <a:prstGeom prst="rect">
            <a:avLst/>
          </a:prstGeom>
          <a:noFill/>
        </p:spPr>
        <p:txBody>
          <a:bodyPr wrap="none" rtlCol="0">
            <a:spAutoFit/>
          </a:bodyPr>
          <a:lstStyle/>
          <a:p>
            <a:r>
              <a:rPr lang="en-US" sz="1600" dirty="0">
                <a:solidFill>
                  <a:schemeClr val="bg1">
                    <a:lumMod val="50000"/>
                  </a:schemeClr>
                </a:solidFill>
              </a:rPr>
              <a:t>Liang book p.401</a:t>
            </a:r>
          </a:p>
          <a:p>
            <a:endParaRPr lang="en-US" sz="1600" dirty="0"/>
          </a:p>
        </p:txBody>
      </p:sp>
      <p:cxnSp>
        <p:nvCxnSpPr>
          <p:cNvPr id="3" name="Straight Connector 2">
            <a:extLst>
              <a:ext uri="{FF2B5EF4-FFF2-40B4-BE49-F238E27FC236}">
                <a16:creationId xmlns:a16="http://schemas.microsoft.com/office/drawing/2014/main" id="{CE7C08C8-20D0-A6EB-CDFF-72AD827EB75F}"/>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509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30B9-9D79-B64E-84EF-1FC1FF5390F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superclass and subclass constructor</a:t>
            </a:r>
          </a:p>
        </p:txBody>
      </p:sp>
      <p:graphicFrame>
        <p:nvGraphicFramePr>
          <p:cNvPr id="5" name="Table 7">
            <a:extLst>
              <a:ext uri="{FF2B5EF4-FFF2-40B4-BE49-F238E27FC236}">
                <a16:creationId xmlns:a16="http://schemas.microsoft.com/office/drawing/2014/main" id="{9E43CDCF-BDD8-B14F-B4D4-57A9DB278F08}"/>
              </a:ext>
            </a:extLst>
          </p:cNvPr>
          <p:cNvGraphicFramePr>
            <a:graphicFrameLocks noGrp="1"/>
          </p:cNvGraphicFramePr>
          <p:nvPr/>
        </p:nvGraphicFramePr>
        <p:xfrm>
          <a:off x="6096000" y="2760326"/>
          <a:ext cx="5658474" cy="1767808"/>
        </p:xfrm>
        <a:graphic>
          <a:graphicData uri="http://schemas.openxmlformats.org/drawingml/2006/table">
            <a:tbl>
              <a:tblPr firstRow="1" bandRow="1">
                <a:tableStyleId>{5C22544A-7EE6-4342-B048-85BDC9FD1C3A}</a:tableStyleId>
              </a:tblPr>
              <a:tblGrid>
                <a:gridCol w="5658474">
                  <a:extLst>
                    <a:ext uri="{9D8B030D-6E8A-4147-A177-3AD203B41FA5}">
                      <a16:colId xmlns:a16="http://schemas.microsoft.com/office/drawing/2014/main" val="381975002"/>
                    </a:ext>
                  </a:extLst>
                </a:gridCol>
              </a:tblGrid>
              <a:tr h="176780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6" name="TextBox 5">
            <a:extLst>
              <a:ext uri="{FF2B5EF4-FFF2-40B4-BE49-F238E27FC236}">
                <a16:creationId xmlns:a16="http://schemas.microsoft.com/office/drawing/2014/main" id="{606F89B8-DF07-FA42-970F-A98F6C0E0CCD}"/>
              </a:ext>
            </a:extLst>
          </p:cNvPr>
          <p:cNvSpPr txBox="1"/>
          <p:nvPr/>
        </p:nvSpPr>
        <p:spPr>
          <a:xfrm>
            <a:off x="6112611" y="2760326"/>
            <a:ext cx="6115673" cy="1938992"/>
          </a:xfrm>
          <a:prstGeom prst="rect">
            <a:avLst/>
          </a:prstGeom>
          <a:noFill/>
        </p:spPr>
        <p:txBody>
          <a:bodyPr wrap="square" rtlCol="0">
            <a:spAutoFit/>
          </a:bodyPr>
          <a:lstStyle/>
          <a:p>
            <a:r>
              <a:rPr lang="en-GB" sz="2400" b="1" dirty="0">
                <a:solidFill>
                  <a:srgbClr val="0A007A"/>
                </a:solidFill>
                <a:latin typeface="Arial" panose="020B0604020202020204" pitchFamily="34" charset="0"/>
                <a:cs typeface="Arial" panose="020B0604020202020204" pitchFamily="34" charset="0"/>
              </a:rPr>
              <a:t>class</a:t>
            </a:r>
            <a:r>
              <a:rPr lang="en-GB" sz="2400" dirty="0">
                <a:latin typeface="Arial" panose="020B0604020202020204" pitchFamily="34" charset="0"/>
                <a:cs typeface="Arial" panose="020B0604020202020204" pitchFamily="34" charset="0"/>
              </a:rPr>
              <a:t> Dog(Animal):</a:t>
            </a:r>
          </a:p>
          <a:p>
            <a:r>
              <a:rPr lang="en-GB" sz="2400" b="1" dirty="0">
                <a:latin typeface="Arial" panose="020B0604020202020204" pitchFamily="34" charset="0"/>
                <a:cs typeface="Arial" panose="020B0604020202020204" pitchFamily="34" charset="0"/>
              </a:rPr>
              <a:t>       </a:t>
            </a:r>
            <a:r>
              <a:rPr lang="en-GB" sz="2400" b="1" dirty="0">
                <a:solidFill>
                  <a:srgbClr val="0A007A"/>
                </a:solidFill>
                <a:latin typeface="Arial" panose="020B0604020202020204" pitchFamily="34" charset="0"/>
                <a:cs typeface="Arial" panose="020B0604020202020204" pitchFamily="34" charset="0"/>
              </a:rPr>
              <a:t>def</a:t>
            </a:r>
            <a:r>
              <a:rPr lang="en-GB" sz="2400" b="1" dirty="0">
                <a:latin typeface="Arial" panose="020B0604020202020204" pitchFamily="34" charset="0"/>
                <a:cs typeface="Arial" panose="020B0604020202020204" pitchFamily="34" charset="0"/>
              </a:rPr>
              <a:t> </a:t>
            </a:r>
            <a:r>
              <a:rPr lang="en-GB" sz="2400" dirty="0">
                <a:solidFill>
                  <a:srgbClr val="C300B8"/>
                </a:solidFill>
                <a:latin typeface="Arial" panose="020B0604020202020204" pitchFamily="34" charset="0"/>
                <a:cs typeface="Arial" panose="020B0604020202020204" pitchFamily="34" charset="0"/>
              </a:rPr>
              <a:t>__</a:t>
            </a:r>
            <a:r>
              <a:rPr lang="en-GB" sz="2400" dirty="0" err="1">
                <a:solidFill>
                  <a:srgbClr val="C300B8"/>
                </a:solidFill>
                <a:latin typeface="Arial" panose="020B0604020202020204" pitchFamily="34" charset="0"/>
                <a:cs typeface="Arial" panose="020B0604020202020204" pitchFamily="34" charset="0"/>
              </a:rPr>
              <a:t>init</a:t>
            </a:r>
            <a:r>
              <a:rPr lang="en-GB" sz="2400" dirty="0">
                <a:solidFill>
                  <a:srgbClr val="C300B8"/>
                </a:solidFill>
                <a:latin typeface="Arial" panose="020B0604020202020204" pitchFamily="34" charset="0"/>
                <a:cs typeface="Arial" panose="020B0604020202020204" pitchFamily="34" charset="0"/>
              </a:rPr>
              <a:t>__</a:t>
            </a:r>
            <a:r>
              <a:rPr lang="en-GB" sz="2400" dirty="0">
                <a:latin typeface="Arial" panose="020B0604020202020204" pitchFamily="34" charset="0"/>
                <a:cs typeface="Arial" panose="020B0604020202020204" pitchFamily="34" charset="0"/>
              </a:rPr>
              <a:t>(</a:t>
            </a:r>
            <a:r>
              <a:rPr lang="en-GB" sz="2400" dirty="0">
                <a:solidFill>
                  <a:srgbClr val="9E4F90"/>
                </a:solidFill>
                <a:latin typeface="Arial" panose="020B0604020202020204" pitchFamily="34" charset="0"/>
                <a:cs typeface="Arial" panose="020B0604020202020204" pitchFamily="34" charset="0"/>
              </a:rPr>
              <a:t>self</a:t>
            </a:r>
            <a:r>
              <a:rPr lang="en-GB" sz="2400" dirty="0">
                <a:latin typeface="Arial" panose="020B0604020202020204" pitchFamily="34" charset="0"/>
                <a:cs typeface="Arial" panose="020B0604020202020204" pitchFamily="34" charset="0"/>
              </a:rPr>
              <a:t>, name, age), id:</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super</a:t>
            </a:r>
            <a:r>
              <a:rPr lang="en-GB" sz="2400" dirty="0">
                <a:latin typeface="Arial" panose="020B0604020202020204" pitchFamily="34" charset="0"/>
                <a:cs typeface="Arial" panose="020B0604020202020204" pitchFamily="34" charset="0"/>
              </a:rPr>
              <a:t>().</a:t>
            </a:r>
            <a:r>
              <a:rPr lang="en-GB" sz="2400" dirty="0">
                <a:solidFill>
                  <a:srgbClr val="C300B8"/>
                </a:solidFill>
                <a:latin typeface="Arial" panose="020B0604020202020204" pitchFamily="34" charset="0"/>
                <a:cs typeface="Arial" panose="020B0604020202020204" pitchFamily="34" charset="0"/>
              </a:rPr>
              <a:t>__</a:t>
            </a:r>
            <a:r>
              <a:rPr lang="en-GB" sz="2400" dirty="0" err="1">
                <a:solidFill>
                  <a:srgbClr val="C300B8"/>
                </a:solidFill>
                <a:latin typeface="Arial" panose="020B0604020202020204" pitchFamily="34" charset="0"/>
                <a:cs typeface="Arial" panose="020B0604020202020204" pitchFamily="34" charset="0"/>
              </a:rPr>
              <a:t>init</a:t>
            </a:r>
            <a:r>
              <a:rPr lang="en-GB" sz="2400" dirty="0">
                <a:solidFill>
                  <a:srgbClr val="C300B8"/>
                </a:solidFill>
                <a:latin typeface="Arial" panose="020B0604020202020204" pitchFamily="34" charset="0"/>
                <a:cs typeface="Arial" panose="020B0604020202020204" pitchFamily="34" charset="0"/>
              </a:rPr>
              <a:t>__(</a:t>
            </a:r>
            <a:r>
              <a:rPr lang="en-GB" sz="2400" dirty="0">
                <a:latin typeface="Arial" panose="020B0604020202020204" pitchFamily="34" charset="0"/>
                <a:cs typeface="Arial" panose="020B0604020202020204" pitchFamily="34" charset="0"/>
              </a:rPr>
              <a:t>name, age)</a:t>
            </a:r>
          </a:p>
          <a:p>
            <a:r>
              <a:rPr lang="en-GB" sz="2400" dirty="0">
                <a:solidFill>
                  <a:srgbClr val="9E4F90"/>
                </a:solidFill>
              </a:rPr>
              <a:t>                  </a:t>
            </a:r>
            <a:r>
              <a:rPr lang="en-GB" sz="2400" dirty="0" err="1">
                <a:solidFill>
                  <a:srgbClr val="9E4F90"/>
                </a:solidFill>
              </a:rPr>
              <a:t>self</a:t>
            </a:r>
            <a:r>
              <a:rPr lang="en-GB" sz="2400" dirty="0" err="1"/>
              <a:t>.__id</a:t>
            </a:r>
            <a:r>
              <a:rPr lang="en-GB" sz="2400" dirty="0"/>
              <a:t> = id</a:t>
            </a:r>
            <a:r>
              <a:rPr lang="en-GB" sz="2400" dirty="0">
                <a:latin typeface="Arial" panose="020B0604020202020204" pitchFamily="34" charset="0"/>
                <a:cs typeface="Arial" panose="020B0604020202020204" pitchFamily="34" charset="0"/>
              </a:rPr>
              <a:t> </a:t>
            </a:r>
          </a:p>
          <a:p>
            <a:endParaRPr lang="en-US" sz="2400"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D8E19370-87A9-D246-A50A-C0812FCF788D}"/>
              </a:ext>
            </a:extLst>
          </p:cNvPr>
          <p:cNvGraphicFramePr>
            <a:graphicFrameLocks noGrp="1"/>
          </p:cNvGraphicFramePr>
          <p:nvPr/>
        </p:nvGraphicFramePr>
        <p:xfrm>
          <a:off x="437526" y="2646096"/>
          <a:ext cx="4816645" cy="2114590"/>
        </p:xfrm>
        <a:graphic>
          <a:graphicData uri="http://schemas.openxmlformats.org/drawingml/2006/table">
            <a:tbl>
              <a:tblPr firstRow="1" bandRow="1">
                <a:tableStyleId>{5C22544A-7EE6-4342-B048-85BDC9FD1C3A}</a:tableStyleId>
              </a:tblPr>
              <a:tblGrid>
                <a:gridCol w="4816645">
                  <a:extLst>
                    <a:ext uri="{9D8B030D-6E8A-4147-A177-3AD203B41FA5}">
                      <a16:colId xmlns:a16="http://schemas.microsoft.com/office/drawing/2014/main" val="381975002"/>
                    </a:ext>
                  </a:extLst>
                </a:gridCol>
              </a:tblGrid>
              <a:tr h="2114590">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7" name="Rectangle 6">
            <a:extLst>
              <a:ext uri="{FF2B5EF4-FFF2-40B4-BE49-F238E27FC236}">
                <a16:creationId xmlns:a16="http://schemas.microsoft.com/office/drawing/2014/main" id="{7E8BCE19-29B7-9847-AC0B-E7E2159B5C28}"/>
              </a:ext>
            </a:extLst>
          </p:cNvPr>
          <p:cNvSpPr/>
          <p:nvPr/>
        </p:nvSpPr>
        <p:spPr>
          <a:xfrm>
            <a:off x="437526" y="2644169"/>
            <a:ext cx="6096000" cy="1938992"/>
          </a:xfrm>
          <a:prstGeom prst="rect">
            <a:avLst/>
          </a:prstGeom>
        </p:spPr>
        <p:txBody>
          <a:bodyPr>
            <a:spAutoFit/>
          </a:bodyPr>
          <a:lstStyle/>
          <a:p>
            <a:r>
              <a:rPr lang="en-GB" sz="2400" b="1" dirty="0">
                <a:solidFill>
                  <a:srgbClr val="0A007A"/>
                </a:solidFill>
              </a:rPr>
              <a:t>class</a:t>
            </a:r>
            <a:r>
              <a:rPr lang="en-GB" sz="2400" b="1" dirty="0"/>
              <a:t> </a:t>
            </a:r>
            <a:r>
              <a:rPr lang="en-GB" sz="2400" dirty="0"/>
              <a:t>Animal:</a:t>
            </a:r>
            <a:br>
              <a:rPr lang="en-GB" sz="2400" dirty="0"/>
            </a:br>
            <a:r>
              <a:rPr lang="en-GB" sz="2400" dirty="0"/>
              <a:t>    </a:t>
            </a:r>
            <a:r>
              <a:rPr lang="en-GB" sz="2400" b="1" dirty="0">
                <a:solidFill>
                  <a:srgbClr val="0A007A"/>
                </a:solidFill>
              </a:rPr>
              <a:t>def</a:t>
            </a:r>
            <a:r>
              <a:rPr lang="en-GB" sz="2400" b="1" dirty="0"/>
              <a:t> </a:t>
            </a:r>
            <a:r>
              <a:rPr lang="en-GB" sz="2400" dirty="0">
                <a:solidFill>
                  <a:srgbClr val="C300B8"/>
                </a:solidFill>
              </a:rPr>
              <a:t>__</a:t>
            </a:r>
            <a:r>
              <a:rPr lang="en-GB" sz="2400" dirty="0" err="1">
                <a:solidFill>
                  <a:srgbClr val="C300B8"/>
                </a:solidFill>
              </a:rPr>
              <a:t>init</a:t>
            </a:r>
            <a:r>
              <a:rPr lang="en-GB" sz="2400" dirty="0">
                <a:solidFill>
                  <a:srgbClr val="C300B8"/>
                </a:solidFill>
              </a:rPr>
              <a:t>__</a:t>
            </a:r>
            <a:r>
              <a:rPr lang="en-GB" sz="2400" dirty="0">
                <a:solidFill>
                  <a:schemeClr val="tx1">
                    <a:lumMod val="95000"/>
                    <a:lumOff val="5000"/>
                  </a:schemeClr>
                </a:solidFill>
              </a:rPr>
              <a:t>(</a:t>
            </a:r>
            <a:r>
              <a:rPr lang="en-GB" sz="2400" dirty="0">
                <a:solidFill>
                  <a:srgbClr val="9E4F90"/>
                </a:solidFill>
              </a:rPr>
              <a:t>self</a:t>
            </a:r>
            <a:r>
              <a:rPr lang="en-GB" sz="2400" dirty="0"/>
              <a:t>, name, age):</a:t>
            </a:r>
            <a:br>
              <a:rPr lang="en-GB" sz="2400" dirty="0"/>
            </a:br>
            <a:r>
              <a:rPr lang="en-GB" sz="2400" dirty="0"/>
              <a:t>        </a:t>
            </a:r>
            <a:r>
              <a:rPr lang="en-GB" sz="2400" dirty="0" err="1">
                <a:solidFill>
                  <a:srgbClr val="9E4F90"/>
                </a:solidFill>
              </a:rPr>
              <a:t>self</a:t>
            </a:r>
            <a:r>
              <a:rPr lang="en-GB" sz="2400" dirty="0" err="1"/>
              <a:t>.__name</a:t>
            </a:r>
            <a:r>
              <a:rPr lang="en-GB" sz="2400" dirty="0"/>
              <a:t> = name</a:t>
            </a:r>
            <a:br>
              <a:rPr lang="en-GB" sz="2400" dirty="0"/>
            </a:br>
            <a:r>
              <a:rPr lang="en-GB" sz="2400" dirty="0"/>
              <a:t>        </a:t>
            </a:r>
            <a:r>
              <a:rPr lang="en-GB" sz="2400" dirty="0" err="1">
                <a:solidFill>
                  <a:srgbClr val="9E4F90"/>
                </a:solidFill>
              </a:rPr>
              <a:t>self</a:t>
            </a:r>
            <a:r>
              <a:rPr lang="en-GB" sz="2400" dirty="0" err="1"/>
              <a:t>.__age</a:t>
            </a:r>
            <a:r>
              <a:rPr lang="en-GB" sz="2400" dirty="0"/>
              <a:t> = age</a:t>
            </a:r>
          </a:p>
          <a:p>
            <a:r>
              <a:rPr lang="en-GB" sz="2400" dirty="0">
                <a:solidFill>
                  <a:srgbClr val="9E4F90"/>
                </a:solidFill>
              </a:rPr>
              <a:t>        </a:t>
            </a:r>
            <a:endParaRPr lang="en-US" sz="2400" dirty="0"/>
          </a:p>
        </p:txBody>
      </p:sp>
      <p:sp>
        <p:nvSpPr>
          <p:cNvPr id="9" name="Rounded Rectangle 8">
            <a:extLst>
              <a:ext uri="{FF2B5EF4-FFF2-40B4-BE49-F238E27FC236}">
                <a16:creationId xmlns:a16="http://schemas.microsoft.com/office/drawing/2014/main" id="{C82E1EA0-4AAF-EA4F-A676-93BCD6DDE87C}"/>
              </a:ext>
            </a:extLst>
          </p:cNvPr>
          <p:cNvSpPr/>
          <p:nvPr/>
        </p:nvSpPr>
        <p:spPr>
          <a:xfrm>
            <a:off x="5634201" y="4699318"/>
            <a:ext cx="1798649" cy="87404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b="1" dirty="0"/>
              <a:t>super</a:t>
            </a:r>
            <a:r>
              <a:rPr lang="en-GB" sz="1200" dirty="0"/>
              <a:t> ()</a:t>
            </a:r>
          </a:p>
          <a:p>
            <a:pPr algn="ctr"/>
            <a:r>
              <a:rPr lang="en-GB" sz="1200" dirty="0"/>
              <a:t>calls constructor from the superclass</a:t>
            </a:r>
            <a:endParaRPr lang="en-US" sz="1200" dirty="0"/>
          </a:p>
        </p:txBody>
      </p:sp>
      <p:cxnSp>
        <p:nvCxnSpPr>
          <p:cNvPr id="10" name="Straight Arrow Connector 9">
            <a:extLst>
              <a:ext uri="{FF2B5EF4-FFF2-40B4-BE49-F238E27FC236}">
                <a16:creationId xmlns:a16="http://schemas.microsoft.com/office/drawing/2014/main" id="{727AC1BB-3348-E54D-9482-34B40165281E}"/>
              </a:ext>
            </a:extLst>
          </p:cNvPr>
          <p:cNvCxnSpPr>
            <a:cxnSpLocks/>
          </p:cNvCxnSpPr>
          <p:nvPr/>
        </p:nvCxnSpPr>
        <p:spPr>
          <a:xfrm flipV="1">
            <a:off x="6981371" y="3893972"/>
            <a:ext cx="632557" cy="86037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2" name="Straight Arrow Connector 11">
            <a:extLst>
              <a:ext uri="{FF2B5EF4-FFF2-40B4-BE49-F238E27FC236}">
                <a16:creationId xmlns:a16="http://schemas.microsoft.com/office/drawing/2014/main" id="{EE406257-6027-894A-9621-771D46808802}"/>
              </a:ext>
            </a:extLst>
          </p:cNvPr>
          <p:cNvCxnSpPr>
            <a:cxnSpLocks/>
          </p:cNvCxnSpPr>
          <p:nvPr/>
        </p:nvCxnSpPr>
        <p:spPr>
          <a:xfrm>
            <a:off x="6386286" y="1284642"/>
            <a:ext cx="1227642" cy="135952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5" name="Straight Arrow Connector 14">
            <a:extLst>
              <a:ext uri="{FF2B5EF4-FFF2-40B4-BE49-F238E27FC236}">
                <a16:creationId xmlns:a16="http://schemas.microsoft.com/office/drawing/2014/main" id="{BE00CD1F-799B-1244-A3EA-7FACD4C3DCBC}"/>
              </a:ext>
            </a:extLst>
          </p:cNvPr>
          <p:cNvCxnSpPr>
            <a:cxnSpLocks/>
          </p:cNvCxnSpPr>
          <p:nvPr/>
        </p:nvCxnSpPr>
        <p:spPr>
          <a:xfrm flipH="1">
            <a:off x="2569029" y="1284642"/>
            <a:ext cx="740228" cy="131854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 name="Straight Connector 2">
            <a:extLst>
              <a:ext uri="{FF2B5EF4-FFF2-40B4-BE49-F238E27FC236}">
                <a16:creationId xmlns:a16="http://schemas.microsoft.com/office/drawing/2014/main" id="{62015539-60F4-782A-B838-FF67F8931E73}"/>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451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41979-2374-6344-9B9A-501F57A6EC76}"/>
              </a:ext>
            </a:extLst>
          </p:cNvPr>
          <p:cNvSpPr>
            <a:spLocks noGrp="1"/>
          </p:cNvSpPr>
          <p:nvPr>
            <p:ph type="title"/>
          </p:nvPr>
        </p:nvSpPr>
        <p:spPr>
          <a:xfrm>
            <a:off x="838200" y="161161"/>
            <a:ext cx="10515600" cy="1325563"/>
          </a:xfrm>
        </p:spPr>
        <p:txBody>
          <a:bodyPr/>
          <a:lstStyle/>
          <a:p>
            <a:r>
              <a:rPr lang="en-US" b="1" dirty="0">
                <a:solidFill>
                  <a:schemeClr val="tx1">
                    <a:lumMod val="95000"/>
                    <a:lumOff val="5000"/>
                  </a:schemeClr>
                </a:solidFill>
                <a:latin typeface="Arial" panose="020B0604020202020204" pitchFamily="34" charset="0"/>
                <a:cs typeface="Arial" panose="020B0604020202020204" pitchFamily="34" charset="0"/>
              </a:rPr>
              <a:t>Code example of Inheritance</a:t>
            </a:r>
            <a:endParaRPr lang="en-US" dirty="0">
              <a:solidFill>
                <a:schemeClr val="tx1">
                  <a:lumMod val="95000"/>
                  <a:lumOff val="5000"/>
                </a:schemeClr>
              </a:solidFill>
            </a:endParaRPr>
          </a:p>
        </p:txBody>
      </p:sp>
      <p:graphicFrame>
        <p:nvGraphicFramePr>
          <p:cNvPr id="4" name="Table 7">
            <a:extLst>
              <a:ext uri="{FF2B5EF4-FFF2-40B4-BE49-F238E27FC236}">
                <a16:creationId xmlns:a16="http://schemas.microsoft.com/office/drawing/2014/main" id="{84060828-D0E2-DA49-80DA-29C4F4FAD086}"/>
              </a:ext>
            </a:extLst>
          </p:cNvPr>
          <p:cNvGraphicFramePr>
            <a:graphicFrameLocks noGrp="1"/>
          </p:cNvGraphicFramePr>
          <p:nvPr/>
        </p:nvGraphicFramePr>
        <p:xfrm>
          <a:off x="165903" y="1657318"/>
          <a:ext cx="5812169" cy="3299822"/>
        </p:xfrm>
        <a:graphic>
          <a:graphicData uri="http://schemas.openxmlformats.org/drawingml/2006/table">
            <a:tbl>
              <a:tblPr firstRow="1" bandRow="1">
                <a:tableStyleId>{5C22544A-7EE6-4342-B048-85BDC9FD1C3A}</a:tableStyleId>
              </a:tblPr>
              <a:tblGrid>
                <a:gridCol w="5812169">
                  <a:extLst>
                    <a:ext uri="{9D8B030D-6E8A-4147-A177-3AD203B41FA5}">
                      <a16:colId xmlns:a16="http://schemas.microsoft.com/office/drawing/2014/main" val="381975002"/>
                    </a:ext>
                  </a:extLst>
                </a:gridCol>
              </a:tblGrid>
              <a:tr h="3299822">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6" name="TextBox 5">
            <a:extLst>
              <a:ext uri="{FF2B5EF4-FFF2-40B4-BE49-F238E27FC236}">
                <a16:creationId xmlns:a16="http://schemas.microsoft.com/office/drawing/2014/main" id="{24226EC6-8620-3A46-81EE-3BD6DD496A86}"/>
              </a:ext>
            </a:extLst>
          </p:cNvPr>
          <p:cNvSpPr txBox="1"/>
          <p:nvPr/>
        </p:nvSpPr>
        <p:spPr>
          <a:xfrm>
            <a:off x="120047" y="1809888"/>
            <a:ext cx="5953746" cy="3108543"/>
          </a:xfrm>
          <a:prstGeom prst="rect">
            <a:avLst/>
          </a:prstGeom>
          <a:noFill/>
        </p:spPr>
        <p:txBody>
          <a:bodyPr wrap="none" rtlCol="0">
            <a:spAutoFit/>
          </a:bodyPr>
          <a:lstStyle/>
          <a:p>
            <a:r>
              <a:rPr lang="en-GB" sz="1400" b="1" dirty="0">
                <a:solidFill>
                  <a:srgbClr val="0A007A"/>
                </a:solidFill>
              </a:rPr>
              <a:t>class</a:t>
            </a:r>
            <a:r>
              <a:rPr lang="en-GB" sz="1400" b="1" dirty="0"/>
              <a:t> </a:t>
            </a:r>
            <a:r>
              <a:rPr lang="en-GB" sz="1400" dirty="0"/>
              <a:t>Animal:</a:t>
            </a: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solidFill>
                  <a:schemeClr val="tx1">
                    <a:lumMod val="95000"/>
                    <a:lumOff val="5000"/>
                  </a:schemeClr>
                </a:solidFill>
              </a:rPr>
              <a:t>(</a:t>
            </a:r>
            <a:r>
              <a:rPr lang="en-GB" sz="1400" dirty="0">
                <a:solidFill>
                  <a:srgbClr val="9E4F90"/>
                </a:solidFill>
              </a:rPr>
              <a:t>self</a:t>
            </a:r>
            <a:r>
              <a:rPr lang="en-GB" sz="1400" dirty="0"/>
              <a:t>, name, age):</a:t>
            </a:r>
            <a:br>
              <a:rPr lang="en-GB" sz="1400" dirty="0"/>
            </a:br>
            <a:r>
              <a:rPr lang="en-GB" sz="1400" dirty="0"/>
              <a:t>        </a:t>
            </a:r>
            <a:r>
              <a:rPr lang="en-GB" sz="1400" dirty="0" err="1">
                <a:solidFill>
                  <a:srgbClr val="9E4F90"/>
                </a:solidFill>
              </a:rPr>
              <a:t>self</a:t>
            </a:r>
            <a:r>
              <a:rPr lang="en-GB" sz="1400" dirty="0" err="1"/>
              <a:t>.__name</a:t>
            </a:r>
            <a:r>
              <a:rPr lang="en-GB" sz="1400" dirty="0"/>
              <a:t> = name</a:t>
            </a:r>
            <a:br>
              <a:rPr lang="en-GB" sz="1400" dirty="0"/>
            </a:br>
            <a:r>
              <a:rPr lang="en-GB" sz="1400" dirty="0"/>
              <a:t>        </a:t>
            </a:r>
            <a:r>
              <a:rPr lang="en-GB" sz="1400" dirty="0" err="1">
                <a:solidFill>
                  <a:srgbClr val="9E4F90"/>
                </a:solidFill>
              </a:rPr>
              <a:t>self</a:t>
            </a:r>
            <a:r>
              <a:rPr lang="en-GB" sz="1400" dirty="0" err="1"/>
              <a:t>.__age</a:t>
            </a:r>
            <a:r>
              <a:rPr lang="en-GB" sz="1400" dirty="0"/>
              <a:t> = age</a:t>
            </a:r>
          </a:p>
          <a:p>
            <a:r>
              <a:rPr lang="en-GB" sz="1400" dirty="0">
                <a:solidFill>
                  <a:srgbClr val="9E4F90"/>
                </a:solidFill>
              </a:rPr>
              <a:t>        </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err="1"/>
              <a:t>get_name</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.__name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err="1"/>
              <a:t>get_age</a:t>
            </a:r>
            <a:r>
              <a:rPr lang="en-GB" sz="1400" dirty="0"/>
              <a:t>(self):</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.__age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008180"/>
                </a:solidFill>
              </a:rPr>
              <a:t>f'the</a:t>
            </a:r>
            <a:r>
              <a:rPr lang="en-GB" sz="1400" dirty="0">
                <a:solidFill>
                  <a:srgbClr val="008180"/>
                </a:solidFill>
              </a:rPr>
              <a:t> Animal name is: </a:t>
            </a:r>
            <a:r>
              <a:rPr lang="en-GB" sz="1400" dirty="0"/>
              <a:t>{</a:t>
            </a:r>
            <a:r>
              <a:rPr lang="en-GB" sz="1400" dirty="0" err="1">
                <a:solidFill>
                  <a:srgbClr val="9E4F90"/>
                </a:solidFill>
              </a:rPr>
              <a:t>self</a:t>
            </a:r>
            <a:r>
              <a:rPr lang="en-GB" sz="1400" dirty="0" err="1"/>
              <a:t>.__name</a:t>
            </a:r>
            <a:r>
              <a:rPr lang="en-GB" sz="1400" dirty="0"/>
              <a:t>} </a:t>
            </a:r>
            <a:r>
              <a:rPr lang="en-GB" sz="1400" dirty="0">
                <a:solidFill>
                  <a:srgbClr val="008180"/>
                </a:solidFill>
              </a:rPr>
              <a:t>and he is: </a:t>
            </a:r>
            <a:r>
              <a:rPr lang="en-GB" sz="1400" dirty="0"/>
              <a:t>{</a:t>
            </a:r>
            <a:r>
              <a:rPr lang="en-GB" sz="1400" dirty="0" err="1">
                <a:solidFill>
                  <a:srgbClr val="9E4F90"/>
                </a:solidFill>
              </a:rPr>
              <a:t>self</a:t>
            </a:r>
            <a:r>
              <a:rPr lang="en-GB" sz="1400" dirty="0" err="1"/>
              <a:t>.__age</a:t>
            </a:r>
            <a:r>
              <a:rPr lang="en-GB" sz="1400" dirty="0"/>
              <a:t>} </a:t>
            </a:r>
            <a:r>
              <a:rPr lang="en-GB" sz="1400" dirty="0">
                <a:solidFill>
                  <a:srgbClr val="008180"/>
                </a:solidFill>
              </a:rPr>
              <a:t>years old'</a:t>
            </a:r>
            <a:endParaRPr lang="en-US" sz="1400" dirty="0">
              <a:solidFill>
                <a:srgbClr val="008180"/>
              </a:solidFill>
            </a:endParaRPr>
          </a:p>
        </p:txBody>
      </p:sp>
      <p:graphicFrame>
        <p:nvGraphicFramePr>
          <p:cNvPr id="7" name="Table 7">
            <a:extLst>
              <a:ext uri="{FF2B5EF4-FFF2-40B4-BE49-F238E27FC236}">
                <a16:creationId xmlns:a16="http://schemas.microsoft.com/office/drawing/2014/main" id="{89FB2A6D-51B6-F14D-8E67-36606535885B}"/>
              </a:ext>
            </a:extLst>
          </p:cNvPr>
          <p:cNvGraphicFramePr>
            <a:graphicFrameLocks noGrp="1"/>
          </p:cNvGraphicFramePr>
          <p:nvPr/>
        </p:nvGraphicFramePr>
        <p:xfrm>
          <a:off x="6734628" y="1525186"/>
          <a:ext cx="4266398" cy="2379156"/>
        </p:xfrm>
        <a:graphic>
          <a:graphicData uri="http://schemas.openxmlformats.org/drawingml/2006/table">
            <a:tbl>
              <a:tblPr firstRow="1" bandRow="1">
                <a:tableStyleId>{5C22544A-7EE6-4342-B048-85BDC9FD1C3A}</a:tableStyleId>
              </a:tblPr>
              <a:tblGrid>
                <a:gridCol w="4266398">
                  <a:extLst>
                    <a:ext uri="{9D8B030D-6E8A-4147-A177-3AD203B41FA5}">
                      <a16:colId xmlns:a16="http://schemas.microsoft.com/office/drawing/2014/main" val="381975002"/>
                    </a:ext>
                  </a:extLst>
                </a:gridCol>
              </a:tblGrid>
              <a:tr h="2379156">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9" name="TextBox 8">
            <a:extLst>
              <a:ext uri="{FF2B5EF4-FFF2-40B4-BE49-F238E27FC236}">
                <a16:creationId xmlns:a16="http://schemas.microsoft.com/office/drawing/2014/main" id="{812F44FA-0DCC-264D-9B8C-E54568F0F2EC}"/>
              </a:ext>
            </a:extLst>
          </p:cNvPr>
          <p:cNvSpPr txBox="1"/>
          <p:nvPr/>
        </p:nvSpPr>
        <p:spPr>
          <a:xfrm>
            <a:off x="6734628" y="1554045"/>
            <a:ext cx="4001801" cy="2462213"/>
          </a:xfrm>
          <a:prstGeom prst="rect">
            <a:avLst/>
          </a:prstGeom>
          <a:noFill/>
        </p:spPr>
        <p:txBody>
          <a:bodyPr wrap="none" rtlCol="0">
            <a:spAutoFit/>
          </a:bodyPr>
          <a:lstStyle/>
          <a:p>
            <a:r>
              <a:rPr lang="en-GB" sz="1400" b="1" dirty="0"/>
              <a:t>class </a:t>
            </a:r>
            <a:r>
              <a:rPr lang="en-GB" sz="1400" dirty="0"/>
              <a:t>Dog(Animal):</a:t>
            </a:r>
            <a:br>
              <a:rPr lang="en-GB" sz="1400" dirty="0"/>
            </a:br>
            <a:r>
              <a:rPr lang="en-GB" sz="1400" dirty="0"/>
              <a:t>    </a:t>
            </a:r>
            <a:br>
              <a:rPr lang="en-GB" sz="1400" b="1" dirty="0"/>
            </a:br>
            <a:r>
              <a:rPr lang="en-GB" sz="1400" b="1"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t>(</a:t>
            </a:r>
            <a:r>
              <a:rPr lang="en-GB" sz="1400" dirty="0">
                <a:solidFill>
                  <a:srgbClr val="9E4F90"/>
                </a:solidFill>
              </a:rPr>
              <a:t>self</a:t>
            </a:r>
            <a:r>
              <a:rPr lang="en-GB" sz="1400" dirty="0"/>
              <a:t>, name, age, id):</a:t>
            </a:r>
            <a:br>
              <a:rPr lang="en-GB" sz="1400" dirty="0"/>
            </a:br>
            <a:r>
              <a:rPr lang="en-GB" sz="1400" dirty="0"/>
              <a:t>        </a:t>
            </a:r>
            <a:r>
              <a:rPr lang="en-GB" sz="1400" b="1" dirty="0"/>
              <a:t>super</a:t>
            </a:r>
            <a:r>
              <a:rPr lang="en-GB" sz="1400" dirty="0"/>
              <a:t>().__</a:t>
            </a:r>
            <a:r>
              <a:rPr lang="en-GB" sz="1400" dirty="0" err="1"/>
              <a:t>init</a:t>
            </a:r>
            <a:r>
              <a:rPr lang="en-GB" sz="1400" dirty="0"/>
              <a:t>__(name, age)  </a:t>
            </a:r>
          </a:p>
          <a:p>
            <a:r>
              <a:rPr lang="en-GB" sz="1400" i="1" dirty="0"/>
              <a:t>        </a:t>
            </a:r>
            <a:r>
              <a:rPr lang="en-GB" sz="1400" dirty="0" err="1">
                <a:solidFill>
                  <a:srgbClr val="9E4F90"/>
                </a:solidFill>
              </a:rPr>
              <a:t>self</a:t>
            </a:r>
            <a:r>
              <a:rPr lang="en-GB" sz="1400" dirty="0" err="1"/>
              <a:t>.__id</a:t>
            </a:r>
            <a:r>
              <a:rPr lang="en-GB" sz="1400" dirty="0"/>
              <a:t> = id</a:t>
            </a:r>
            <a:br>
              <a:rPr lang="en-GB" sz="1400" i="1" dirty="0"/>
            </a:br>
            <a:br>
              <a:rPr lang="en-GB" sz="1400" i="1" dirty="0"/>
            </a:br>
            <a:r>
              <a:rPr lang="en-GB" sz="1400" i="1" dirty="0"/>
              <a:t>    </a:t>
            </a:r>
            <a:r>
              <a:rPr lang="en-GB" sz="1400" b="1" dirty="0">
                <a:solidFill>
                  <a:srgbClr val="0A007A"/>
                </a:solidFill>
              </a:rPr>
              <a:t>def</a:t>
            </a:r>
            <a:r>
              <a:rPr lang="en-GB" sz="1400" b="1" dirty="0"/>
              <a:t> </a:t>
            </a:r>
            <a:r>
              <a:rPr lang="en-GB" sz="1400" dirty="0"/>
              <a:t>bark(</a:t>
            </a:r>
            <a:r>
              <a:rPr lang="en-GB" sz="1400" dirty="0">
                <a:solidFill>
                  <a:srgbClr val="9E4F90"/>
                </a:solidFill>
              </a:rPr>
              <a:t>self</a:t>
            </a:r>
            <a:r>
              <a:rPr lang="en-GB" sz="1400" dirty="0"/>
              <a:t>, sound):</a:t>
            </a:r>
            <a:br>
              <a:rPr lang="en-GB" sz="1400" dirty="0"/>
            </a:br>
            <a:r>
              <a:rPr lang="en-GB" sz="1400" dirty="0"/>
              <a:t>        </a:t>
            </a:r>
            <a:r>
              <a:rPr lang="en-GB" sz="1400" b="1" dirty="0">
                <a:solidFill>
                  <a:srgbClr val="0A007A"/>
                </a:solidFill>
              </a:rPr>
              <a:t>return</a:t>
            </a:r>
            <a:r>
              <a:rPr lang="en-GB" sz="1400" b="1" dirty="0"/>
              <a:t> </a:t>
            </a:r>
            <a:r>
              <a:rPr lang="en-GB" sz="1400" dirty="0">
                <a:solidFill>
                  <a:srgbClr val="008180"/>
                </a:solidFill>
              </a:rPr>
              <a:t>f' bark: </a:t>
            </a:r>
            <a:r>
              <a:rPr lang="en-GB" sz="1400" dirty="0"/>
              <a:t>{sound}</a:t>
            </a:r>
            <a:r>
              <a:rPr lang="en-GB" sz="1400" dirty="0">
                <a:solidFill>
                  <a:srgbClr val="008180"/>
                </a:solidFill>
              </a:rPr>
              <a:t>'</a:t>
            </a:r>
            <a:br>
              <a:rPr lang="en-GB" sz="1400" b="1" dirty="0"/>
            </a:br>
            <a:br>
              <a:rPr lang="en-GB" sz="1400" b="1" dirty="0"/>
            </a:br>
            <a:r>
              <a:rPr lang="en-GB" sz="1400" b="1"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super</a:t>
            </a:r>
            <a:r>
              <a:rPr lang="en-GB" sz="1400" dirty="0"/>
              <a:t>().</a:t>
            </a:r>
            <a:r>
              <a:rPr lang="en-GB" sz="1400" dirty="0">
                <a:solidFill>
                  <a:srgbClr val="C300B8"/>
                </a:solidFill>
              </a:rPr>
              <a:t>__str__</a:t>
            </a:r>
            <a:r>
              <a:rPr lang="en-GB" sz="1400" dirty="0"/>
              <a:t>() + </a:t>
            </a:r>
            <a:r>
              <a:rPr lang="en-GB" sz="1400" dirty="0" err="1">
                <a:solidFill>
                  <a:srgbClr val="9E4F90"/>
                </a:solidFill>
              </a:rPr>
              <a:t>self</a:t>
            </a:r>
            <a:r>
              <a:rPr lang="en-GB" sz="1400" dirty="0" err="1"/>
              <a:t>.bark</a:t>
            </a:r>
            <a:r>
              <a:rPr lang="en-GB" sz="1400" dirty="0"/>
              <a:t>(</a:t>
            </a:r>
            <a:r>
              <a:rPr lang="en-GB" sz="1400" dirty="0">
                <a:solidFill>
                  <a:srgbClr val="008180"/>
                </a:solidFill>
              </a:rPr>
              <a:t>'woof woof'</a:t>
            </a:r>
            <a:r>
              <a:rPr lang="en-GB" sz="1400" dirty="0"/>
              <a:t>)</a:t>
            </a:r>
            <a:endParaRPr lang="en-US" sz="1400" dirty="0"/>
          </a:p>
        </p:txBody>
      </p:sp>
      <p:graphicFrame>
        <p:nvGraphicFramePr>
          <p:cNvPr id="10" name="Table 7">
            <a:extLst>
              <a:ext uri="{FF2B5EF4-FFF2-40B4-BE49-F238E27FC236}">
                <a16:creationId xmlns:a16="http://schemas.microsoft.com/office/drawing/2014/main" id="{6B79CDD7-531F-B14F-8049-10D36D01ADCF}"/>
              </a:ext>
            </a:extLst>
          </p:cNvPr>
          <p:cNvGraphicFramePr>
            <a:graphicFrameLocks noGrp="1"/>
          </p:cNvGraphicFramePr>
          <p:nvPr/>
        </p:nvGraphicFramePr>
        <p:xfrm>
          <a:off x="6734628" y="4392157"/>
          <a:ext cx="4266398" cy="2505586"/>
        </p:xfrm>
        <a:graphic>
          <a:graphicData uri="http://schemas.openxmlformats.org/drawingml/2006/table">
            <a:tbl>
              <a:tblPr firstRow="1" bandRow="1">
                <a:tableStyleId>{5C22544A-7EE6-4342-B048-85BDC9FD1C3A}</a:tableStyleId>
              </a:tblPr>
              <a:tblGrid>
                <a:gridCol w="4266398">
                  <a:extLst>
                    <a:ext uri="{9D8B030D-6E8A-4147-A177-3AD203B41FA5}">
                      <a16:colId xmlns:a16="http://schemas.microsoft.com/office/drawing/2014/main" val="381975002"/>
                    </a:ext>
                  </a:extLst>
                </a:gridCol>
              </a:tblGrid>
              <a:tr h="2505586">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11" name="TextBox 10">
            <a:extLst>
              <a:ext uri="{FF2B5EF4-FFF2-40B4-BE49-F238E27FC236}">
                <a16:creationId xmlns:a16="http://schemas.microsoft.com/office/drawing/2014/main" id="{634DE35A-6B37-AF43-947D-E8583AAD9FBF}"/>
              </a:ext>
            </a:extLst>
          </p:cNvPr>
          <p:cNvSpPr txBox="1"/>
          <p:nvPr/>
        </p:nvSpPr>
        <p:spPr>
          <a:xfrm>
            <a:off x="6879772" y="4435530"/>
            <a:ext cx="3236335" cy="2462213"/>
          </a:xfrm>
          <a:prstGeom prst="rect">
            <a:avLst/>
          </a:prstGeom>
          <a:noFill/>
        </p:spPr>
        <p:txBody>
          <a:bodyPr wrap="none" rtlCol="0">
            <a:spAutoFit/>
          </a:bodyPr>
          <a:lstStyle/>
          <a:p>
            <a:r>
              <a:rPr lang="en-GB" sz="1400" b="1" dirty="0">
                <a:solidFill>
                  <a:srgbClr val="0A007A"/>
                </a:solidFill>
              </a:rPr>
              <a:t>class</a:t>
            </a:r>
            <a:r>
              <a:rPr lang="en-GB" sz="1400" b="1" dirty="0"/>
              <a:t> </a:t>
            </a:r>
            <a:r>
              <a:rPr lang="en-GB" sz="1400" dirty="0"/>
              <a:t>Cat(Animal):</a:t>
            </a:r>
            <a:br>
              <a:rPr lang="en-GB" sz="1400" b="1" dirty="0"/>
            </a:br>
            <a:r>
              <a:rPr lang="en-GB" sz="1400" b="1" dirty="0"/>
              <a:t>    </a:t>
            </a:r>
          </a:p>
          <a:p>
            <a:r>
              <a:rPr lang="en-GB" sz="1400" b="1"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t>(</a:t>
            </a:r>
            <a:r>
              <a:rPr lang="en-GB" sz="1400" dirty="0">
                <a:solidFill>
                  <a:srgbClr val="9E4F90"/>
                </a:solidFill>
              </a:rPr>
              <a:t>self</a:t>
            </a:r>
            <a:r>
              <a:rPr lang="en-GB" sz="1400" dirty="0"/>
              <a:t>, name, age, id):</a:t>
            </a:r>
            <a:br>
              <a:rPr lang="en-GB" sz="1400" dirty="0"/>
            </a:br>
            <a:r>
              <a:rPr lang="en-GB" sz="1400" dirty="0"/>
              <a:t>          </a:t>
            </a:r>
            <a:r>
              <a:rPr lang="en-GB" sz="1400" b="1" dirty="0"/>
              <a:t>super</a:t>
            </a:r>
            <a:r>
              <a:rPr lang="en-GB" sz="1400" dirty="0"/>
              <a:t>().__</a:t>
            </a:r>
            <a:r>
              <a:rPr lang="en-GB" sz="1400" dirty="0" err="1"/>
              <a:t>init</a:t>
            </a:r>
            <a:r>
              <a:rPr lang="en-GB" sz="1400" dirty="0"/>
              <a:t>__(name, age)</a:t>
            </a:r>
          </a:p>
          <a:p>
            <a:r>
              <a:rPr lang="en-GB" sz="1400" dirty="0">
                <a:solidFill>
                  <a:srgbClr val="9E4F90"/>
                </a:solidFill>
              </a:rPr>
              <a:t>          </a:t>
            </a:r>
            <a:r>
              <a:rPr lang="en-GB" sz="1400" dirty="0" err="1">
                <a:solidFill>
                  <a:srgbClr val="9E4F90"/>
                </a:solidFill>
              </a:rPr>
              <a:t>self</a:t>
            </a:r>
            <a:r>
              <a:rPr lang="en-GB" sz="1400" dirty="0" err="1"/>
              <a:t>.__id</a:t>
            </a:r>
            <a:r>
              <a:rPr lang="en-GB" sz="1400" dirty="0"/>
              <a:t> = id  </a:t>
            </a:r>
            <a:br>
              <a:rPr lang="en-GB" sz="1400" i="1" dirty="0"/>
            </a:br>
            <a:br>
              <a:rPr lang="en-GB" sz="1400" i="1" dirty="0"/>
            </a:br>
            <a:r>
              <a:rPr lang="en-GB" sz="1400" i="1" dirty="0"/>
              <a:t>    </a:t>
            </a:r>
            <a:r>
              <a:rPr lang="en-GB" sz="1400" b="1" dirty="0">
                <a:solidFill>
                  <a:srgbClr val="0A007A"/>
                </a:solidFill>
              </a:rPr>
              <a:t>def</a:t>
            </a:r>
            <a:r>
              <a:rPr lang="en-GB" sz="1400" b="1" dirty="0"/>
              <a:t> </a:t>
            </a:r>
            <a:r>
              <a:rPr lang="en-GB" sz="1400" dirty="0"/>
              <a:t>hunts(</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a:solidFill>
                  <a:srgbClr val="008180"/>
                </a:solidFill>
              </a:rPr>
              <a:t>f' it is:</a:t>
            </a:r>
            <a:r>
              <a:rPr lang="en-GB" sz="1400" dirty="0"/>
              <a:t> {</a:t>
            </a:r>
            <a:r>
              <a:rPr lang="en-GB" sz="1400" b="1" dirty="0">
                <a:solidFill>
                  <a:srgbClr val="0A007A"/>
                </a:solidFill>
              </a:rPr>
              <a:t>True</a:t>
            </a:r>
            <a:r>
              <a:rPr lang="en-GB" sz="1400" dirty="0"/>
              <a:t>} </a:t>
            </a:r>
            <a:r>
              <a:rPr lang="en-GB" sz="1400" dirty="0">
                <a:solidFill>
                  <a:srgbClr val="008180"/>
                </a:solidFill>
              </a:rPr>
              <a:t>cuts are hunting '</a:t>
            </a:r>
            <a:br>
              <a:rPr lang="en-GB" sz="1400" dirty="0"/>
            </a:br>
            <a:br>
              <a:rPr lang="en-GB" sz="1400" dirty="0"/>
            </a:br>
            <a:r>
              <a:rPr lang="en-GB" sz="1400" b="1"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super</a:t>
            </a:r>
            <a:r>
              <a:rPr lang="en-GB" sz="1400" dirty="0"/>
              <a:t>().</a:t>
            </a:r>
            <a:r>
              <a:rPr lang="en-GB" sz="1400" dirty="0">
                <a:solidFill>
                  <a:srgbClr val="C300B8"/>
                </a:solidFill>
              </a:rPr>
              <a:t>__str__</a:t>
            </a:r>
            <a:r>
              <a:rPr lang="en-GB" sz="1400" dirty="0"/>
              <a:t>() + </a:t>
            </a:r>
            <a:r>
              <a:rPr lang="en-GB" sz="1400" dirty="0" err="1">
                <a:solidFill>
                  <a:srgbClr val="9E4F90"/>
                </a:solidFill>
              </a:rPr>
              <a:t>self</a:t>
            </a:r>
            <a:r>
              <a:rPr lang="en-GB" sz="1400" dirty="0" err="1"/>
              <a:t>.hunts</a:t>
            </a:r>
            <a:r>
              <a:rPr lang="en-GB" sz="1400" dirty="0"/>
              <a:t>()</a:t>
            </a:r>
            <a:endParaRPr lang="en-US" sz="1400" dirty="0"/>
          </a:p>
        </p:txBody>
      </p:sp>
      <p:cxnSp>
        <p:nvCxnSpPr>
          <p:cNvPr id="12" name="Straight Arrow Connector 11">
            <a:extLst>
              <a:ext uri="{FF2B5EF4-FFF2-40B4-BE49-F238E27FC236}">
                <a16:creationId xmlns:a16="http://schemas.microsoft.com/office/drawing/2014/main" id="{9A23CEAA-D0D0-BC4E-B36B-87B43250C403}"/>
              </a:ext>
            </a:extLst>
          </p:cNvPr>
          <p:cNvCxnSpPr>
            <a:cxnSpLocks/>
          </p:cNvCxnSpPr>
          <p:nvPr/>
        </p:nvCxnSpPr>
        <p:spPr>
          <a:xfrm>
            <a:off x="6241142" y="5683550"/>
            <a:ext cx="1495987" cy="72208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4" name="Straight Arrow Connector 13">
            <a:extLst>
              <a:ext uri="{FF2B5EF4-FFF2-40B4-BE49-F238E27FC236}">
                <a16:creationId xmlns:a16="http://schemas.microsoft.com/office/drawing/2014/main" id="{0C564F39-84F7-464F-8A36-E1FDFF8C6DEA}"/>
              </a:ext>
            </a:extLst>
          </p:cNvPr>
          <p:cNvCxnSpPr>
            <a:cxnSpLocks/>
          </p:cNvCxnSpPr>
          <p:nvPr/>
        </p:nvCxnSpPr>
        <p:spPr>
          <a:xfrm flipV="1">
            <a:off x="6152604" y="5241595"/>
            <a:ext cx="1105188" cy="30901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7" name="Rounded Rectangle 16">
            <a:extLst>
              <a:ext uri="{FF2B5EF4-FFF2-40B4-BE49-F238E27FC236}">
                <a16:creationId xmlns:a16="http://schemas.microsoft.com/office/drawing/2014/main" id="{AE047DD5-7A72-E145-A7E7-5783B0B3AA88}"/>
              </a:ext>
            </a:extLst>
          </p:cNvPr>
          <p:cNvSpPr/>
          <p:nvPr/>
        </p:nvSpPr>
        <p:spPr>
          <a:xfrm>
            <a:off x="6734628" y="4002718"/>
            <a:ext cx="1002501" cy="256503"/>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dirty="0"/>
              <a:t>subclass</a:t>
            </a:r>
            <a:endParaRPr lang="en-US" sz="1200" dirty="0"/>
          </a:p>
        </p:txBody>
      </p:sp>
      <p:sp>
        <p:nvSpPr>
          <p:cNvPr id="18" name="Rounded Rectangle 17">
            <a:extLst>
              <a:ext uri="{FF2B5EF4-FFF2-40B4-BE49-F238E27FC236}">
                <a16:creationId xmlns:a16="http://schemas.microsoft.com/office/drawing/2014/main" id="{C48F8484-EA52-EA41-9D16-14BA71830880}"/>
              </a:ext>
            </a:extLst>
          </p:cNvPr>
          <p:cNvSpPr/>
          <p:nvPr/>
        </p:nvSpPr>
        <p:spPr>
          <a:xfrm>
            <a:off x="8046748" y="4002718"/>
            <a:ext cx="893873" cy="264264"/>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dirty="0"/>
              <a:t>superclass</a:t>
            </a:r>
            <a:endParaRPr lang="en-US" sz="1200" dirty="0"/>
          </a:p>
        </p:txBody>
      </p:sp>
      <p:sp>
        <p:nvSpPr>
          <p:cNvPr id="19" name="Rounded Rectangle 18">
            <a:extLst>
              <a:ext uri="{FF2B5EF4-FFF2-40B4-BE49-F238E27FC236}">
                <a16:creationId xmlns:a16="http://schemas.microsoft.com/office/drawing/2014/main" id="{52228CC3-40C5-684F-822D-BE31CD23CDE3}"/>
              </a:ext>
            </a:extLst>
          </p:cNvPr>
          <p:cNvSpPr/>
          <p:nvPr/>
        </p:nvSpPr>
        <p:spPr>
          <a:xfrm>
            <a:off x="6722405" y="1122736"/>
            <a:ext cx="1002501" cy="256503"/>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dirty="0"/>
              <a:t>subclass</a:t>
            </a:r>
            <a:endParaRPr lang="en-US" sz="1200" dirty="0"/>
          </a:p>
        </p:txBody>
      </p:sp>
      <p:sp>
        <p:nvSpPr>
          <p:cNvPr id="20" name="Rounded Rectangle 19">
            <a:extLst>
              <a:ext uri="{FF2B5EF4-FFF2-40B4-BE49-F238E27FC236}">
                <a16:creationId xmlns:a16="http://schemas.microsoft.com/office/drawing/2014/main" id="{86A38514-C9D7-BC45-8F23-F06104DA85E6}"/>
              </a:ext>
            </a:extLst>
          </p:cNvPr>
          <p:cNvSpPr/>
          <p:nvPr/>
        </p:nvSpPr>
        <p:spPr>
          <a:xfrm>
            <a:off x="8034525" y="1122736"/>
            <a:ext cx="893873" cy="264264"/>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dirty="0"/>
              <a:t>superclass</a:t>
            </a:r>
            <a:endParaRPr lang="en-US" sz="1200" dirty="0"/>
          </a:p>
        </p:txBody>
      </p:sp>
      <p:cxnSp>
        <p:nvCxnSpPr>
          <p:cNvPr id="21" name="Straight Arrow Connector 20">
            <a:extLst>
              <a:ext uri="{FF2B5EF4-FFF2-40B4-BE49-F238E27FC236}">
                <a16:creationId xmlns:a16="http://schemas.microsoft.com/office/drawing/2014/main" id="{5B51E528-38AA-924F-A201-712557F4A252}"/>
              </a:ext>
            </a:extLst>
          </p:cNvPr>
          <p:cNvCxnSpPr>
            <a:cxnSpLocks/>
          </p:cNvCxnSpPr>
          <p:nvPr/>
        </p:nvCxnSpPr>
        <p:spPr>
          <a:xfrm flipH="1">
            <a:off x="7910287" y="1409425"/>
            <a:ext cx="464456" cy="24789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4" name="Straight Arrow Connector 23">
            <a:extLst>
              <a:ext uri="{FF2B5EF4-FFF2-40B4-BE49-F238E27FC236}">
                <a16:creationId xmlns:a16="http://schemas.microsoft.com/office/drawing/2014/main" id="{C807B3ED-B184-9341-AB53-DE3A31D7ACC1}"/>
              </a:ext>
            </a:extLst>
          </p:cNvPr>
          <p:cNvCxnSpPr>
            <a:cxnSpLocks/>
          </p:cNvCxnSpPr>
          <p:nvPr/>
        </p:nvCxnSpPr>
        <p:spPr>
          <a:xfrm>
            <a:off x="7223655" y="1396438"/>
            <a:ext cx="164116" cy="26088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7" name="Straight Arrow Connector 26">
            <a:extLst>
              <a:ext uri="{FF2B5EF4-FFF2-40B4-BE49-F238E27FC236}">
                <a16:creationId xmlns:a16="http://schemas.microsoft.com/office/drawing/2014/main" id="{11EF9F41-5145-D54C-869B-2A45D362C46F}"/>
              </a:ext>
            </a:extLst>
          </p:cNvPr>
          <p:cNvCxnSpPr>
            <a:cxnSpLocks/>
          </p:cNvCxnSpPr>
          <p:nvPr/>
        </p:nvCxnSpPr>
        <p:spPr>
          <a:xfrm flipH="1">
            <a:off x="7988839" y="4259221"/>
            <a:ext cx="290947" cy="322576"/>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0" name="Straight Arrow Connector 29">
            <a:extLst>
              <a:ext uri="{FF2B5EF4-FFF2-40B4-BE49-F238E27FC236}">
                <a16:creationId xmlns:a16="http://schemas.microsoft.com/office/drawing/2014/main" id="{992CE391-23CA-6D4D-A5D5-7759CE4A7C1A}"/>
              </a:ext>
            </a:extLst>
          </p:cNvPr>
          <p:cNvCxnSpPr>
            <a:cxnSpLocks/>
          </p:cNvCxnSpPr>
          <p:nvPr/>
        </p:nvCxnSpPr>
        <p:spPr>
          <a:xfrm>
            <a:off x="7277285" y="4230618"/>
            <a:ext cx="138091" cy="32976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34" name="Rounded Rectangle 33">
            <a:extLst>
              <a:ext uri="{FF2B5EF4-FFF2-40B4-BE49-F238E27FC236}">
                <a16:creationId xmlns:a16="http://schemas.microsoft.com/office/drawing/2014/main" id="{CDF8886B-7888-1A43-A3B8-EAA0F89E8E33}"/>
              </a:ext>
            </a:extLst>
          </p:cNvPr>
          <p:cNvSpPr/>
          <p:nvPr/>
        </p:nvSpPr>
        <p:spPr>
          <a:xfrm>
            <a:off x="4442493" y="5097142"/>
            <a:ext cx="1798649" cy="87404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b="1" dirty="0"/>
              <a:t>super</a:t>
            </a:r>
            <a:r>
              <a:rPr lang="en-GB" sz="1200" dirty="0"/>
              <a:t> ()</a:t>
            </a:r>
          </a:p>
          <a:p>
            <a:pPr algn="ctr"/>
            <a:r>
              <a:rPr lang="en-GB" sz="1200" dirty="0"/>
              <a:t>calls constructor or functions from the superclass</a:t>
            </a:r>
            <a:endParaRPr lang="en-US" sz="1200" dirty="0"/>
          </a:p>
        </p:txBody>
      </p:sp>
    </p:spTree>
    <p:extLst>
      <p:ext uri="{BB962C8B-B14F-4D97-AF65-F5344CB8AC3E}">
        <p14:creationId xmlns:p14="http://schemas.microsoft.com/office/powerpoint/2010/main" val="1111941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41F8-1EEC-FC4B-8BEA-D387798E6CB0}"/>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Overriding Methods</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B0B2AD5-A60C-7D4E-B982-61920A1291CE}"/>
              </a:ext>
            </a:extLst>
          </p:cNvPr>
          <p:cNvSpPr>
            <a:spLocks noGrp="1"/>
          </p:cNvSpPr>
          <p:nvPr>
            <p:ph idx="1"/>
          </p:nvPr>
        </p:nvSpPr>
        <p:spPr/>
        <p:txBody>
          <a:bodyPr>
            <a:normAutofit/>
          </a:bodyPr>
          <a:lstStyle/>
          <a:p>
            <a:r>
              <a:rPr lang="en-GB" sz="2400" dirty="0"/>
              <a:t> To override a method, the method must be defined in the subclass using the same header as in its superclass.</a:t>
            </a:r>
          </a:p>
          <a:p>
            <a:endParaRPr lang="en-US" sz="2400" dirty="0"/>
          </a:p>
        </p:txBody>
      </p:sp>
      <p:graphicFrame>
        <p:nvGraphicFramePr>
          <p:cNvPr id="4" name="Table 7">
            <a:extLst>
              <a:ext uri="{FF2B5EF4-FFF2-40B4-BE49-F238E27FC236}">
                <a16:creationId xmlns:a16="http://schemas.microsoft.com/office/drawing/2014/main" id="{E31BF450-4A57-7F4E-A08C-1F1177685CB6}"/>
              </a:ext>
            </a:extLst>
          </p:cNvPr>
          <p:cNvGraphicFramePr>
            <a:graphicFrameLocks noGrp="1"/>
          </p:cNvGraphicFramePr>
          <p:nvPr/>
        </p:nvGraphicFramePr>
        <p:xfrm>
          <a:off x="283832" y="2695186"/>
          <a:ext cx="5775088" cy="3305902"/>
        </p:xfrm>
        <a:graphic>
          <a:graphicData uri="http://schemas.openxmlformats.org/drawingml/2006/table">
            <a:tbl>
              <a:tblPr firstRow="1" bandRow="1">
                <a:tableStyleId>{5C22544A-7EE6-4342-B048-85BDC9FD1C3A}</a:tableStyleId>
              </a:tblPr>
              <a:tblGrid>
                <a:gridCol w="5775088">
                  <a:extLst>
                    <a:ext uri="{9D8B030D-6E8A-4147-A177-3AD203B41FA5}">
                      <a16:colId xmlns:a16="http://schemas.microsoft.com/office/drawing/2014/main" val="381975002"/>
                    </a:ext>
                  </a:extLst>
                </a:gridCol>
              </a:tblGrid>
              <a:tr h="3305902">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5" name="TextBox 4">
            <a:extLst>
              <a:ext uri="{FF2B5EF4-FFF2-40B4-BE49-F238E27FC236}">
                <a16:creationId xmlns:a16="http://schemas.microsoft.com/office/drawing/2014/main" id="{AD6B0183-7F0C-7544-935C-46B377FBCED3}"/>
              </a:ext>
            </a:extLst>
          </p:cNvPr>
          <p:cNvSpPr txBox="1"/>
          <p:nvPr/>
        </p:nvSpPr>
        <p:spPr>
          <a:xfrm>
            <a:off x="283831" y="2690830"/>
            <a:ext cx="5999252" cy="2893100"/>
          </a:xfrm>
          <a:prstGeom prst="rect">
            <a:avLst/>
          </a:prstGeom>
          <a:noFill/>
        </p:spPr>
        <p:txBody>
          <a:bodyPr wrap="square" rtlCol="0">
            <a:spAutoFit/>
          </a:bodyPr>
          <a:lstStyle/>
          <a:p>
            <a:r>
              <a:rPr lang="en-GB" sz="1400" b="1" dirty="0">
                <a:solidFill>
                  <a:srgbClr val="0A007A"/>
                </a:solidFill>
              </a:rPr>
              <a:t>class</a:t>
            </a:r>
            <a:r>
              <a:rPr lang="en-GB" sz="1400" b="1" dirty="0"/>
              <a:t> </a:t>
            </a:r>
            <a:r>
              <a:rPr lang="en-GB" sz="1400" dirty="0"/>
              <a:t>Animal:</a:t>
            </a: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solidFill>
                  <a:schemeClr val="tx1">
                    <a:lumMod val="95000"/>
                    <a:lumOff val="5000"/>
                  </a:schemeClr>
                </a:solidFill>
              </a:rPr>
              <a:t>(</a:t>
            </a:r>
            <a:r>
              <a:rPr lang="en-GB" sz="1400" dirty="0">
                <a:solidFill>
                  <a:srgbClr val="9E4F90"/>
                </a:solidFill>
              </a:rPr>
              <a:t>self</a:t>
            </a:r>
            <a:r>
              <a:rPr lang="en-GB" sz="1400" dirty="0"/>
              <a:t>, name, age):</a:t>
            </a:r>
            <a:br>
              <a:rPr lang="en-GB" sz="1400" dirty="0"/>
            </a:br>
            <a:r>
              <a:rPr lang="en-GB" sz="1400" dirty="0"/>
              <a:t>        </a:t>
            </a:r>
            <a:r>
              <a:rPr lang="en-GB" sz="1400" dirty="0" err="1">
                <a:solidFill>
                  <a:srgbClr val="9E4F90"/>
                </a:solidFill>
              </a:rPr>
              <a:t>self</a:t>
            </a:r>
            <a:r>
              <a:rPr lang="en-GB" sz="1400" dirty="0" err="1"/>
              <a:t>.__name</a:t>
            </a:r>
            <a:r>
              <a:rPr lang="en-GB" sz="1400" dirty="0"/>
              <a:t> = name</a:t>
            </a:r>
            <a:br>
              <a:rPr lang="en-GB" sz="1400" dirty="0"/>
            </a:br>
            <a:r>
              <a:rPr lang="en-GB" sz="1400" dirty="0"/>
              <a:t>        </a:t>
            </a:r>
            <a:r>
              <a:rPr lang="en-GB" sz="1400" dirty="0" err="1">
                <a:solidFill>
                  <a:srgbClr val="9E4F90"/>
                </a:solidFill>
              </a:rPr>
              <a:t>self</a:t>
            </a:r>
            <a:r>
              <a:rPr lang="en-GB" sz="1400" dirty="0" err="1"/>
              <a:t>.__age</a:t>
            </a:r>
            <a:r>
              <a:rPr lang="en-GB" sz="1400" dirty="0"/>
              <a:t> = age</a:t>
            </a:r>
          </a:p>
          <a:p>
            <a:r>
              <a:rPr lang="en-GB" sz="1400" dirty="0">
                <a:solidFill>
                  <a:srgbClr val="9E4F90"/>
                </a:solidFill>
              </a:rPr>
              <a:t>        </a:t>
            </a:r>
            <a:br>
              <a:rPr lang="en-GB" sz="1400" dirty="0"/>
            </a:br>
            <a:r>
              <a:rPr lang="en-GB" sz="1400" dirty="0"/>
              <a:t>    </a:t>
            </a:r>
            <a:r>
              <a:rPr lang="en-GB" sz="1400" b="1" dirty="0">
                <a:solidFill>
                  <a:srgbClr val="0A007A"/>
                </a:solidFill>
              </a:rPr>
              <a:t>def</a:t>
            </a:r>
            <a:r>
              <a:rPr lang="en-GB" sz="1400" b="1" dirty="0"/>
              <a:t> </a:t>
            </a:r>
            <a:r>
              <a:rPr lang="en-GB" sz="1400" dirty="0" err="1"/>
              <a:t>get_name</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.__name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err="1"/>
              <a:t>get_age</a:t>
            </a:r>
            <a:r>
              <a:rPr lang="en-GB" sz="1400" dirty="0"/>
              <a:t>(self):</a:t>
            </a:r>
            <a:br>
              <a:rPr lang="en-GB" sz="1400" dirty="0"/>
            </a:br>
            <a:r>
              <a:rPr lang="en-GB" sz="1400" dirty="0"/>
              <a:t>        </a:t>
            </a:r>
            <a:r>
              <a:rPr lang="en-GB" sz="1400" b="1" dirty="0">
                <a:solidFill>
                  <a:srgbClr val="0A007A"/>
                </a:solidFill>
              </a:rPr>
              <a:t>return</a:t>
            </a:r>
            <a:r>
              <a:rPr lang="en-GB" sz="1400" b="1" dirty="0"/>
              <a:t> </a:t>
            </a:r>
            <a:r>
              <a:rPr lang="en-GB" sz="1400" dirty="0" err="1">
                <a:solidFill>
                  <a:srgbClr val="9E4F90"/>
                </a:solidFill>
              </a:rPr>
              <a:t>self</a:t>
            </a:r>
            <a:r>
              <a:rPr lang="en-GB" sz="1400" dirty="0" err="1"/>
              <a:t>.__age</a:t>
            </a:r>
            <a:br>
              <a:rPr lang="en-GB" sz="1400" dirty="0"/>
            </a:br>
            <a:br>
              <a:rPr lang="en-GB" sz="1400" dirty="0"/>
            </a:br>
            <a:r>
              <a:rPr lang="en-GB" sz="1400"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err="1">
                <a:solidFill>
                  <a:srgbClr val="008180"/>
                </a:solidFill>
              </a:rPr>
              <a:t>f'the</a:t>
            </a:r>
            <a:r>
              <a:rPr lang="en-GB" sz="1400" dirty="0">
                <a:solidFill>
                  <a:srgbClr val="008180"/>
                </a:solidFill>
              </a:rPr>
              <a:t> Animal name is: </a:t>
            </a:r>
            <a:r>
              <a:rPr lang="en-GB" sz="1400" dirty="0"/>
              <a:t>{</a:t>
            </a:r>
            <a:r>
              <a:rPr lang="en-GB" sz="1400" dirty="0" err="1">
                <a:solidFill>
                  <a:srgbClr val="9E4F90"/>
                </a:solidFill>
              </a:rPr>
              <a:t>self</a:t>
            </a:r>
            <a:r>
              <a:rPr lang="en-GB" sz="1400" dirty="0" err="1"/>
              <a:t>.__name</a:t>
            </a:r>
            <a:r>
              <a:rPr lang="en-GB" sz="1400" dirty="0"/>
              <a:t>} </a:t>
            </a:r>
            <a:r>
              <a:rPr lang="en-GB" sz="1400" dirty="0">
                <a:solidFill>
                  <a:srgbClr val="008180"/>
                </a:solidFill>
              </a:rPr>
              <a:t>and he is: </a:t>
            </a:r>
            <a:r>
              <a:rPr lang="en-GB" sz="1400" dirty="0"/>
              <a:t>{</a:t>
            </a:r>
            <a:r>
              <a:rPr lang="en-GB" sz="1400" dirty="0" err="1">
                <a:solidFill>
                  <a:srgbClr val="9E4F90"/>
                </a:solidFill>
              </a:rPr>
              <a:t>self</a:t>
            </a:r>
            <a:r>
              <a:rPr lang="en-GB" sz="1400" dirty="0" err="1"/>
              <a:t>.__age</a:t>
            </a:r>
            <a:r>
              <a:rPr lang="en-GB" sz="1400" dirty="0"/>
              <a:t>} </a:t>
            </a:r>
            <a:r>
              <a:rPr lang="en-GB" sz="1400" dirty="0">
                <a:solidFill>
                  <a:srgbClr val="008180"/>
                </a:solidFill>
              </a:rPr>
              <a:t>years old'</a:t>
            </a:r>
            <a:endParaRPr lang="en-US" sz="1400" dirty="0">
              <a:solidFill>
                <a:srgbClr val="008180"/>
              </a:solidFill>
            </a:endParaRPr>
          </a:p>
        </p:txBody>
      </p:sp>
      <p:graphicFrame>
        <p:nvGraphicFramePr>
          <p:cNvPr id="6" name="Table 7">
            <a:extLst>
              <a:ext uri="{FF2B5EF4-FFF2-40B4-BE49-F238E27FC236}">
                <a16:creationId xmlns:a16="http://schemas.microsoft.com/office/drawing/2014/main" id="{AF6A9A9E-FF11-FB42-913A-8F1BDAA26C35}"/>
              </a:ext>
            </a:extLst>
          </p:cNvPr>
          <p:cNvGraphicFramePr>
            <a:graphicFrameLocks noGrp="1"/>
          </p:cNvGraphicFramePr>
          <p:nvPr/>
        </p:nvGraphicFramePr>
        <p:xfrm>
          <a:off x="7087402" y="2940729"/>
          <a:ext cx="4266398" cy="2505586"/>
        </p:xfrm>
        <a:graphic>
          <a:graphicData uri="http://schemas.openxmlformats.org/drawingml/2006/table">
            <a:tbl>
              <a:tblPr firstRow="1" bandRow="1">
                <a:tableStyleId>{5C22544A-7EE6-4342-B048-85BDC9FD1C3A}</a:tableStyleId>
              </a:tblPr>
              <a:tblGrid>
                <a:gridCol w="4266398">
                  <a:extLst>
                    <a:ext uri="{9D8B030D-6E8A-4147-A177-3AD203B41FA5}">
                      <a16:colId xmlns:a16="http://schemas.microsoft.com/office/drawing/2014/main" val="381975002"/>
                    </a:ext>
                  </a:extLst>
                </a:gridCol>
              </a:tblGrid>
              <a:tr h="2505586">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7" name="TextBox 6">
            <a:extLst>
              <a:ext uri="{FF2B5EF4-FFF2-40B4-BE49-F238E27FC236}">
                <a16:creationId xmlns:a16="http://schemas.microsoft.com/office/drawing/2014/main" id="{CBFF8CDD-F156-A744-82D1-35EAD26FB6FB}"/>
              </a:ext>
            </a:extLst>
          </p:cNvPr>
          <p:cNvSpPr txBox="1"/>
          <p:nvPr/>
        </p:nvSpPr>
        <p:spPr>
          <a:xfrm>
            <a:off x="7232546" y="2984102"/>
            <a:ext cx="3236335" cy="2462213"/>
          </a:xfrm>
          <a:prstGeom prst="rect">
            <a:avLst/>
          </a:prstGeom>
          <a:noFill/>
        </p:spPr>
        <p:txBody>
          <a:bodyPr wrap="none" rtlCol="0">
            <a:spAutoFit/>
          </a:bodyPr>
          <a:lstStyle/>
          <a:p>
            <a:r>
              <a:rPr lang="en-GB" sz="1400" b="1" dirty="0">
                <a:solidFill>
                  <a:srgbClr val="0A007A"/>
                </a:solidFill>
              </a:rPr>
              <a:t>class</a:t>
            </a:r>
            <a:r>
              <a:rPr lang="en-GB" sz="1400" b="1" dirty="0"/>
              <a:t> </a:t>
            </a:r>
            <a:r>
              <a:rPr lang="en-GB" sz="1400" dirty="0"/>
              <a:t>Cat(Animal):</a:t>
            </a:r>
            <a:br>
              <a:rPr lang="en-GB" sz="1400" b="1" dirty="0"/>
            </a:br>
            <a:r>
              <a:rPr lang="en-GB" sz="1400" b="1" dirty="0"/>
              <a:t>    </a:t>
            </a:r>
          </a:p>
          <a:p>
            <a:r>
              <a:rPr lang="en-GB" sz="1400" b="1" dirty="0"/>
              <a:t>    </a:t>
            </a:r>
            <a:r>
              <a:rPr lang="en-GB" sz="1400" b="1" dirty="0">
                <a:solidFill>
                  <a:srgbClr val="0A007A"/>
                </a:solidFill>
              </a:rPr>
              <a:t>def</a:t>
            </a:r>
            <a:r>
              <a:rPr lang="en-GB" sz="1400" b="1" dirty="0"/>
              <a:t> </a:t>
            </a:r>
            <a:r>
              <a:rPr lang="en-GB" sz="1400" dirty="0">
                <a:solidFill>
                  <a:srgbClr val="C300B8"/>
                </a:solidFill>
              </a:rPr>
              <a:t>__</a:t>
            </a:r>
            <a:r>
              <a:rPr lang="en-GB" sz="1400" dirty="0" err="1">
                <a:solidFill>
                  <a:srgbClr val="C300B8"/>
                </a:solidFill>
              </a:rPr>
              <a:t>init</a:t>
            </a:r>
            <a:r>
              <a:rPr lang="en-GB" sz="1400" dirty="0">
                <a:solidFill>
                  <a:srgbClr val="C300B8"/>
                </a:solidFill>
              </a:rPr>
              <a:t>__</a:t>
            </a:r>
            <a:r>
              <a:rPr lang="en-GB" sz="1400" dirty="0"/>
              <a:t>(</a:t>
            </a:r>
            <a:r>
              <a:rPr lang="en-GB" sz="1400" dirty="0">
                <a:solidFill>
                  <a:srgbClr val="9E4F90"/>
                </a:solidFill>
              </a:rPr>
              <a:t>self</a:t>
            </a:r>
            <a:r>
              <a:rPr lang="en-GB" sz="1400" dirty="0"/>
              <a:t>, name, age, id):</a:t>
            </a:r>
            <a:br>
              <a:rPr lang="en-GB" sz="1400" dirty="0"/>
            </a:br>
            <a:r>
              <a:rPr lang="en-GB" sz="1400" dirty="0"/>
              <a:t>          </a:t>
            </a:r>
            <a:r>
              <a:rPr lang="en-GB" sz="1400" b="1" dirty="0"/>
              <a:t>super</a:t>
            </a:r>
            <a:r>
              <a:rPr lang="en-GB" sz="1400" dirty="0"/>
              <a:t>().__</a:t>
            </a:r>
            <a:r>
              <a:rPr lang="en-GB" sz="1400" dirty="0" err="1"/>
              <a:t>init</a:t>
            </a:r>
            <a:r>
              <a:rPr lang="en-GB" sz="1400" dirty="0"/>
              <a:t>__(name, age)  </a:t>
            </a:r>
          </a:p>
          <a:p>
            <a:r>
              <a:rPr lang="en-GB" sz="1400" dirty="0">
                <a:solidFill>
                  <a:srgbClr val="9E4F90"/>
                </a:solidFill>
              </a:rPr>
              <a:t>          </a:t>
            </a:r>
            <a:r>
              <a:rPr lang="en-GB" sz="1400" dirty="0" err="1">
                <a:solidFill>
                  <a:srgbClr val="9E4F90"/>
                </a:solidFill>
              </a:rPr>
              <a:t>self</a:t>
            </a:r>
            <a:r>
              <a:rPr lang="en-GB" sz="1400" dirty="0" err="1"/>
              <a:t>.__id</a:t>
            </a:r>
            <a:r>
              <a:rPr lang="en-GB" sz="1400" dirty="0"/>
              <a:t> = id</a:t>
            </a:r>
            <a:br>
              <a:rPr lang="en-GB" sz="1400" i="1" dirty="0"/>
            </a:br>
            <a:br>
              <a:rPr lang="en-GB" sz="1400" i="1" dirty="0"/>
            </a:br>
            <a:r>
              <a:rPr lang="en-GB" sz="1400" i="1" dirty="0"/>
              <a:t>    </a:t>
            </a:r>
            <a:r>
              <a:rPr lang="en-GB" sz="1400" b="1" dirty="0">
                <a:solidFill>
                  <a:srgbClr val="0A007A"/>
                </a:solidFill>
              </a:rPr>
              <a:t>def</a:t>
            </a:r>
            <a:r>
              <a:rPr lang="en-GB" sz="1400" b="1" dirty="0"/>
              <a:t> </a:t>
            </a:r>
            <a:r>
              <a:rPr lang="en-GB" sz="1400" dirty="0"/>
              <a:t>hunts(</a:t>
            </a:r>
            <a:r>
              <a:rPr lang="en-GB" sz="1400" dirty="0">
                <a:solidFill>
                  <a:srgbClr val="9E4F90"/>
                </a:solidFill>
              </a:rPr>
              <a:t>self</a:t>
            </a:r>
            <a:r>
              <a:rPr lang="en-GB" sz="1400" dirty="0"/>
              <a:t>):</a:t>
            </a:r>
            <a:br>
              <a:rPr lang="en-GB" sz="1400" dirty="0"/>
            </a:br>
            <a:r>
              <a:rPr lang="en-GB" sz="1400" dirty="0"/>
              <a:t>        </a:t>
            </a:r>
            <a:r>
              <a:rPr lang="en-GB" sz="1400" b="1" dirty="0">
                <a:solidFill>
                  <a:srgbClr val="0A007A"/>
                </a:solidFill>
              </a:rPr>
              <a:t>return</a:t>
            </a:r>
            <a:r>
              <a:rPr lang="en-GB" sz="1400" b="1" dirty="0"/>
              <a:t> </a:t>
            </a:r>
            <a:r>
              <a:rPr lang="en-GB" sz="1400" dirty="0">
                <a:solidFill>
                  <a:srgbClr val="008180"/>
                </a:solidFill>
              </a:rPr>
              <a:t>f' it is:</a:t>
            </a:r>
            <a:r>
              <a:rPr lang="en-GB" sz="1400" dirty="0"/>
              <a:t> {</a:t>
            </a:r>
            <a:r>
              <a:rPr lang="en-GB" sz="1400" b="1" dirty="0">
                <a:solidFill>
                  <a:srgbClr val="0A007A"/>
                </a:solidFill>
              </a:rPr>
              <a:t>True</a:t>
            </a:r>
            <a:r>
              <a:rPr lang="en-GB" sz="1400" dirty="0"/>
              <a:t>} </a:t>
            </a:r>
            <a:r>
              <a:rPr lang="en-GB" sz="1400" dirty="0">
                <a:solidFill>
                  <a:srgbClr val="008180"/>
                </a:solidFill>
              </a:rPr>
              <a:t>cuts are hunting '</a:t>
            </a:r>
            <a:br>
              <a:rPr lang="en-GB" sz="1400" dirty="0"/>
            </a:br>
            <a:br>
              <a:rPr lang="en-GB" sz="1400" dirty="0"/>
            </a:br>
            <a:r>
              <a:rPr lang="en-GB" sz="1400" b="1" dirty="0"/>
              <a:t>    </a:t>
            </a:r>
            <a:r>
              <a:rPr lang="en-GB" sz="1400" b="1" dirty="0">
                <a:solidFill>
                  <a:srgbClr val="0A007A"/>
                </a:solidFill>
              </a:rPr>
              <a:t>def</a:t>
            </a:r>
            <a:r>
              <a:rPr lang="en-GB" sz="1400" b="1" dirty="0"/>
              <a:t> </a:t>
            </a:r>
            <a:r>
              <a:rPr lang="en-GB" sz="1400" dirty="0">
                <a:solidFill>
                  <a:srgbClr val="C300B8"/>
                </a:solidFill>
              </a:rPr>
              <a:t>__str__</a:t>
            </a:r>
            <a:r>
              <a:rPr lang="en-GB" sz="1400" dirty="0"/>
              <a:t>(</a:t>
            </a:r>
            <a:r>
              <a:rPr lang="en-GB" sz="1400" dirty="0">
                <a:solidFill>
                  <a:srgbClr val="9E4F90"/>
                </a:solidFill>
              </a:rPr>
              <a:t>self</a:t>
            </a:r>
            <a:r>
              <a:rPr lang="en-GB" sz="1400" dirty="0"/>
              <a:t>):</a:t>
            </a:r>
            <a:br>
              <a:rPr lang="en-GB" sz="1400" dirty="0"/>
            </a:br>
            <a:r>
              <a:rPr lang="en-GB" sz="1400" dirty="0"/>
              <a:t>        </a:t>
            </a:r>
            <a:r>
              <a:rPr lang="en-GB" sz="1400" b="1" dirty="0"/>
              <a:t>return </a:t>
            </a:r>
            <a:r>
              <a:rPr lang="en-GB" sz="1400" dirty="0"/>
              <a:t>super().</a:t>
            </a:r>
            <a:r>
              <a:rPr lang="en-GB" sz="1400" dirty="0">
                <a:solidFill>
                  <a:srgbClr val="C300B8"/>
                </a:solidFill>
              </a:rPr>
              <a:t>__str__</a:t>
            </a:r>
            <a:r>
              <a:rPr lang="en-GB" sz="1400" dirty="0"/>
              <a:t>() + </a:t>
            </a:r>
            <a:r>
              <a:rPr lang="en-GB" sz="1400" dirty="0" err="1">
                <a:solidFill>
                  <a:srgbClr val="9E4F90"/>
                </a:solidFill>
              </a:rPr>
              <a:t>self</a:t>
            </a:r>
            <a:r>
              <a:rPr lang="en-GB" sz="1400" dirty="0" err="1"/>
              <a:t>.hunts</a:t>
            </a:r>
            <a:r>
              <a:rPr lang="en-GB" sz="1400" dirty="0"/>
              <a:t>()</a:t>
            </a:r>
            <a:endParaRPr lang="en-US" sz="1400" dirty="0"/>
          </a:p>
        </p:txBody>
      </p:sp>
      <p:sp>
        <p:nvSpPr>
          <p:cNvPr id="8" name="Rounded Rectangle 7">
            <a:extLst>
              <a:ext uri="{FF2B5EF4-FFF2-40B4-BE49-F238E27FC236}">
                <a16:creationId xmlns:a16="http://schemas.microsoft.com/office/drawing/2014/main" id="{0DDC63FF-02EF-1840-9932-32C485F01888}"/>
              </a:ext>
            </a:extLst>
          </p:cNvPr>
          <p:cNvSpPr/>
          <p:nvPr/>
        </p:nvSpPr>
        <p:spPr>
          <a:xfrm>
            <a:off x="308833" y="5263418"/>
            <a:ext cx="5725086" cy="702920"/>
          </a:xfrm>
          <a:prstGeom prst="roundRect">
            <a:avLst/>
          </a:prstGeom>
          <a:solidFill>
            <a:schemeClr val="accent3">
              <a:alpha val="21000"/>
            </a:schemeClr>
          </a:solidFill>
          <a:ln>
            <a:solidFill>
              <a:schemeClr val="accent3">
                <a:shade val="50000"/>
                <a:alpha val="8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C6CC140-8382-0948-A04E-896207B78EE5}"/>
              </a:ext>
            </a:extLst>
          </p:cNvPr>
          <p:cNvSpPr/>
          <p:nvPr/>
        </p:nvSpPr>
        <p:spPr>
          <a:xfrm>
            <a:off x="7087402" y="4667871"/>
            <a:ext cx="4266398" cy="762512"/>
          </a:xfrm>
          <a:prstGeom prst="roundRect">
            <a:avLst/>
          </a:prstGeom>
          <a:solidFill>
            <a:schemeClr val="accent3">
              <a:alpha val="21000"/>
            </a:schemeClr>
          </a:solidFill>
          <a:ln>
            <a:solidFill>
              <a:schemeClr val="accent3">
                <a:shade val="50000"/>
                <a:alpha val="8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1015CF5-7C62-5244-BBB8-C61E9B65F50B}"/>
              </a:ext>
            </a:extLst>
          </p:cNvPr>
          <p:cNvCxnSpPr>
            <a:cxnSpLocks/>
          </p:cNvCxnSpPr>
          <p:nvPr/>
        </p:nvCxnSpPr>
        <p:spPr>
          <a:xfrm flipV="1">
            <a:off x="6083921" y="5241597"/>
            <a:ext cx="1173871" cy="37328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970240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45A7-8E4C-4340-A3F9-B782F250CC2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The object Class </a:t>
            </a:r>
          </a:p>
        </p:txBody>
      </p:sp>
      <p:sp>
        <p:nvSpPr>
          <p:cNvPr id="3" name="Content Placeholder 2">
            <a:extLst>
              <a:ext uri="{FF2B5EF4-FFF2-40B4-BE49-F238E27FC236}">
                <a16:creationId xmlns:a16="http://schemas.microsoft.com/office/drawing/2014/main" id="{F4EBC88D-D241-EB47-9B53-DD9276F965AE}"/>
              </a:ext>
            </a:extLst>
          </p:cNvPr>
          <p:cNvSpPr>
            <a:spLocks noGrp="1"/>
          </p:cNvSpPr>
          <p:nvPr>
            <p:ph idx="1"/>
          </p:nvPr>
        </p:nvSpPr>
        <p:spPr/>
        <p:txBody>
          <a:bodyPr>
            <a:normAutofit/>
          </a:bodyPr>
          <a:lstStyle/>
          <a:p>
            <a:r>
              <a:rPr lang="en-GB" sz="2400" dirty="0"/>
              <a:t>Every class in Python is descended from the object class.</a:t>
            </a:r>
          </a:p>
          <a:p>
            <a:r>
              <a:rPr lang="en-GB" sz="2400" dirty="0"/>
              <a:t>The object  class is defined in the Python library. If no inheritance is specified when a class is defined, its superclass is object  by default. </a:t>
            </a:r>
          </a:p>
          <a:p>
            <a:endParaRPr lang="en-GB" sz="2400" dirty="0"/>
          </a:p>
          <a:p>
            <a:pPr lvl="1"/>
            <a:r>
              <a:rPr lang="en-GB" sz="2000" dirty="0"/>
              <a:t> The </a:t>
            </a:r>
            <a:r>
              <a:rPr lang="en-GB" sz="2000" dirty="0">
                <a:solidFill>
                  <a:srgbClr val="C300B8"/>
                </a:solidFill>
              </a:rPr>
              <a:t>__new__()  </a:t>
            </a:r>
            <a:r>
              <a:rPr lang="en-GB" sz="2000" dirty="0"/>
              <a:t>method is automatically invoked when an object is constructed.</a:t>
            </a:r>
          </a:p>
          <a:p>
            <a:pPr lvl="1"/>
            <a:endParaRPr lang="en-GB" sz="2000" dirty="0"/>
          </a:p>
          <a:p>
            <a:pPr lvl="1"/>
            <a:r>
              <a:rPr lang="en-GB" sz="2000" dirty="0"/>
              <a:t>This method then invokes the </a:t>
            </a:r>
            <a:r>
              <a:rPr lang="en-GB" sz="2000" dirty="0">
                <a:solidFill>
                  <a:srgbClr val="C300B8"/>
                </a:solidFill>
              </a:rPr>
              <a:t>__</a:t>
            </a:r>
            <a:r>
              <a:rPr lang="en-GB" sz="2000" dirty="0" err="1">
                <a:solidFill>
                  <a:srgbClr val="C300B8"/>
                </a:solidFill>
              </a:rPr>
              <a:t>init</a:t>
            </a:r>
            <a:r>
              <a:rPr lang="en-GB" sz="2000" dirty="0">
                <a:solidFill>
                  <a:srgbClr val="C300B8"/>
                </a:solidFill>
              </a:rPr>
              <a:t>__()  </a:t>
            </a:r>
            <a:r>
              <a:rPr lang="en-GB" sz="2000" dirty="0"/>
              <a:t>method to initialize the object. </a:t>
            </a:r>
            <a:r>
              <a:rPr lang="en-GB" sz="1400" dirty="0"/>
              <a:t>Normally we only override the </a:t>
            </a:r>
            <a:r>
              <a:rPr lang="en-GB" sz="1400" dirty="0">
                <a:solidFill>
                  <a:srgbClr val="C300B8"/>
                </a:solidFill>
              </a:rPr>
              <a:t>__</a:t>
            </a:r>
            <a:r>
              <a:rPr lang="en-GB" sz="1400" dirty="0" err="1">
                <a:solidFill>
                  <a:srgbClr val="C300B8"/>
                </a:solidFill>
              </a:rPr>
              <a:t>init</a:t>
            </a:r>
            <a:r>
              <a:rPr lang="en-GB" sz="1400" dirty="0">
                <a:solidFill>
                  <a:srgbClr val="C300B8"/>
                </a:solidFill>
              </a:rPr>
              <a:t>__()  </a:t>
            </a:r>
            <a:r>
              <a:rPr lang="en-GB" sz="1400" dirty="0"/>
              <a:t>method to initialize the data fields defined in the new class.</a:t>
            </a:r>
          </a:p>
          <a:p>
            <a:pPr marL="457200" lvl="1" indent="0">
              <a:buNone/>
            </a:pPr>
            <a:endParaRPr lang="en-GB" sz="1400" dirty="0"/>
          </a:p>
          <a:p>
            <a:pPr lvl="1"/>
            <a:r>
              <a:rPr lang="en-GB" sz="2000" dirty="0"/>
              <a:t>The </a:t>
            </a:r>
            <a:r>
              <a:rPr lang="en-GB" sz="2000" dirty="0">
                <a:solidFill>
                  <a:srgbClr val="C300B8"/>
                </a:solidFill>
              </a:rPr>
              <a:t>__str__()  </a:t>
            </a:r>
            <a:r>
              <a:rPr lang="en-GB" sz="2000" dirty="0"/>
              <a:t>method returns a string description/representation for the object</a:t>
            </a:r>
          </a:p>
          <a:p>
            <a:endParaRPr lang="en-GB" sz="2400" dirty="0"/>
          </a:p>
          <a:p>
            <a:endParaRPr lang="en-US" sz="2400" dirty="0"/>
          </a:p>
        </p:txBody>
      </p:sp>
      <p:cxnSp>
        <p:nvCxnSpPr>
          <p:cNvPr id="4" name="Straight Connector 3">
            <a:extLst>
              <a:ext uri="{FF2B5EF4-FFF2-40B4-BE49-F238E27FC236}">
                <a16:creationId xmlns:a16="http://schemas.microsoft.com/office/drawing/2014/main" id="{FE642751-9005-BD8D-B356-B4672FF1AC0A}"/>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3085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94AC-0A93-E64F-863D-098802F10029}"/>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Activity</a:t>
            </a:r>
            <a:endParaRPr lang="en-US" dirty="0"/>
          </a:p>
        </p:txBody>
      </p:sp>
      <p:sp>
        <p:nvSpPr>
          <p:cNvPr id="15" name="TextBox 14">
            <a:extLst>
              <a:ext uri="{FF2B5EF4-FFF2-40B4-BE49-F238E27FC236}">
                <a16:creationId xmlns:a16="http://schemas.microsoft.com/office/drawing/2014/main" id="{D26326CF-D252-D543-853C-D7C57E169D64}"/>
              </a:ext>
            </a:extLst>
          </p:cNvPr>
          <p:cNvSpPr txBox="1"/>
          <p:nvPr/>
        </p:nvSpPr>
        <p:spPr>
          <a:xfrm>
            <a:off x="622204" y="1275189"/>
            <a:ext cx="10694081" cy="830997"/>
          </a:xfrm>
          <a:prstGeom prst="rect">
            <a:avLst/>
          </a:prstGeom>
          <a:noFill/>
        </p:spPr>
        <p:txBody>
          <a:bodyPr wrap="none" rtlCol="0">
            <a:spAutoFit/>
          </a:bodyPr>
          <a:lstStyle/>
          <a:p>
            <a:r>
              <a:rPr lang="en-US" sz="2400" dirty="0"/>
              <a:t>Create a superclass name of </a:t>
            </a:r>
            <a:r>
              <a:rPr lang="en-US" sz="2400" b="1" dirty="0"/>
              <a:t>Vehicle</a:t>
            </a:r>
            <a:r>
              <a:rPr lang="en-US" sz="2400" dirty="0"/>
              <a:t> and two subclasses names of: </a:t>
            </a:r>
          </a:p>
          <a:p>
            <a:r>
              <a:rPr lang="en-US" sz="2400" dirty="0"/>
              <a:t>							</a:t>
            </a:r>
            <a:r>
              <a:rPr lang="en-US" sz="2400" b="1" dirty="0"/>
              <a:t>Car</a:t>
            </a:r>
            <a:r>
              <a:rPr lang="en-US" sz="2400" dirty="0"/>
              <a:t> and </a:t>
            </a:r>
            <a:r>
              <a:rPr lang="en-US" sz="2400" b="1" dirty="0"/>
              <a:t>Bus</a:t>
            </a:r>
            <a:r>
              <a:rPr lang="en-US" sz="2400" dirty="0"/>
              <a:t> as the UML diagram</a:t>
            </a:r>
          </a:p>
        </p:txBody>
      </p:sp>
      <p:pic>
        <p:nvPicPr>
          <p:cNvPr id="4" name="Picture 3" descr="Diagram&#10;&#10;Description automatically generated">
            <a:extLst>
              <a:ext uri="{FF2B5EF4-FFF2-40B4-BE49-F238E27FC236}">
                <a16:creationId xmlns:a16="http://schemas.microsoft.com/office/drawing/2014/main" id="{533230F9-1034-9542-BE3A-F03A7FCE783B}"/>
              </a:ext>
            </a:extLst>
          </p:cNvPr>
          <p:cNvPicPr>
            <a:picLocks noChangeAspect="1"/>
          </p:cNvPicPr>
          <p:nvPr/>
        </p:nvPicPr>
        <p:blipFill>
          <a:blip r:embed="rId2"/>
          <a:stretch>
            <a:fillRect/>
          </a:stretch>
        </p:blipFill>
        <p:spPr>
          <a:xfrm>
            <a:off x="3351530" y="2417872"/>
            <a:ext cx="5488940" cy="3353123"/>
          </a:xfrm>
          <a:prstGeom prst="rect">
            <a:avLst/>
          </a:prstGeom>
        </p:spPr>
      </p:pic>
      <p:sp>
        <p:nvSpPr>
          <p:cNvPr id="18" name="TextBox 17">
            <a:extLst>
              <a:ext uri="{FF2B5EF4-FFF2-40B4-BE49-F238E27FC236}">
                <a16:creationId xmlns:a16="http://schemas.microsoft.com/office/drawing/2014/main" id="{D483B07F-C949-8C4C-8772-99BDFB4CE82C}"/>
              </a:ext>
            </a:extLst>
          </p:cNvPr>
          <p:cNvSpPr txBox="1"/>
          <p:nvPr/>
        </p:nvSpPr>
        <p:spPr>
          <a:xfrm>
            <a:off x="838200" y="6031210"/>
            <a:ext cx="7189982" cy="461665"/>
          </a:xfrm>
          <a:prstGeom prst="rect">
            <a:avLst/>
          </a:prstGeom>
          <a:noFill/>
        </p:spPr>
        <p:txBody>
          <a:bodyPr wrap="none" rtlCol="0">
            <a:spAutoFit/>
          </a:bodyPr>
          <a:lstStyle/>
          <a:p>
            <a:r>
              <a:rPr lang="en-GB" sz="2400" dirty="0"/>
              <a:t>Override</a:t>
            </a:r>
            <a:r>
              <a:rPr lang="en-US" sz="2400" dirty="0"/>
              <a:t> the __str__ methods in both of the subclasses</a:t>
            </a:r>
          </a:p>
        </p:txBody>
      </p:sp>
    </p:spTree>
    <p:extLst>
      <p:ext uri="{BB962C8B-B14F-4D97-AF65-F5344CB8AC3E}">
        <p14:creationId xmlns:p14="http://schemas.microsoft.com/office/powerpoint/2010/main" val="2206355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F2B2-1654-B74C-A1F2-A6E8456AB491}"/>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Check for equality</a:t>
            </a:r>
          </a:p>
        </p:txBody>
      </p:sp>
      <p:sp>
        <p:nvSpPr>
          <p:cNvPr id="3" name="Content Placeholder 2">
            <a:extLst>
              <a:ext uri="{FF2B5EF4-FFF2-40B4-BE49-F238E27FC236}">
                <a16:creationId xmlns:a16="http://schemas.microsoft.com/office/drawing/2014/main" id="{9FFA408D-000E-804A-AA5D-427FAF7CACA8}"/>
              </a:ext>
            </a:extLst>
          </p:cNvPr>
          <p:cNvSpPr>
            <a:spLocks noGrp="1"/>
          </p:cNvSpPr>
          <p:nvPr>
            <p:ph idx="1"/>
          </p:nvPr>
        </p:nvSpPr>
        <p:spPr/>
        <p:txBody>
          <a:bodyPr>
            <a:normAutofit/>
          </a:bodyPr>
          <a:lstStyle/>
          <a:p>
            <a:r>
              <a:rPr lang="en-GB" sz="2400" dirty="0"/>
              <a:t> The </a:t>
            </a:r>
            <a:r>
              <a:rPr lang="en-GB" sz="2400" dirty="0">
                <a:solidFill>
                  <a:srgbClr val="C300B8"/>
                </a:solidFill>
              </a:rPr>
              <a:t>__</a:t>
            </a:r>
            <a:r>
              <a:rPr lang="en-GB" sz="2400" dirty="0" err="1">
                <a:solidFill>
                  <a:srgbClr val="C300B8"/>
                </a:solidFill>
              </a:rPr>
              <a:t>eq</a:t>
            </a:r>
            <a:r>
              <a:rPr lang="en-GB" sz="2400" dirty="0">
                <a:solidFill>
                  <a:srgbClr val="C300B8"/>
                </a:solidFill>
              </a:rPr>
              <a:t>__</a:t>
            </a:r>
            <a:r>
              <a:rPr lang="en-GB" sz="2400" dirty="0">
                <a:solidFill>
                  <a:schemeClr val="tx1">
                    <a:lumMod val="95000"/>
                    <a:lumOff val="5000"/>
                  </a:schemeClr>
                </a:solidFill>
              </a:rPr>
              <a:t>(</a:t>
            </a:r>
            <a:r>
              <a:rPr lang="en-GB" sz="2400" dirty="0"/>
              <a:t>other)  method returns </a:t>
            </a:r>
            <a:r>
              <a:rPr lang="en-GB" sz="2400" b="1" dirty="0">
                <a:solidFill>
                  <a:srgbClr val="0A007A"/>
                </a:solidFill>
              </a:rPr>
              <a:t>True</a:t>
            </a:r>
            <a:r>
              <a:rPr lang="en-GB" sz="2400" dirty="0"/>
              <a:t>  if two objects are the same. </a:t>
            </a:r>
          </a:p>
          <a:p>
            <a:r>
              <a:rPr lang="en-GB" sz="2400" dirty="0"/>
              <a:t>You can override this method to return </a:t>
            </a:r>
            <a:r>
              <a:rPr lang="en-GB" sz="2400" b="1" dirty="0">
                <a:solidFill>
                  <a:srgbClr val="0A007A"/>
                </a:solidFill>
              </a:rPr>
              <a:t>True</a:t>
            </a:r>
            <a:r>
              <a:rPr lang="en-GB" sz="2400" dirty="0"/>
              <a:t>  if two objects have the same contents. </a:t>
            </a:r>
          </a:p>
          <a:p>
            <a:r>
              <a:rPr lang="en-GB" sz="2400" dirty="0"/>
              <a:t>The </a:t>
            </a:r>
            <a:r>
              <a:rPr lang="en-GB" sz="2400" dirty="0">
                <a:solidFill>
                  <a:srgbClr val="C300B8"/>
                </a:solidFill>
              </a:rPr>
              <a:t>__</a:t>
            </a:r>
            <a:r>
              <a:rPr lang="en-GB" sz="2400" dirty="0" err="1">
                <a:solidFill>
                  <a:srgbClr val="C300B8"/>
                </a:solidFill>
              </a:rPr>
              <a:t>eq</a:t>
            </a:r>
            <a:r>
              <a:rPr lang="en-GB" sz="2400" dirty="0">
                <a:solidFill>
                  <a:srgbClr val="C300B8"/>
                </a:solidFill>
              </a:rPr>
              <a:t>__  </a:t>
            </a:r>
            <a:r>
              <a:rPr lang="en-GB" sz="2400" dirty="0"/>
              <a:t>method is overridden in many Python built-in classes such as int , float , bool , string , and list  to return </a:t>
            </a:r>
            <a:r>
              <a:rPr lang="en-GB" sz="2400" b="1" dirty="0">
                <a:solidFill>
                  <a:srgbClr val="0A007A"/>
                </a:solidFill>
              </a:rPr>
              <a:t>True</a:t>
            </a:r>
            <a:r>
              <a:rPr lang="en-GB" sz="2400" dirty="0"/>
              <a:t>  if two objects have the same contents.</a:t>
            </a:r>
          </a:p>
          <a:p>
            <a:endParaRPr lang="en-US" sz="2400" dirty="0"/>
          </a:p>
        </p:txBody>
      </p:sp>
      <p:sp>
        <p:nvSpPr>
          <p:cNvPr id="4" name="TextBox 3">
            <a:extLst>
              <a:ext uri="{FF2B5EF4-FFF2-40B4-BE49-F238E27FC236}">
                <a16:creationId xmlns:a16="http://schemas.microsoft.com/office/drawing/2014/main" id="{523B8FD6-BF83-0A44-8EA6-286CF2DB35C4}"/>
              </a:ext>
            </a:extLst>
          </p:cNvPr>
          <p:cNvSpPr txBox="1"/>
          <p:nvPr/>
        </p:nvSpPr>
        <p:spPr>
          <a:xfrm>
            <a:off x="4668279" y="5569545"/>
            <a:ext cx="3376565" cy="923330"/>
          </a:xfrm>
          <a:prstGeom prst="rect">
            <a:avLst/>
          </a:prstGeom>
          <a:noFill/>
        </p:spPr>
        <p:txBody>
          <a:bodyPr wrap="none" rtlCol="0">
            <a:spAutoFit/>
          </a:bodyPr>
          <a:lstStyle/>
          <a:p>
            <a:r>
              <a:rPr lang="en-GB" b="1" dirty="0"/>
              <a:t>def </a:t>
            </a:r>
            <a:r>
              <a:rPr lang="en-GB" dirty="0">
                <a:solidFill>
                  <a:srgbClr val="C300B8"/>
                </a:solidFill>
              </a:rPr>
              <a:t>__</a:t>
            </a:r>
            <a:r>
              <a:rPr lang="en-GB" dirty="0" err="1">
                <a:solidFill>
                  <a:srgbClr val="C300B8"/>
                </a:solidFill>
              </a:rPr>
              <a:t>eq</a:t>
            </a:r>
            <a:r>
              <a:rPr lang="en-GB" dirty="0">
                <a:solidFill>
                  <a:srgbClr val="C300B8"/>
                </a:solidFill>
              </a:rPr>
              <a:t>__</a:t>
            </a:r>
            <a:r>
              <a:rPr lang="en-GB" dirty="0">
                <a:solidFill>
                  <a:schemeClr val="tx1">
                    <a:lumMod val="95000"/>
                    <a:lumOff val="5000"/>
                  </a:schemeClr>
                </a:solidFill>
              </a:rPr>
              <a:t>(</a:t>
            </a:r>
            <a:r>
              <a:rPr lang="en-GB" dirty="0"/>
              <a:t>self, c):</a:t>
            </a:r>
            <a:br>
              <a:rPr lang="en-GB" dirty="0"/>
            </a:br>
            <a:r>
              <a:rPr lang="en-GB" dirty="0"/>
              <a:t>    </a:t>
            </a:r>
            <a:r>
              <a:rPr lang="en-GB" b="1" dirty="0"/>
              <a:t>if </a:t>
            </a:r>
            <a:r>
              <a:rPr lang="en-GB" dirty="0"/>
              <a:t>super().</a:t>
            </a:r>
            <a:r>
              <a:rPr lang="en-GB" dirty="0" err="1"/>
              <a:t>get_ID</a:t>
            </a:r>
            <a:r>
              <a:rPr lang="en-GB" dirty="0"/>
              <a:t>() == </a:t>
            </a:r>
            <a:r>
              <a:rPr lang="en-GB" dirty="0" err="1"/>
              <a:t>c.get_ID</a:t>
            </a:r>
            <a:r>
              <a:rPr lang="en-GB" dirty="0"/>
              <a:t>():</a:t>
            </a:r>
            <a:br>
              <a:rPr lang="en-GB" dirty="0"/>
            </a:br>
            <a:r>
              <a:rPr lang="en-GB" dirty="0"/>
              <a:t>        </a:t>
            </a:r>
            <a:r>
              <a:rPr lang="en-GB" b="1" dirty="0"/>
              <a:t>return True</a:t>
            </a:r>
            <a:endParaRPr lang="en-US" dirty="0"/>
          </a:p>
        </p:txBody>
      </p:sp>
      <p:sp>
        <p:nvSpPr>
          <p:cNvPr id="5" name="TextBox 4">
            <a:extLst>
              <a:ext uri="{FF2B5EF4-FFF2-40B4-BE49-F238E27FC236}">
                <a16:creationId xmlns:a16="http://schemas.microsoft.com/office/drawing/2014/main" id="{512F6D3F-76C5-3C42-BDD2-E45DCA281A21}"/>
              </a:ext>
            </a:extLst>
          </p:cNvPr>
          <p:cNvSpPr txBox="1"/>
          <p:nvPr/>
        </p:nvSpPr>
        <p:spPr>
          <a:xfrm>
            <a:off x="3976914" y="5200213"/>
            <a:ext cx="1039708" cy="369332"/>
          </a:xfrm>
          <a:prstGeom prst="rect">
            <a:avLst/>
          </a:prstGeom>
          <a:noFill/>
        </p:spPr>
        <p:txBody>
          <a:bodyPr wrap="none" rtlCol="0">
            <a:spAutoFit/>
          </a:bodyPr>
          <a:lstStyle/>
          <a:p>
            <a:r>
              <a:rPr lang="en-US" dirty="0">
                <a:solidFill>
                  <a:schemeClr val="bg1">
                    <a:lumMod val="50000"/>
                  </a:schemeClr>
                </a:solidFill>
              </a:rPr>
              <a:t>Example:</a:t>
            </a:r>
          </a:p>
        </p:txBody>
      </p:sp>
      <p:sp>
        <p:nvSpPr>
          <p:cNvPr id="6" name="TextBox 5">
            <a:extLst>
              <a:ext uri="{FF2B5EF4-FFF2-40B4-BE49-F238E27FC236}">
                <a16:creationId xmlns:a16="http://schemas.microsoft.com/office/drawing/2014/main" id="{AD4AEAC8-6F82-9140-938E-463FCF6B0B52}"/>
              </a:ext>
            </a:extLst>
          </p:cNvPr>
          <p:cNvSpPr txBox="1"/>
          <p:nvPr/>
        </p:nvSpPr>
        <p:spPr>
          <a:xfrm>
            <a:off x="9026002" y="6551714"/>
            <a:ext cx="2848921" cy="369332"/>
          </a:xfrm>
          <a:prstGeom prst="rect">
            <a:avLst/>
          </a:prstGeom>
          <a:noFill/>
        </p:spPr>
        <p:txBody>
          <a:bodyPr wrap="none" rtlCol="0">
            <a:spAutoFit/>
          </a:bodyPr>
          <a:lstStyle/>
          <a:p>
            <a:r>
              <a:rPr lang="en-US" dirty="0"/>
              <a:t>full code example on GitHub</a:t>
            </a:r>
          </a:p>
        </p:txBody>
      </p:sp>
      <p:cxnSp>
        <p:nvCxnSpPr>
          <p:cNvPr id="7" name="Straight Connector 6">
            <a:extLst>
              <a:ext uri="{FF2B5EF4-FFF2-40B4-BE49-F238E27FC236}">
                <a16:creationId xmlns:a16="http://schemas.microsoft.com/office/drawing/2014/main" id="{C8145F31-7645-A3C7-2B5F-7FD583BC61A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6792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3A767803-D5F5-3545-A12C-DF8ECF488AB4}"/>
              </a:ext>
            </a:extLst>
          </p:cNvPr>
          <p:cNvGraphicFramePr>
            <a:graphicFrameLocks noGrp="1"/>
          </p:cNvGraphicFramePr>
          <p:nvPr/>
        </p:nvGraphicFramePr>
        <p:xfrm>
          <a:off x="3794571" y="2330062"/>
          <a:ext cx="4231830" cy="4527938"/>
        </p:xfrm>
        <a:graphic>
          <a:graphicData uri="http://schemas.openxmlformats.org/drawingml/2006/table">
            <a:tbl>
              <a:tblPr firstRow="1" bandRow="1">
                <a:tableStyleId>{5C22544A-7EE6-4342-B048-85BDC9FD1C3A}</a:tableStyleId>
              </a:tblPr>
              <a:tblGrid>
                <a:gridCol w="4231830">
                  <a:extLst>
                    <a:ext uri="{9D8B030D-6E8A-4147-A177-3AD203B41FA5}">
                      <a16:colId xmlns:a16="http://schemas.microsoft.com/office/drawing/2014/main" val="381975002"/>
                    </a:ext>
                  </a:extLst>
                </a:gridCol>
              </a:tblGrid>
              <a:tr h="452793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7AEACE18-0282-ED47-A7C5-ED8CE9485FFB}"/>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Polymorphism</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46DE5AA-F731-9E4A-8EC3-72DB2EEC3492}"/>
              </a:ext>
            </a:extLst>
          </p:cNvPr>
          <p:cNvSpPr>
            <a:spLocks noGrp="1"/>
          </p:cNvSpPr>
          <p:nvPr>
            <p:ph idx="1"/>
          </p:nvPr>
        </p:nvSpPr>
        <p:spPr>
          <a:xfrm>
            <a:off x="652686" y="1492704"/>
            <a:ext cx="10515600" cy="4351338"/>
          </a:xfrm>
        </p:spPr>
        <p:txBody>
          <a:bodyPr/>
          <a:lstStyle/>
          <a:p>
            <a:r>
              <a:rPr lang="en-GB" sz="2400" dirty="0"/>
              <a:t>Polymorphism is the ability of an object to take on many forms. </a:t>
            </a:r>
          </a:p>
          <a:p>
            <a:endParaRPr lang="en-GB" sz="2400" dirty="0"/>
          </a:p>
          <a:p>
            <a:endParaRPr lang="en-US" dirty="0"/>
          </a:p>
        </p:txBody>
      </p:sp>
      <p:sp>
        <p:nvSpPr>
          <p:cNvPr id="4" name="TextBox 3">
            <a:extLst>
              <a:ext uri="{FF2B5EF4-FFF2-40B4-BE49-F238E27FC236}">
                <a16:creationId xmlns:a16="http://schemas.microsoft.com/office/drawing/2014/main" id="{326BBB5C-5A1F-204B-AF6C-30B2B48F53C7}"/>
              </a:ext>
            </a:extLst>
          </p:cNvPr>
          <p:cNvSpPr txBox="1"/>
          <p:nvPr/>
        </p:nvSpPr>
        <p:spPr>
          <a:xfrm>
            <a:off x="4078514" y="2330061"/>
            <a:ext cx="3746538" cy="4801314"/>
          </a:xfrm>
          <a:prstGeom prst="rect">
            <a:avLst/>
          </a:prstGeom>
          <a:noFill/>
        </p:spPr>
        <p:txBody>
          <a:bodyPr wrap="none" rtlCol="0">
            <a:spAutoFit/>
          </a:bodyPr>
          <a:lstStyle/>
          <a:p>
            <a:r>
              <a:rPr lang="en-GB" b="1" dirty="0">
                <a:solidFill>
                  <a:srgbClr val="0A007A"/>
                </a:solidFill>
              </a:rPr>
              <a:t>def</a:t>
            </a:r>
            <a:r>
              <a:rPr lang="en-GB" dirty="0"/>
              <a:t> main():</a:t>
            </a:r>
            <a:br>
              <a:rPr lang="en-GB" dirty="0"/>
            </a:br>
            <a:r>
              <a:rPr lang="en-GB" dirty="0"/>
              <a:t>       </a:t>
            </a:r>
            <a:r>
              <a:rPr lang="en-GB" dirty="0" err="1"/>
              <a:t>vuk</a:t>
            </a:r>
            <a:r>
              <a:rPr lang="en-GB" dirty="0"/>
              <a:t> = Dog(</a:t>
            </a:r>
            <a:r>
              <a:rPr lang="en-GB" dirty="0">
                <a:solidFill>
                  <a:srgbClr val="008180"/>
                </a:solidFill>
              </a:rPr>
              <a:t>'</a:t>
            </a:r>
            <a:r>
              <a:rPr lang="en-GB" dirty="0" err="1">
                <a:solidFill>
                  <a:srgbClr val="008180"/>
                </a:solidFill>
              </a:rPr>
              <a:t>Vuk</a:t>
            </a:r>
            <a:r>
              <a:rPr lang="en-GB" dirty="0">
                <a:solidFill>
                  <a:srgbClr val="008180"/>
                </a:solidFill>
              </a:rPr>
              <a:t>'</a:t>
            </a:r>
            <a:r>
              <a:rPr lang="en-GB" dirty="0"/>
              <a:t>, </a:t>
            </a:r>
            <a:r>
              <a:rPr lang="en-GB" dirty="0">
                <a:solidFill>
                  <a:srgbClr val="2300FF"/>
                </a:solidFill>
              </a:rPr>
              <a:t>5</a:t>
            </a:r>
            <a:r>
              <a:rPr lang="en-GB" dirty="0"/>
              <a:t>,</a:t>
            </a:r>
            <a:r>
              <a:rPr lang="en-GB" dirty="0">
                <a:solidFill>
                  <a:srgbClr val="008180"/>
                </a:solidFill>
              </a:rPr>
              <a:t>'D01'</a:t>
            </a:r>
            <a:r>
              <a:rPr lang="en-GB" dirty="0"/>
              <a:t>)</a:t>
            </a:r>
            <a:br>
              <a:rPr lang="en-GB" dirty="0"/>
            </a:br>
            <a:r>
              <a:rPr lang="en-GB" dirty="0"/>
              <a:t>       princess = Dog(</a:t>
            </a:r>
            <a:r>
              <a:rPr lang="en-GB" dirty="0">
                <a:solidFill>
                  <a:srgbClr val="008180"/>
                </a:solidFill>
              </a:rPr>
              <a:t>'Princess'</a:t>
            </a:r>
            <a:r>
              <a:rPr lang="en-GB" dirty="0"/>
              <a:t>, </a:t>
            </a:r>
            <a:r>
              <a:rPr lang="en-GB" dirty="0">
                <a:solidFill>
                  <a:srgbClr val="2300FF"/>
                </a:solidFill>
              </a:rPr>
              <a:t>2</a:t>
            </a:r>
            <a:r>
              <a:rPr lang="en-GB" dirty="0"/>
              <a:t>, </a:t>
            </a:r>
            <a:r>
              <a:rPr lang="en-GB" dirty="0">
                <a:solidFill>
                  <a:srgbClr val="008180"/>
                </a:solidFill>
              </a:rPr>
              <a:t>'D04'</a:t>
            </a:r>
            <a:r>
              <a:rPr lang="en-GB" dirty="0"/>
              <a:t>)</a:t>
            </a:r>
            <a:br>
              <a:rPr lang="en-GB" dirty="0"/>
            </a:br>
            <a:r>
              <a:rPr lang="en-GB" dirty="0"/>
              <a:t>       rex = Dog(</a:t>
            </a:r>
            <a:r>
              <a:rPr lang="en-GB" dirty="0">
                <a:solidFill>
                  <a:srgbClr val="008180"/>
                </a:solidFill>
              </a:rPr>
              <a:t>‘</a:t>
            </a:r>
            <a:r>
              <a:rPr lang="en-GB" dirty="0" err="1">
                <a:solidFill>
                  <a:srgbClr val="008180"/>
                </a:solidFill>
              </a:rPr>
              <a:t>Rark</a:t>
            </a:r>
            <a:r>
              <a:rPr lang="en-GB" dirty="0">
                <a:solidFill>
                  <a:srgbClr val="008180"/>
                </a:solidFill>
              </a:rPr>
              <a:t>'</a:t>
            </a:r>
            <a:r>
              <a:rPr lang="en-GB" dirty="0"/>
              <a:t>, </a:t>
            </a:r>
            <a:r>
              <a:rPr lang="en-GB" dirty="0">
                <a:solidFill>
                  <a:srgbClr val="2300FF"/>
                </a:solidFill>
              </a:rPr>
              <a:t>4</a:t>
            </a:r>
            <a:r>
              <a:rPr lang="en-GB" dirty="0"/>
              <a:t>, </a:t>
            </a:r>
            <a:r>
              <a:rPr lang="en-GB" dirty="0">
                <a:solidFill>
                  <a:srgbClr val="008180"/>
                </a:solidFill>
              </a:rPr>
              <a:t>'D05'</a:t>
            </a:r>
            <a:r>
              <a:rPr lang="en-GB" dirty="0"/>
              <a:t>)</a:t>
            </a:r>
            <a:br>
              <a:rPr lang="en-GB" dirty="0"/>
            </a:br>
            <a:r>
              <a:rPr lang="en-GB" dirty="0"/>
              <a:t>       lily = Cat(</a:t>
            </a:r>
            <a:r>
              <a:rPr lang="en-GB" dirty="0">
                <a:solidFill>
                  <a:srgbClr val="008180"/>
                </a:solidFill>
              </a:rPr>
              <a:t>‘Lily'</a:t>
            </a:r>
            <a:r>
              <a:rPr lang="en-GB" dirty="0"/>
              <a:t>,</a:t>
            </a:r>
            <a:r>
              <a:rPr lang="en-GB" dirty="0">
                <a:solidFill>
                  <a:srgbClr val="2300FF"/>
                </a:solidFill>
              </a:rPr>
              <a:t>2</a:t>
            </a:r>
            <a:r>
              <a:rPr lang="en-GB" dirty="0"/>
              <a:t>,</a:t>
            </a:r>
            <a:r>
              <a:rPr lang="en-GB" dirty="0">
                <a:solidFill>
                  <a:srgbClr val="008180"/>
                </a:solidFill>
              </a:rPr>
              <a:t>'C01'</a:t>
            </a:r>
            <a:r>
              <a:rPr lang="en-GB" dirty="0"/>
              <a:t>)</a:t>
            </a:r>
            <a:br>
              <a:rPr lang="en-GB" dirty="0"/>
            </a:br>
            <a:r>
              <a:rPr lang="en-GB" dirty="0"/>
              <a:t>       kitty = Cat(</a:t>
            </a:r>
            <a:r>
              <a:rPr lang="en-GB" dirty="0">
                <a:solidFill>
                  <a:srgbClr val="008180"/>
                </a:solidFill>
              </a:rPr>
              <a:t>Kitty'</a:t>
            </a:r>
            <a:r>
              <a:rPr lang="en-GB" dirty="0"/>
              <a:t>,</a:t>
            </a:r>
            <a:r>
              <a:rPr lang="en-GB" dirty="0">
                <a:solidFill>
                  <a:srgbClr val="2300FF"/>
                </a:solidFill>
              </a:rPr>
              <a:t>1</a:t>
            </a:r>
            <a:r>
              <a:rPr lang="en-GB" dirty="0"/>
              <a:t>, </a:t>
            </a:r>
            <a:r>
              <a:rPr lang="en-GB" dirty="0">
                <a:solidFill>
                  <a:srgbClr val="008180"/>
                </a:solidFill>
              </a:rPr>
              <a:t>'C02’</a:t>
            </a:r>
            <a:r>
              <a:rPr lang="en-GB" dirty="0"/>
              <a:t>)</a:t>
            </a:r>
          </a:p>
          <a:p>
            <a:br>
              <a:rPr lang="en-GB" dirty="0"/>
            </a:br>
            <a:r>
              <a:rPr lang="en-GB" dirty="0"/>
              <a:t>       </a:t>
            </a:r>
            <a:r>
              <a:rPr lang="en-GB" dirty="0" err="1"/>
              <a:t>dogs_list</a:t>
            </a:r>
            <a:r>
              <a:rPr lang="en-GB" dirty="0"/>
              <a:t> = [</a:t>
            </a:r>
            <a:r>
              <a:rPr lang="en-GB" dirty="0" err="1"/>
              <a:t>vuk</a:t>
            </a:r>
            <a:r>
              <a:rPr lang="en-GB" dirty="0"/>
              <a:t>, princess, bark]</a:t>
            </a:r>
            <a:br>
              <a:rPr lang="en-GB" dirty="0"/>
            </a:br>
            <a:r>
              <a:rPr lang="en-GB" dirty="0"/>
              <a:t>       </a:t>
            </a:r>
            <a:r>
              <a:rPr lang="en-GB" dirty="0" err="1"/>
              <a:t>cats_list</a:t>
            </a:r>
            <a:r>
              <a:rPr lang="en-GB" dirty="0"/>
              <a:t> = [lily, kitty]</a:t>
            </a:r>
            <a:br>
              <a:rPr lang="en-GB" dirty="0"/>
            </a:br>
            <a:r>
              <a:rPr lang="en-GB" dirty="0"/>
              <a:t>       animals  = </a:t>
            </a:r>
            <a:r>
              <a:rPr lang="en-GB" dirty="0" err="1"/>
              <a:t>dogs_list</a:t>
            </a:r>
            <a:r>
              <a:rPr lang="en-GB" dirty="0"/>
              <a:t> + </a:t>
            </a:r>
            <a:r>
              <a:rPr lang="en-GB" dirty="0" err="1"/>
              <a:t>cats_list</a:t>
            </a:r>
            <a:br>
              <a:rPr lang="en-GB" dirty="0"/>
            </a:br>
            <a:br>
              <a:rPr lang="en-GB" dirty="0"/>
            </a:br>
            <a:r>
              <a:rPr lang="en-GB" dirty="0"/>
              <a:t>       </a:t>
            </a:r>
            <a:r>
              <a:rPr lang="en-GB" b="1" dirty="0">
                <a:solidFill>
                  <a:srgbClr val="0A007A"/>
                </a:solidFill>
              </a:rPr>
              <a:t>for</a:t>
            </a:r>
            <a:r>
              <a:rPr lang="en-GB" dirty="0"/>
              <a:t> </a:t>
            </a:r>
            <a:r>
              <a:rPr lang="en-GB" dirty="0" err="1"/>
              <a:t>i</a:t>
            </a:r>
            <a:r>
              <a:rPr lang="en-GB" dirty="0"/>
              <a:t> </a:t>
            </a:r>
            <a:r>
              <a:rPr lang="en-GB" b="1" dirty="0">
                <a:solidFill>
                  <a:srgbClr val="0A007A"/>
                </a:solidFill>
              </a:rPr>
              <a:t>in</a:t>
            </a:r>
            <a:r>
              <a:rPr lang="en-GB" dirty="0"/>
              <a:t> animals:</a:t>
            </a:r>
            <a:br>
              <a:rPr lang="en-GB" dirty="0"/>
            </a:br>
            <a:r>
              <a:rPr lang="en-GB" dirty="0"/>
              <a:t>           print(</a:t>
            </a:r>
            <a:r>
              <a:rPr lang="en-GB" dirty="0" err="1"/>
              <a:t>i</a:t>
            </a:r>
            <a:r>
              <a:rPr lang="en-GB" dirty="0"/>
              <a:t>)</a:t>
            </a:r>
            <a:br>
              <a:rPr lang="en-GB" dirty="0"/>
            </a:br>
            <a:br>
              <a:rPr lang="en-GB" dirty="0"/>
            </a:br>
            <a:r>
              <a:rPr lang="en-GB" dirty="0"/>
              <a:t>   </a:t>
            </a:r>
            <a:r>
              <a:rPr lang="en-GB" b="1" dirty="0">
                <a:solidFill>
                  <a:srgbClr val="0A007A"/>
                </a:solidFill>
              </a:rPr>
              <a:t>if</a:t>
            </a:r>
            <a:r>
              <a:rPr lang="en-GB" dirty="0"/>
              <a:t> __name__==</a:t>
            </a:r>
            <a:r>
              <a:rPr lang="en-GB" dirty="0">
                <a:solidFill>
                  <a:srgbClr val="008180"/>
                </a:solidFill>
              </a:rPr>
              <a:t>'__main__’</a:t>
            </a:r>
            <a:r>
              <a:rPr lang="en-GB" dirty="0"/>
              <a:t>:</a:t>
            </a:r>
            <a:br>
              <a:rPr lang="en-GB" dirty="0"/>
            </a:br>
            <a:r>
              <a:rPr lang="en-GB" dirty="0"/>
              <a:t>          main()</a:t>
            </a:r>
            <a:br>
              <a:rPr lang="en-GB" dirty="0"/>
            </a:br>
            <a:endParaRPr lang="en-US" dirty="0"/>
          </a:p>
        </p:txBody>
      </p:sp>
      <p:sp>
        <p:nvSpPr>
          <p:cNvPr id="6" name="Rounded Rectangle 5">
            <a:extLst>
              <a:ext uri="{FF2B5EF4-FFF2-40B4-BE49-F238E27FC236}">
                <a16:creationId xmlns:a16="http://schemas.microsoft.com/office/drawing/2014/main" id="{2D9B1155-AB09-3C40-B9D7-49A251B3D2D8}"/>
              </a:ext>
            </a:extLst>
          </p:cNvPr>
          <p:cNvSpPr/>
          <p:nvPr/>
        </p:nvSpPr>
        <p:spPr>
          <a:xfrm>
            <a:off x="1349829" y="5225143"/>
            <a:ext cx="1901371" cy="702496"/>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r>
              <a:rPr lang="en-GB" b="1" dirty="0"/>
              <a:t>Polymorphic call</a:t>
            </a:r>
          </a:p>
        </p:txBody>
      </p:sp>
      <p:cxnSp>
        <p:nvCxnSpPr>
          <p:cNvPr id="8" name="Straight Arrow Connector 7">
            <a:extLst>
              <a:ext uri="{FF2B5EF4-FFF2-40B4-BE49-F238E27FC236}">
                <a16:creationId xmlns:a16="http://schemas.microsoft.com/office/drawing/2014/main" id="{F439E30B-6303-974A-A8C4-F53EEC46DC9F}"/>
              </a:ext>
            </a:extLst>
          </p:cNvPr>
          <p:cNvCxnSpPr>
            <a:cxnSpLocks/>
          </p:cNvCxnSpPr>
          <p:nvPr/>
        </p:nvCxnSpPr>
        <p:spPr>
          <a:xfrm>
            <a:off x="3251200" y="5646057"/>
            <a:ext cx="1436914" cy="14514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2143EF3F-0B07-C145-AF1E-4D3442FDAFEB}"/>
              </a:ext>
            </a:extLst>
          </p:cNvPr>
          <p:cNvSpPr txBox="1"/>
          <p:nvPr/>
        </p:nvSpPr>
        <p:spPr>
          <a:xfrm>
            <a:off x="9916454" y="5380672"/>
            <a:ext cx="1066318" cy="1477328"/>
          </a:xfrm>
          <a:prstGeom prst="rect">
            <a:avLst/>
          </a:prstGeom>
          <a:noFill/>
        </p:spPr>
        <p:txBody>
          <a:bodyPr wrap="none" rtlCol="0">
            <a:spAutoFit/>
          </a:bodyPr>
          <a:lstStyle/>
          <a:p>
            <a:r>
              <a:rPr lang="en-US" dirty="0">
                <a:solidFill>
                  <a:schemeClr val="bg1">
                    <a:lumMod val="50000"/>
                  </a:schemeClr>
                </a:solidFill>
              </a:rPr>
              <a:t>#</a:t>
            </a:r>
            <a:r>
              <a:rPr lang="en-US" dirty="0" err="1">
                <a:solidFill>
                  <a:schemeClr val="bg1">
                    <a:lumMod val="50000"/>
                  </a:schemeClr>
                </a:solidFill>
              </a:rPr>
              <a:t>Vuk</a:t>
            </a:r>
            <a:endParaRPr lang="en-US" dirty="0">
              <a:solidFill>
                <a:schemeClr val="bg1">
                  <a:lumMod val="50000"/>
                </a:schemeClr>
              </a:solidFill>
            </a:endParaRPr>
          </a:p>
          <a:p>
            <a:r>
              <a:rPr lang="en-US" dirty="0">
                <a:solidFill>
                  <a:schemeClr val="bg1">
                    <a:lumMod val="50000"/>
                  </a:schemeClr>
                </a:solidFill>
              </a:rPr>
              <a:t>#Princess</a:t>
            </a:r>
          </a:p>
          <a:p>
            <a:r>
              <a:rPr lang="en-US" dirty="0">
                <a:solidFill>
                  <a:schemeClr val="bg1">
                    <a:lumMod val="50000"/>
                  </a:schemeClr>
                </a:solidFill>
              </a:rPr>
              <a:t>#Rex</a:t>
            </a:r>
          </a:p>
          <a:p>
            <a:r>
              <a:rPr lang="en-US" dirty="0">
                <a:solidFill>
                  <a:schemeClr val="bg1">
                    <a:lumMod val="50000"/>
                  </a:schemeClr>
                </a:solidFill>
              </a:rPr>
              <a:t>#Lily</a:t>
            </a:r>
          </a:p>
          <a:p>
            <a:r>
              <a:rPr lang="en-US" dirty="0">
                <a:solidFill>
                  <a:schemeClr val="bg1">
                    <a:lumMod val="50000"/>
                  </a:schemeClr>
                </a:solidFill>
              </a:rPr>
              <a:t>#Kitty</a:t>
            </a:r>
          </a:p>
        </p:txBody>
      </p:sp>
      <p:cxnSp>
        <p:nvCxnSpPr>
          <p:cNvPr id="7" name="Straight Connector 6">
            <a:extLst>
              <a:ext uri="{FF2B5EF4-FFF2-40B4-BE49-F238E27FC236}">
                <a16:creationId xmlns:a16="http://schemas.microsoft.com/office/drawing/2014/main" id="{33EEA698-61AB-12D9-C5F4-9C9FE87F4FA4}"/>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538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55A9C7E6-3F63-FC4D-A6B9-5E22AEC5D8DD}"/>
              </a:ext>
            </a:extLst>
          </p:cNvPr>
          <p:cNvGraphicFramePr>
            <a:graphicFrameLocks noGrp="1"/>
          </p:cNvGraphicFramePr>
          <p:nvPr/>
        </p:nvGraphicFramePr>
        <p:xfrm>
          <a:off x="4702628" y="2330062"/>
          <a:ext cx="4231830" cy="4527938"/>
        </p:xfrm>
        <a:graphic>
          <a:graphicData uri="http://schemas.openxmlformats.org/drawingml/2006/table">
            <a:tbl>
              <a:tblPr firstRow="1" bandRow="1">
                <a:tableStyleId>{5C22544A-7EE6-4342-B048-85BDC9FD1C3A}</a:tableStyleId>
              </a:tblPr>
              <a:tblGrid>
                <a:gridCol w="4231830">
                  <a:extLst>
                    <a:ext uri="{9D8B030D-6E8A-4147-A177-3AD203B41FA5}">
                      <a16:colId xmlns:a16="http://schemas.microsoft.com/office/drawing/2014/main" val="381975002"/>
                    </a:ext>
                  </a:extLst>
                </a:gridCol>
              </a:tblGrid>
              <a:tr h="4527938">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314BCB0C-2CF9-AF4F-BA13-94E61B0F2075}"/>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The </a:t>
            </a:r>
            <a:r>
              <a:rPr lang="en-GB" b="1" dirty="0" err="1">
                <a:latin typeface="Arial" panose="020B0604020202020204" pitchFamily="34" charset="0"/>
                <a:cs typeface="Arial" panose="020B0604020202020204" pitchFamily="34" charset="0"/>
              </a:rPr>
              <a:t>isinstance</a:t>
            </a:r>
            <a:r>
              <a:rPr lang="en-GB" b="1" dirty="0">
                <a:latin typeface="Arial" panose="020B0604020202020204" pitchFamily="34" charset="0"/>
                <a:cs typeface="Arial" panose="020B0604020202020204" pitchFamily="34" charset="0"/>
              </a:rPr>
              <a:t> Function</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FDFAD4C-C9AE-0344-8D71-79C4833D6153}"/>
              </a:ext>
            </a:extLst>
          </p:cNvPr>
          <p:cNvSpPr>
            <a:spLocks noGrp="1"/>
          </p:cNvSpPr>
          <p:nvPr>
            <p:ph idx="1"/>
          </p:nvPr>
        </p:nvSpPr>
        <p:spPr/>
        <p:txBody>
          <a:bodyPr/>
          <a:lstStyle/>
          <a:p>
            <a:r>
              <a:rPr lang="en-GB" dirty="0"/>
              <a:t> The </a:t>
            </a:r>
            <a:r>
              <a:rPr lang="en-GB" dirty="0" err="1"/>
              <a:t>isinstance</a:t>
            </a:r>
            <a:r>
              <a:rPr lang="en-GB" dirty="0"/>
              <a:t>  function can be used to determine whether an object is an instance of a class.</a:t>
            </a:r>
          </a:p>
          <a:p>
            <a:endParaRPr lang="en-GB" dirty="0"/>
          </a:p>
          <a:p>
            <a:endParaRPr lang="en-US" dirty="0"/>
          </a:p>
        </p:txBody>
      </p:sp>
      <p:sp>
        <p:nvSpPr>
          <p:cNvPr id="4" name="TextBox 3">
            <a:extLst>
              <a:ext uri="{FF2B5EF4-FFF2-40B4-BE49-F238E27FC236}">
                <a16:creationId xmlns:a16="http://schemas.microsoft.com/office/drawing/2014/main" id="{CA364F3E-5F6A-BD41-AF37-3FF74B017A35}"/>
              </a:ext>
            </a:extLst>
          </p:cNvPr>
          <p:cNvSpPr txBox="1"/>
          <p:nvPr/>
        </p:nvSpPr>
        <p:spPr>
          <a:xfrm>
            <a:off x="4702628" y="2403306"/>
            <a:ext cx="3201517" cy="4278094"/>
          </a:xfrm>
          <a:prstGeom prst="rect">
            <a:avLst/>
          </a:prstGeom>
          <a:noFill/>
        </p:spPr>
        <p:txBody>
          <a:bodyPr wrap="none" rtlCol="0">
            <a:spAutoFit/>
          </a:bodyPr>
          <a:lstStyle/>
          <a:p>
            <a:r>
              <a:rPr lang="en-GB" sz="1600" b="1" dirty="0">
                <a:solidFill>
                  <a:srgbClr val="0A007A"/>
                </a:solidFill>
              </a:rPr>
              <a:t>def</a:t>
            </a:r>
            <a:r>
              <a:rPr lang="en-GB" sz="1600" dirty="0"/>
              <a:t> main():</a:t>
            </a:r>
            <a:br>
              <a:rPr lang="en-GB" sz="1600" dirty="0"/>
            </a:br>
            <a:r>
              <a:rPr lang="en-GB" sz="1600" dirty="0"/>
              <a:t>    </a:t>
            </a:r>
            <a:r>
              <a:rPr lang="en-GB" sz="1600" dirty="0" err="1"/>
              <a:t>vuk</a:t>
            </a:r>
            <a:r>
              <a:rPr lang="en-GB" sz="1600" dirty="0"/>
              <a:t> = Dog(</a:t>
            </a:r>
            <a:r>
              <a:rPr lang="en-GB" sz="1600" dirty="0">
                <a:solidFill>
                  <a:srgbClr val="008180"/>
                </a:solidFill>
              </a:rPr>
              <a:t>'</a:t>
            </a:r>
            <a:r>
              <a:rPr lang="en-GB" sz="1600" dirty="0" err="1">
                <a:solidFill>
                  <a:srgbClr val="008180"/>
                </a:solidFill>
              </a:rPr>
              <a:t>Vuk</a:t>
            </a:r>
            <a:r>
              <a:rPr lang="en-GB" sz="1600" dirty="0">
                <a:solidFill>
                  <a:srgbClr val="008180"/>
                </a:solidFill>
              </a:rPr>
              <a:t>'</a:t>
            </a:r>
            <a:r>
              <a:rPr lang="en-GB" sz="1600" dirty="0"/>
              <a:t>, </a:t>
            </a:r>
            <a:r>
              <a:rPr lang="en-GB" sz="1600" dirty="0">
                <a:solidFill>
                  <a:srgbClr val="2300FF"/>
                </a:solidFill>
              </a:rPr>
              <a:t>5</a:t>
            </a:r>
            <a:r>
              <a:rPr lang="en-GB" sz="1600" dirty="0"/>
              <a:t>,</a:t>
            </a:r>
            <a:r>
              <a:rPr lang="en-GB" sz="1600" dirty="0">
                <a:solidFill>
                  <a:srgbClr val="008180"/>
                </a:solidFill>
              </a:rPr>
              <a:t>'D01'</a:t>
            </a:r>
            <a:r>
              <a:rPr lang="en-GB" sz="1600" dirty="0"/>
              <a:t>)</a:t>
            </a:r>
            <a:br>
              <a:rPr lang="en-GB" sz="1600" dirty="0"/>
            </a:br>
            <a:r>
              <a:rPr lang="en-GB" sz="1600" dirty="0"/>
              <a:t>    princess = Dog(</a:t>
            </a:r>
            <a:r>
              <a:rPr lang="en-GB" sz="1600" dirty="0">
                <a:solidFill>
                  <a:srgbClr val="008180"/>
                </a:solidFill>
              </a:rPr>
              <a:t>'Princess'</a:t>
            </a:r>
            <a:r>
              <a:rPr lang="en-GB" sz="1600" dirty="0"/>
              <a:t>, </a:t>
            </a:r>
            <a:r>
              <a:rPr lang="en-GB" sz="1600" dirty="0">
                <a:solidFill>
                  <a:srgbClr val="2300FF"/>
                </a:solidFill>
              </a:rPr>
              <a:t>2</a:t>
            </a:r>
            <a:r>
              <a:rPr lang="en-GB" sz="1600" dirty="0"/>
              <a:t>, </a:t>
            </a:r>
            <a:r>
              <a:rPr lang="en-GB" sz="1600" dirty="0">
                <a:solidFill>
                  <a:srgbClr val="008180"/>
                </a:solidFill>
              </a:rPr>
              <a:t>'D04'</a:t>
            </a:r>
            <a:r>
              <a:rPr lang="en-GB" sz="1600" dirty="0"/>
              <a:t>)</a:t>
            </a:r>
            <a:br>
              <a:rPr lang="en-GB" sz="1600" dirty="0"/>
            </a:br>
            <a:r>
              <a:rPr lang="en-GB" sz="1600" dirty="0"/>
              <a:t>    bark = Dog(</a:t>
            </a:r>
            <a:r>
              <a:rPr lang="en-GB" sz="1600" dirty="0">
                <a:solidFill>
                  <a:srgbClr val="008180"/>
                </a:solidFill>
              </a:rPr>
              <a:t>'Bark'</a:t>
            </a:r>
            <a:r>
              <a:rPr lang="en-GB" sz="1600" dirty="0"/>
              <a:t>, </a:t>
            </a:r>
            <a:r>
              <a:rPr lang="en-GB" sz="1600" dirty="0">
                <a:solidFill>
                  <a:srgbClr val="2300FF"/>
                </a:solidFill>
              </a:rPr>
              <a:t>4</a:t>
            </a:r>
            <a:r>
              <a:rPr lang="en-GB" sz="1600" dirty="0"/>
              <a:t>, </a:t>
            </a:r>
            <a:r>
              <a:rPr lang="en-GB" sz="1600" dirty="0">
                <a:solidFill>
                  <a:srgbClr val="008180"/>
                </a:solidFill>
              </a:rPr>
              <a:t>'D05'</a:t>
            </a:r>
            <a:r>
              <a:rPr lang="en-GB" sz="1600" dirty="0"/>
              <a:t>)</a:t>
            </a:r>
            <a:br>
              <a:rPr lang="en-GB" sz="1600" dirty="0"/>
            </a:br>
            <a:r>
              <a:rPr lang="en-GB" sz="1600" dirty="0"/>
              <a:t>    </a:t>
            </a:r>
            <a:r>
              <a:rPr lang="en-GB" sz="1600" dirty="0" err="1"/>
              <a:t>piko</a:t>
            </a:r>
            <a:r>
              <a:rPr lang="en-GB" sz="1600" dirty="0"/>
              <a:t> = Cat(</a:t>
            </a:r>
            <a:r>
              <a:rPr lang="en-GB" sz="1600" dirty="0">
                <a:solidFill>
                  <a:srgbClr val="008180"/>
                </a:solidFill>
              </a:rPr>
              <a:t>'Piko'</a:t>
            </a:r>
            <a:r>
              <a:rPr lang="en-GB" sz="1600" dirty="0"/>
              <a:t>,</a:t>
            </a:r>
            <a:r>
              <a:rPr lang="en-GB" sz="1600" dirty="0">
                <a:solidFill>
                  <a:srgbClr val="2300FF"/>
                </a:solidFill>
              </a:rPr>
              <a:t>2</a:t>
            </a:r>
            <a:r>
              <a:rPr lang="en-GB" sz="1600" dirty="0"/>
              <a:t>,</a:t>
            </a:r>
            <a:r>
              <a:rPr lang="en-GB" sz="1600" dirty="0">
                <a:solidFill>
                  <a:srgbClr val="008180"/>
                </a:solidFill>
              </a:rPr>
              <a:t>'C01'</a:t>
            </a:r>
            <a:r>
              <a:rPr lang="en-GB" sz="1600" dirty="0"/>
              <a:t>)</a:t>
            </a:r>
            <a:br>
              <a:rPr lang="en-GB" sz="1600" dirty="0"/>
            </a:br>
            <a:r>
              <a:rPr lang="en-GB" sz="1600" dirty="0"/>
              <a:t>    </a:t>
            </a:r>
            <a:r>
              <a:rPr lang="en-GB" sz="1600" dirty="0" err="1"/>
              <a:t>poko</a:t>
            </a:r>
            <a:r>
              <a:rPr lang="en-GB" sz="1600" dirty="0"/>
              <a:t> = Cat(</a:t>
            </a:r>
            <a:r>
              <a:rPr lang="en-GB" sz="1600" dirty="0">
                <a:solidFill>
                  <a:srgbClr val="008180"/>
                </a:solidFill>
              </a:rPr>
              <a:t>'Poko'</a:t>
            </a:r>
            <a:r>
              <a:rPr lang="en-GB" sz="1600" dirty="0"/>
              <a:t>,</a:t>
            </a:r>
            <a:r>
              <a:rPr lang="en-GB" sz="1600" dirty="0">
                <a:solidFill>
                  <a:srgbClr val="2300FF"/>
                </a:solidFill>
              </a:rPr>
              <a:t>1</a:t>
            </a:r>
            <a:r>
              <a:rPr lang="en-GB" sz="1600" dirty="0"/>
              <a:t>, </a:t>
            </a:r>
            <a:r>
              <a:rPr lang="en-GB" sz="1600" dirty="0">
                <a:solidFill>
                  <a:srgbClr val="008180"/>
                </a:solidFill>
              </a:rPr>
              <a:t>'C02’</a:t>
            </a:r>
            <a:r>
              <a:rPr lang="en-GB" sz="1600" dirty="0"/>
              <a:t>)</a:t>
            </a:r>
          </a:p>
          <a:p>
            <a:br>
              <a:rPr lang="en-GB" sz="1600" dirty="0"/>
            </a:br>
            <a:r>
              <a:rPr lang="en-GB" sz="1600" dirty="0"/>
              <a:t>    </a:t>
            </a:r>
            <a:r>
              <a:rPr lang="en-GB" sz="1600" dirty="0" err="1"/>
              <a:t>dogs_list</a:t>
            </a:r>
            <a:r>
              <a:rPr lang="en-GB" sz="1600" dirty="0"/>
              <a:t> = [</a:t>
            </a:r>
            <a:r>
              <a:rPr lang="en-GB" sz="1600" dirty="0" err="1"/>
              <a:t>vuk</a:t>
            </a:r>
            <a:r>
              <a:rPr lang="en-GB" sz="1600" dirty="0"/>
              <a:t>, princess, bark]</a:t>
            </a:r>
            <a:br>
              <a:rPr lang="en-GB" sz="1600" dirty="0"/>
            </a:br>
            <a:r>
              <a:rPr lang="en-GB" sz="1600" dirty="0"/>
              <a:t>    </a:t>
            </a:r>
            <a:r>
              <a:rPr lang="en-GB" sz="1600" dirty="0" err="1"/>
              <a:t>cats_list</a:t>
            </a:r>
            <a:r>
              <a:rPr lang="en-GB" sz="1600" dirty="0"/>
              <a:t> = [</a:t>
            </a:r>
            <a:r>
              <a:rPr lang="en-GB" sz="1600" dirty="0" err="1"/>
              <a:t>piko</a:t>
            </a:r>
            <a:r>
              <a:rPr lang="en-GB" sz="1600" dirty="0"/>
              <a:t>, </a:t>
            </a:r>
            <a:r>
              <a:rPr lang="en-GB" sz="1600" dirty="0" err="1"/>
              <a:t>poko</a:t>
            </a:r>
            <a:r>
              <a:rPr lang="en-GB" sz="1600" dirty="0"/>
              <a:t>]</a:t>
            </a:r>
            <a:br>
              <a:rPr lang="en-GB" sz="1600" dirty="0"/>
            </a:br>
            <a:r>
              <a:rPr lang="en-GB" sz="1600" dirty="0"/>
              <a:t>    animals  = </a:t>
            </a:r>
            <a:r>
              <a:rPr lang="en-GB" sz="1600" dirty="0" err="1"/>
              <a:t>dogs_list</a:t>
            </a:r>
            <a:r>
              <a:rPr lang="en-GB" sz="1600" dirty="0"/>
              <a:t> +</a:t>
            </a:r>
            <a:r>
              <a:rPr lang="en-GB" sz="1600" dirty="0" err="1"/>
              <a:t>cats_list</a:t>
            </a:r>
            <a:br>
              <a:rPr lang="en-GB" sz="1600" dirty="0"/>
            </a:br>
            <a:br>
              <a:rPr lang="en-GB" sz="1600" dirty="0"/>
            </a:br>
            <a:r>
              <a:rPr lang="en-GB" sz="1600" dirty="0"/>
              <a:t>    </a:t>
            </a:r>
            <a:r>
              <a:rPr lang="en-GB" sz="1600" b="1" dirty="0">
                <a:solidFill>
                  <a:srgbClr val="0A007A"/>
                </a:solidFill>
              </a:rPr>
              <a:t>for</a:t>
            </a:r>
            <a:r>
              <a:rPr lang="en-GB" sz="1600" dirty="0"/>
              <a:t> </a:t>
            </a:r>
            <a:r>
              <a:rPr lang="en-GB" sz="1600" dirty="0" err="1"/>
              <a:t>i</a:t>
            </a:r>
            <a:r>
              <a:rPr lang="en-GB" sz="1600" dirty="0"/>
              <a:t> </a:t>
            </a:r>
            <a:r>
              <a:rPr lang="en-GB" sz="1600" b="1" dirty="0">
                <a:solidFill>
                  <a:srgbClr val="0A007A"/>
                </a:solidFill>
              </a:rPr>
              <a:t>in</a:t>
            </a:r>
            <a:r>
              <a:rPr lang="en-GB" sz="1600" dirty="0"/>
              <a:t> animals:</a:t>
            </a:r>
            <a:br>
              <a:rPr lang="en-GB" sz="1600" dirty="0"/>
            </a:br>
            <a:r>
              <a:rPr lang="en-GB" sz="1600" dirty="0"/>
              <a:t>        if </a:t>
            </a:r>
            <a:r>
              <a:rPr lang="en-GB" b="1" dirty="0" err="1"/>
              <a:t>isinstance</a:t>
            </a:r>
            <a:r>
              <a:rPr lang="en-GB" sz="1600" dirty="0"/>
              <a:t>(</a:t>
            </a:r>
            <a:r>
              <a:rPr lang="en-GB" sz="1600" dirty="0" err="1"/>
              <a:t>i</a:t>
            </a:r>
            <a:r>
              <a:rPr lang="en-GB" sz="1600" dirty="0"/>
              <a:t>, Cat):</a:t>
            </a:r>
            <a:br>
              <a:rPr lang="en-GB" sz="1600" dirty="0"/>
            </a:br>
            <a:r>
              <a:rPr lang="en-GB" sz="1600" dirty="0"/>
              <a:t>            </a:t>
            </a:r>
            <a:r>
              <a:rPr lang="en-GB" sz="1600" dirty="0">
                <a:solidFill>
                  <a:srgbClr val="0A007A"/>
                </a:solidFill>
              </a:rPr>
              <a:t>print</a:t>
            </a:r>
            <a:r>
              <a:rPr lang="en-GB" sz="1600" dirty="0"/>
              <a:t>(</a:t>
            </a:r>
            <a:r>
              <a:rPr lang="en-GB" sz="1600" dirty="0" err="1"/>
              <a:t>i.hunts</a:t>
            </a:r>
            <a:r>
              <a:rPr lang="en-GB" sz="1600" dirty="0"/>
              <a:t>())</a:t>
            </a:r>
            <a:br>
              <a:rPr lang="en-GB" sz="1600" dirty="0"/>
            </a:br>
            <a:r>
              <a:rPr lang="en-GB" sz="1600" dirty="0"/>
              <a:t>        </a:t>
            </a:r>
            <a:br>
              <a:rPr lang="en-GB" sz="1600" dirty="0"/>
            </a:br>
            <a:r>
              <a:rPr lang="en-GB" sz="1600" dirty="0"/>
              <a:t>if </a:t>
            </a:r>
            <a:r>
              <a:rPr lang="en-GB" sz="1600" dirty="0">
                <a:solidFill>
                  <a:srgbClr val="C300B8"/>
                </a:solidFill>
              </a:rPr>
              <a:t>__name__</a:t>
            </a:r>
            <a:r>
              <a:rPr lang="en-GB" sz="1600" dirty="0"/>
              <a:t>==</a:t>
            </a:r>
            <a:r>
              <a:rPr lang="en-GB" sz="1600" dirty="0">
                <a:solidFill>
                  <a:srgbClr val="008180"/>
                </a:solidFill>
              </a:rPr>
              <a:t>'__main__'</a:t>
            </a:r>
            <a:r>
              <a:rPr lang="en-GB" sz="1600" dirty="0"/>
              <a:t>:</a:t>
            </a:r>
            <a:br>
              <a:rPr lang="en-GB" sz="1600" dirty="0"/>
            </a:br>
            <a:r>
              <a:rPr lang="en-GB" sz="1600" dirty="0"/>
              <a:t>    main()</a:t>
            </a:r>
            <a:endParaRPr lang="en-US" sz="1600" dirty="0"/>
          </a:p>
        </p:txBody>
      </p:sp>
      <p:sp>
        <p:nvSpPr>
          <p:cNvPr id="6" name="Rounded Rectangle 5">
            <a:extLst>
              <a:ext uri="{FF2B5EF4-FFF2-40B4-BE49-F238E27FC236}">
                <a16:creationId xmlns:a16="http://schemas.microsoft.com/office/drawing/2014/main" id="{3C3580F9-FD68-B740-92F8-981B6A26C7B3}"/>
              </a:ext>
            </a:extLst>
          </p:cNvPr>
          <p:cNvSpPr/>
          <p:nvPr/>
        </p:nvSpPr>
        <p:spPr>
          <a:xfrm>
            <a:off x="1988457" y="5123541"/>
            <a:ext cx="1901373" cy="885373"/>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r>
              <a:rPr lang="en-GB" sz="1400" b="1" dirty="0"/>
              <a:t>Is instance</a:t>
            </a:r>
          </a:p>
          <a:p>
            <a:r>
              <a:rPr lang="en-GB" sz="1400" b="1" dirty="0"/>
              <a:t>Check if instance for the specific class</a:t>
            </a:r>
          </a:p>
        </p:txBody>
      </p:sp>
      <p:cxnSp>
        <p:nvCxnSpPr>
          <p:cNvPr id="7" name="Straight Arrow Connector 6">
            <a:extLst>
              <a:ext uri="{FF2B5EF4-FFF2-40B4-BE49-F238E27FC236}">
                <a16:creationId xmlns:a16="http://schemas.microsoft.com/office/drawing/2014/main" id="{DA391D83-9832-0144-9D64-5CEDB7517238}"/>
              </a:ext>
            </a:extLst>
          </p:cNvPr>
          <p:cNvCxnSpPr>
            <a:cxnSpLocks/>
          </p:cNvCxnSpPr>
          <p:nvPr/>
        </p:nvCxnSpPr>
        <p:spPr>
          <a:xfrm>
            <a:off x="3615873" y="5421085"/>
            <a:ext cx="1436914" cy="14514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8" name="Straight Connector 7">
            <a:extLst>
              <a:ext uri="{FF2B5EF4-FFF2-40B4-BE49-F238E27FC236}">
                <a16:creationId xmlns:a16="http://schemas.microsoft.com/office/drawing/2014/main" id="{411C4A9C-9CC9-276E-B19C-34D857F99A58}"/>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619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94AC-0A93-E64F-863D-098802F10029}"/>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Activity</a:t>
            </a:r>
            <a:endParaRPr lang="en-US" dirty="0"/>
          </a:p>
        </p:txBody>
      </p:sp>
      <p:sp>
        <p:nvSpPr>
          <p:cNvPr id="15" name="TextBox 14">
            <a:extLst>
              <a:ext uri="{FF2B5EF4-FFF2-40B4-BE49-F238E27FC236}">
                <a16:creationId xmlns:a16="http://schemas.microsoft.com/office/drawing/2014/main" id="{D26326CF-D252-D543-853C-D7C57E169D64}"/>
              </a:ext>
            </a:extLst>
          </p:cNvPr>
          <p:cNvSpPr txBox="1"/>
          <p:nvPr/>
        </p:nvSpPr>
        <p:spPr>
          <a:xfrm>
            <a:off x="670972" y="1592181"/>
            <a:ext cx="10727488" cy="3046988"/>
          </a:xfrm>
          <a:prstGeom prst="rect">
            <a:avLst/>
          </a:prstGeom>
          <a:noFill/>
        </p:spPr>
        <p:txBody>
          <a:bodyPr wrap="none" rtlCol="0">
            <a:spAutoFit/>
          </a:bodyPr>
          <a:lstStyle/>
          <a:p>
            <a:r>
              <a:rPr lang="en-US" sz="2400" dirty="0"/>
              <a:t>Create a main methods in which:</a:t>
            </a:r>
          </a:p>
          <a:p>
            <a:endParaRPr lang="en-US" sz="2400" dirty="0"/>
          </a:p>
          <a:p>
            <a:pPr marL="342900" indent="-342900">
              <a:buFont typeface="Arial" panose="020B0604020202020204" pitchFamily="34" charset="0"/>
              <a:buChar char="•"/>
            </a:pPr>
            <a:r>
              <a:rPr lang="en-US" sz="2400" dirty="0"/>
              <a:t>Create 3 car objects and 2 motorcycle objects</a:t>
            </a:r>
          </a:p>
          <a:p>
            <a:pPr marL="342900" indent="-342900">
              <a:buFont typeface="Arial" panose="020B0604020202020204" pitchFamily="34" charset="0"/>
              <a:buChar char="•"/>
            </a:pPr>
            <a:r>
              <a:rPr lang="en-US" sz="2400" dirty="0"/>
              <a:t>Create a lists: cars and motorcycles with the objects above objects as an elements</a:t>
            </a:r>
          </a:p>
          <a:p>
            <a:pPr marL="342900" indent="-342900">
              <a:buFont typeface="Arial" panose="020B0604020202020204" pitchFamily="34" charset="0"/>
              <a:buChar char="•"/>
            </a:pPr>
            <a:r>
              <a:rPr lang="en-US" sz="2400" dirty="0"/>
              <a:t>Join the lists into one vehicles list</a:t>
            </a:r>
          </a:p>
          <a:p>
            <a:pPr marL="342900" indent="-342900">
              <a:buFont typeface="Arial" panose="020B0604020202020204" pitchFamily="34" charset="0"/>
              <a:buChar char="•"/>
            </a:pPr>
            <a:r>
              <a:rPr lang="en-US" sz="2400" dirty="0"/>
              <a:t>Loop through the vehicle list and call the </a:t>
            </a:r>
            <a:r>
              <a:rPr lang="en-US" sz="2400" dirty="0">
                <a:solidFill>
                  <a:srgbClr val="C300B8"/>
                </a:solidFill>
              </a:rPr>
              <a:t>__str__ </a:t>
            </a:r>
            <a:r>
              <a:rPr lang="en-US" sz="2400" dirty="0"/>
              <a:t>methods on all the objects</a:t>
            </a:r>
          </a:p>
          <a:p>
            <a:endParaRPr lang="en-US" sz="2400" dirty="0"/>
          </a:p>
          <a:p>
            <a:endParaRPr lang="en-US" sz="2400" dirty="0"/>
          </a:p>
        </p:txBody>
      </p:sp>
      <p:cxnSp>
        <p:nvCxnSpPr>
          <p:cNvPr id="3" name="Straight Connector 2">
            <a:extLst>
              <a:ext uri="{FF2B5EF4-FFF2-40B4-BE49-F238E27FC236}">
                <a16:creationId xmlns:a16="http://schemas.microsoft.com/office/drawing/2014/main" id="{757D1E9A-3D92-0AE5-8BB1-710DEAF1545D}"/>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353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7487F-096F-424B-B0C7-92FC44897EDA}"/>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Class Relationships</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841430E-33FD-5745-A067-247988791661}"/>
              </a:ext>
            </a:extLst>
          </p:cNvPr>
          <p:cNvSpPr>
            <a:spLocks noGrp="1"/>
          </p:cNvSpPr>
          <p:nvPr>
            <p:ph idx="1"/>
          </p:nvPr>
        </p:nvSpPr>
        <p:spPr/>
        <p:txBody>
          <a:bodyPr>
            <a:normAutofit/>
          </a:bodyPr>
          <a:lstStyle/>
          <a:p>
            <a:r>
              <a:rPr lang="en-GB" dirty="0"/>
              <a:t> To design classes , you need to explore the relationships among classes. </a:t>
            </a:r>
          </a:p>
          <a:p>
            <a:endParaRPr lang="en-GB" dirty="0"/>
          </a:p>
          <a:p>
            <a:r>
              <a:rPr lang="en-GB" dirty="0"/>
              <a:t>The common relationships among classes are</a:t>
            </a:r>
          </a:p>
          <a:p>
            <a:pPr lvl="1"/>
            <a:r>
              <a:rPr lang="en-GB" b="1" dirty="0"/>
              <a:t>association</a:t>
            </a:r>
            <a:r>
              <a:rPr lang="en-GB" dirty="0"/>
              <a:t>  </a:t>
            </a:r>
          </a:p>
          <a:p>
            <a:pPr lvl="1"/>
            <a:r>
              <a:rPr lang="en-GB" b="1" dirty="0"/>
              <a:t>aggregation</a:t>
            </a:r>
            <a:r>
              <a:rPr lang="en-GB" dirty="0"/>
              <a:t>  </a:t>
            </a:r>
          </a:p>
          <a:p>
            <a:pPr lvl="1"/>
            <a:r>
              <a:rPr lang="en-GB" b="1" dirty="0"/>
              <a:t>composition</a:t>
            </a:r>
            <a:r>
              <a:rPr lang="en-GB" dirty="0"/>
              <a:t> </a:t>
            </a:r>
          </a:p>
          <a:p>
            <a:pPr lvl="1"/>
            <a:r>
              <a:rPr lang="en-GB" b="1" dirty="0"/>
              <a:t>Inheritance </a:t>
            </a:r>
            <a:r>
              <a:rPr lang="en-GB" sz="2000" b="1" dirty="0"/>
              <a:t>(is a)</a:t>
            </a:r>
            <a:endParaRPr lang="en-GB" sz="2000" dirty="0"/>
          </a:p>
          <a:p>
            <a:endParaRPr lang="en-US" dirty="0"/>
          </a:p>
        </p:txBody>
      </p:sp>
      <p:sp>
        <p:nvSpPr>
          <p:cNvPr id="6" name="TextBox 5">
            <a:extLst>
              <a:ext uri="{FF2B5EF4-FFF2-40B4-BE49-F238E27FC236}">
                <a16:creationId xmlns:a16="http://schemas.microsoft.com/office/drawing/2014/main" id="{D6305955-828A-294D-A58C-EA9C82A372FD}"/>
              </a:ext>
            </a:extLst>
          </p:cNvPr>
          <p:cNvSpPr txBox="1"/>
          <p:nvPr/>
        </p:nvSpPr>
        <p:spPr>
          <a:xfrm>
            <a:off x="3378342" y="4302786"/>
            <a:ext cx="896399" cy="707886"/>
          </a:xfrm>
          <a:prstGeom prst="rect">
            <a:avLst/>
          </a:prstGeom>
          <a:noFill/>
        </p:spPr>
        <p:txBody>
          <a:bodyPr wrap="none" rtlCol="0">
            <a:spAutoFit/>
          </a:bodyPr>
          <a:lstStyle/>
          <a:p>
            <a:r>
              <a:rPr lang="en-GB" sz="2000" b="1" dirty="0"/>
              <a:t>(has a)</a:t>
            </a:r>
            <a:endParaRPr lang="en-GB" sz="2000" dirty="0"/>
          </a:p>
          <a:p>
            <a:endParaRPr lang="en-US" sz="2000" dirty="0"/>
          </a:p>
        </p:txBody>
      </p:sp>
      <p:sp>
        <p:nvSpPr>
          <p:cNvPr id="8" name="Right Brace 7">
            <a:extLst>
              <a:ext uri="{FF2B5EF4-FFF2-40B4-BE49-F238E27FC236}">
                <a16:creationId xmlns:a16="http://schemas.microsoft.com/office/drawing/2014/main" id="{2EEC2CFB-4988-6040-A91C-D927EBD45618}"/>
              </a:ext>
            </a:extLst>
          </p:cNvPr>
          <p:cNvSpPr/>
          <p:nvPr/>
        </p:nvSpPr>
        <p:spPr>
          <a:xfrm>
            <a:off x="3287486" y="4140496"/>
            <a:ext cx="137886" cy="70788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45B2F767-5880-0654-F1F2-FA573FDF0044}"/>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448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395F-5F60-E74B-B9C6-D6251E90DF07}"/>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association</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1161192-AB3B-624D-8665-927E5ED9D4E2}"/>
              </a:ext>
            </a:extLst>
          </p:cNvPr>
          <p:cNvSpPr>
            <a:spLocks noGrp="1"/>
          </p:cNvSpPr>
          <p:nvPr>
            <p:ph idx="1"/>
          </p:nvPr>
        </p:nvSpPr>
        <p:spPr/>
        <p:txBody>
          <a:bodyPr/>
          <a:lstStyle/>
          <a:p>
            <a:r>
              <a:rPr lang="en-GB" sz="2400" dirty="0"/>
              <a:t>If two classes in a model need to communicate with each other, there must be a link between them, and that can be represented by an association (connector). </a:t>
            </a:r>
          </a:p>
          <a:p>
            <a:endParaRPr lang="en-GB" sz="2400" dirty="0"/>
          </a:p>
          <a:p>
            <a:pPr marL="0" indent="0">
              <a:buNone/>
            </a:pPr>
            <a:r>
              <a:rPr lang="en-GB" sz="2400" dirty="0"/>
              <a:t>Examples: </a:t>
            </a:r>
          </a:p>
          <a:p>
            <a:pPr lvl="1"/>
            <a:r>
              <a:rPr lang="en-GB" dirty="0"/>
              <a:t>owner association with dog</a:t>
            </a:r>
          </a:p>
          <a:p>
            <a:pPr lvl="1"/>
            <a:endParaRPr lang="en-GB" dirty="0"/>
          </a:p>
          <a:p>
            <a:pPr lvl="1"/>
            <a:r>
              <a:rPr lang="en-GB" dirty="0"/>
              <a:t>student associate with instructor</a:t>
            </a:r>
          </a:p>
          <a:p>
            <a:pPr lvl="1"/>
            <a:endParaRPr lang="en-GB" dirty="0"/>
          </a:p>
          <a:p>
            <a:pPr lvl="1"/>
            <a:r>
              <a:rPr lang="en-GB" dirty="0"/>
              <a:t>client associate with server etc</a:t>
            </a:r>
          </a:p>
          <a:p>
            <a:endParaRPr lang="en-US" dirty="0"/>
          </a:p>
        </p:txBody>
      </p:sp>
      <p:pic>
        <p:nvPicPr>
          <p:cNvPr id="8" name="Picture 7" descr="A picture containing shape&#10;&#10;Description automatically generated">
            <a:extLst>
              <a:ext uri="{FF2B5EF4-FFF2-40B4-BE49-F238E27FC236}">
                <a16:creationId xmlns:a16="http://schemas.microsoft.com/office/drawing/2014/main" id="{C3C55ED5-1ABD-E340-B31D-9EF9783D06EC}"/>
              </a:ext>
            </a:extLst>
          </p:cNvPr>
          <p:cNvPicPr>
            <a:picLocks noChangeAspect="1"/>
          </p:cNvPicPr>
          <p:nvPr/>
        </p:nvPicPr>
        <p:blipFill>
          <a:blip r:embed="rId2"/>
          <a:stretch>
            <a:fillRect/>
          </a:stretch>
        </p:blipFill>
        <p:spPr>
          <a:xfrm>
            <a:off x="6252938" y="3189276"/>
            <a:ext cx="4223659" cy="776001"/>
          </a:xfrm>
          <a:prstGeom prst="rect">
            <a:avLst/>
          </a:prstGeom>
        </p:spPr>
      </p:pic>
      <p:pic>
        <p:nvPicPr>
          <p:cNvPr id="10" name="Picture 9" descr="Shape, rectangle&#10;&#10;Description automatically generated">
            <a:extLst>
              <a:ext uri="{FF2B5EF4-FFF2-40B4-BE49-F238E27FC236}">
                <a16:creationId xmlns:a16="http://schemas.microsoft.com/office/drawing/2014/main" id="{840DC865-AA1A-694E-810E-04D024EAA9CC}"/>
              </a:ext>
            </a:extLst>
          </p:cNvPr>
          <p:cNvPicPr>
            <a:picLocks noChangeAspect="1"/>
          </p:cNvPicPr>
          <p:nvPr/>
        </p:nvPicPr>
        <p:blipFill>
          <a:blip r:embed="rId3"/>
          <a:stretch>
            <a:fillRect/>
          </a:stretch>
        </p:blipFill>
        <p:spPr>
          <a:xfrm>
            <a:off x="6267448" y="4199980"/>
            <a:ext cx="4223659" cy="943584"/>
          </a:xfrm>
          <a:prstGeom prst="rect">
            <a:avLst/>
          </a:prstGeom>
        </p:spPr>
      </p:pic>
      <p:pic>
        <p:nvPicPr>
          <p:cNvPr id="12" name="Picture 11" descr="Shape, rectangle&#10;&#10;Description automatically generated">
            <a:extLst>
              <a:ext uri="{FF2B5EF4-FFF2-40B4-BE49-F238E27FC236}">
                <a16:creationId xmlns:a16="http://schemas.microsoft.com/office/drawing/2014/main" id="{F2D13BED-EDFF-1E4E-A092-0D3231981BA6}"/>
              </a:ext>
            </a:extLst>
          </p:cNvPr>
          <p:cNvPicPr>
            <a:picLocks noChangeAspect="1"/>
          </p:cNvPicPr>
          <p:nvPr/>
        </p:nvPicPr>
        <p:blipFill>
          <a:blip r:embed="rId4"/>
          <a:stretch>
            <a:fillRect/>
          </a:stretch>
        </p:blipFill>
        <p:spPr>
          <a:xfrm>
            <a:off x="6355058" y="5349753"/>
            <a:ext cx="4136049" cy="827210"/>
          </a:xfrm>
          <a:prstGeom prst="rect">
            <a:avLst/>
          </a:prstGeom>
        </p:spPr>
      </p:pic>
      <p:cxnSp>
        <p:nvCxnSpPr>
          <p:cNvPr id="4" name="Straight Connector 3">
            <a:extLst>
              <a:ext uri="{FF2B5EF4-FFF2-40B4-BE49-F238E27FC236}">
                <a16:creationId xmlns:a16="http://schemas.microsoft.com/office/drawing/2014/main" id="{46D4E075-C1CF-8A76-EF90-EC58678288E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205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579DC-7A40-B547-89FA-C7B86D6A00A8}"/>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aggregation / composition</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294EF3E-389F-2E47-9D92-05EF001BE810}"/>
              </a:ext>
            </a:extLst>
          </p:cNvPr>
          <p:cNvSpPr>
            <a:spLocks noGrp="1"/>
          </p:cNvSpPr>
          <p:nvPr>
            <p:ph idx="1"/>
          </p:nvPr>
        </p:nvSpPr>
        <p:spPr/>
        <p:txBody>
          <a:bodyPr>
            <a:normAutofit/>
          </a:bodyPr>
          <a:lstStyle/>
          <a:p>
            <a:r>
              <a:rPr lang="en-GB" sz="2400" b="1" dirty="0"/>
              <a:t>Composition and aggregation</a:t>
            </a:r>
            <a:r>
              <a:rPr lang="en-GB" sz="2400" dirty="0"/>
              <a:t> is a concept that models a </a:t>
            </a:r>
            <a:r>
              <a:rPr lang="en-GB" sz="2400" b="1" dirty="0"/>
              <a:t>has a</a:t>
            </a:r>
            <a:r>
              <a:rPr lang="en-GB" sz="2400" dirty="0"/>
              <a:t> relationship. It enables creating complex types by combining objects of other types. </a:t>
            </a:r>
          </a:p>
          <a:p>
            <a:r>
              <a:rPr lang="en-GB" sz="2400" b="1" dirty="0"/>
              <a:t>Aggregation</a:t>
            </a:r>
            <a:r>
              <a:rPr lang="en-GB" sz="2400" dirty="0"/>
              <a:t> implies a relationship where the child can exist independently of the parent. </a:t>
            </a:r>
            <a:r>
              <a:rPr lang="en-GB" sz="2000" dirty="0"/>
              <a:t>Example: Class (parent) and Student (child). Delete the Class and the Students still exist.</a:t>
            </a:r>
          </a:p>
          <a:p>
            <a:r>
              <a:rPr lang="en-GB" sz="2400" b="1" dirty="0"/>
              <a:t>Composition</a:t>
            </a:r>
            <a:r>
              <a:rPr lang="en-GB" sz="2400" dirty="0"/>
              <a:t> implies a relationship where the child cannot exist independent of the parent. </a:t>
            </a:r>
            <a:r>
              <a:rPr lang="en-GB" sz="2000" dirty="0"/>
              <a:t>Example: House (parent) and Room (child). Rooms don't exist separate to a House.</a:t>
            </a:r>
          </a:p>
          <a:p>
            <a:r>
              <a:rPr lang="en-GB" sz="2400" dirty="0"/>
              <a:t>Example: a name is a part of both dogs and cats (</a:t>
            </a:r>
            <a:r>
              <a:rPr lang="en-GB" sz="2400" b="1" dirty="0"/>
              <a:t>composition</a:t>
            </a:r>
            <a:r>
              <a:rPr lang="en-GB" sz="2400" dirty="0"/>
              <a:t>) </a:t>
            </a:r>
            <a:endParaRPr lang="en-US" sz="2400" dirty="0"/>
          </a:p>
        </p:txBody>
      </p:sp>
      <p:pic>
        <p:nvPicPr>
          <p:cNvPr id="5" name="Picture 4" descr="A picture containing text&#10;&#10;Description automatically generated">
            <a:extLst>
              <a:ext uri="{FF2B5EF4-FFF2-40B4-BE49-F238E27FC236}">
                <a16:creationId xmlns:a16="http://schemas.microsoft.com/office/drawing/2014/main" id="{17FC982C-2972-5E41-A036-05CBAE08219C}"/>
              </a:ext>
            </a:extLst>
          </p:cNvPr>
          <p:cNvPicPr>
            <a:picLocks noChangeAspect="1"/>
          </p:cNvPicPr>
          <p:nvPr/>
        </p:nvPicPr>
        <p:blipFill>
          <a:blip r:embed="rId2"/>
          <a:stretch>
            <a:fillRect/>
          </a:stretch>
        </p:blipFill>
        <p:spPr>
          <a:xfrm>
            <a:off x="2329180" y="5886450"/>
            <a:ext cx="6756400" cy="850900"/>
          </a:xfrm>
          <a:prstGeom prst="rect">
            <a:avLst/>
          </a:prstGeom>
        </p:spPr>
      </p:pic>
      <p:sp>
        <p:nvSpPr>
          <p:cNvPr id="6" name="TextBox 5">
            <a:extLst>
              <a:ext uri="{FF2B5EF4-FFF2-40B4-BE49-F238E27FC236}">
                <a16:creationId xmlns:a16="http://schemas.microsoft.com/office/drawing/2014/main" id="{CA934628-2625-0A44-8395-3A506BC84463}"/>
              </a:ext>
            </a:extLst>
          </p:cNvPr>
          <p:cNvSpPr txBox="1"/>
          <p:nvPr/>
        </p:nvSpPr>
        <p:spPr>
          <a:xfrm>
            <a:off x="3643812" y="5264984"/>
            <a:ext cx="3818802" cy="369332"/>
          </a:xfrm>
          <a:prstGeom prst="rect">
            <a:avLst/>
          </a:prstGeom>
          <a:noFill/>
        </p:spPr>
        <p:txBody>
          <a:bodyPr wrap="none" rtlCol="0">
            <a:spAutoFit/>
          </a:bodyPr>
          <a:lstStyle/>
          <a:p>
            <a:r>
              <a:rPr lang="en-GB" b="1" dirty="0"/>
              <a:t>composition                        aggregation</a:t>
            </a:r>
            <a:r>
              <a:rPr lang="en-GB" dirty="0"/>
              <a:t> </a:t>
            </a:r>
            <a:endParaRPr lang="en-US" dirty="0"/>
          </a:p>
        </p:txBody>
      </p:sp>
      <p:cxnSp>
        <p:nvCxnSpPr>
          <p:cNvPr id="8" name="Straight Arrow Connector 7">
            <a:extLst>
              <a:ext uri="{FF2B5EF4-FFF2-40B4-BE49-F238E27FC236}">
                <a16:creationId xmlns:a16="http://schemas.microsoft.com/office/drawing/2014/main" id="{2F56069B-7C76-4149-892F-180975BDF768}"/>
              </a:ext>
            </a:extLst>
          </p:cNvPr>
          <p:cNvCxnSpPr/>
          <p:nvPr/>
        </p:nvCxnSpPr>
        <p:spPr>
          <a:xfrm>
            <a:off x="4339771" y="5634316"/>
            <a:ext cx="304800" cy="4036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09FC881-7B62-1F40-8832-21BB6F700EF3}"/>
              </a:ext>
            </a:extLst>
          </p:cNvPr>
          <p:cNvCxnSpPr>
            <a:cxnSpLocks/>
          </p:cNvCxnSpPr>
          <p:nvPr/>
        </p:nvCxnSpPr>
        <p:spPr>
          <a:xfrm flipH="1">
            <a:off x="6386285" y="5558570"/>
            <a:ext cx="268877" cy="479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BA9AA793-C0C0-1E00-F739-269B1E63AA4C}"/>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399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7">
            <a:extLst>
              <a:ext uri="{FF2B5EF4-FFF2-40B4-BE49-F238E27FC236}">
                <a16:creationId xmlns:a16="http://schemas.microsoft.com/office/drawing/2014/main" id="{587C3709-59DE-B94D-9A68-11E45CAC89E2}"/>
              </a:ext>
            </a:extLst>
          </p:cNvPr>
          <p:cNvGraphicFramePr>
            <a:graphicFrameLocks noGrp="1"/>
          </p:cNvGraphicFramePr>
          <p:nvPr/>
        </p:nvGraphicFramePr>
        <p:xfrm>
          <a:off x="6437374" y="3036542"/>
          <a:ext cx="5746045" cy="3319609"/>
        </p:xfrm>
        <a:graphic>
          <a:graphicData uri="http://schemas.openxmlformats.org/drawingml/2006/table">
            <a:tbl>
              <a:tblPr firstRow="1" bandRow="1">
                <a:tableStyleId>{5C22544A-7EE6-4342-B048-85BDC9FD1C3A}</a:tableStyleId>
              </a:tblPr>
              <a:tblGrid>
                <a:gridCol w="5746045">
                  <a:extLst>
                    <a:ext uri="{9D8B030D-6E8A-4147-A177-3AD203B41FA5}">
                      <a16:colId xmlns:a16="http://schemas.microsoft.com/office/drawing/2014/main" val="381975002"/>
                    </a:ext>
                  </a:extLst>
                </a:gridCol>
              </a:tblGrid>
              <a:tr h="3319609">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graphicFrame>
        <p:nvGraphicFramePr>
          <p:cNvPr id="8" name="Table 7">
            <a:extLst>
              <a:ext uri="{FF2B5EF4-FFF2-40B4-BE49-F238E27FC236}">
                <a16:creationId xmlns:a16="http://schemas.microsoft.com/office/drawing/2014/main" id="{42FD89E8-91BC-E94B-90DF-B8CDD0DF430A}"/>
              </a:ext>
            </a:extLst>
          </p:cNvPr>
          <p:cNvGraphicFramePr>
            <a:graphicFrameLocks noGrp="1"/>
          </p:cNvGraphicFramePr>
          <p:nvPr/>
        </p:nvGraphicFramePr>
        <p:xfrm>
          <a:off x="6583680" y="135791"/>
          <a:ext cx="5420581" cy="2680561"/>
        </p:xfrm>
        <a:graphic>
          <a:graphicData uri="http://schemas.openxmlformats.org/drawingml/2006/table">
            <a:tbl>
              <a:tblPr firstRow="1" bandRow="1">
                <a:tableStyleId>{5C22544A-7EE6-4342-B048-85BDC9FD1C3A}</a:tableStyleId>
              </a:tblPr>
              <a:tblGrid>
                <a:gridCol w="5420581">
                  <a:extLst>
                    <a:ext uri="{9D8B030D-6E8A-4147-A177-3AD203B41FA5}">
                      <a16:colId xmlns:a16="http://schemas.microsoft.com/office/drawing/2014/main" val="381975002"/>
                    </a:ext>
                  </a:extLst>
                </a:gridCol>
              </a:tblGrid>
              <a:tr h="2680561">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graphicFrame>
        <p:nvGraphicFramePr>
          <p:cNvPr id="7" name="Table 7">
            <a:extLst>
              <a:ext uri="{FF2B5EF4-FFF2-40B4-BE49-F238E27FC236}">
                <a16:creationId xmlns:a16="http://schemas.microsoft.com/office/drawing/2014/main" id="{0310DCE8-D24D-BD40-A648-A2DABE0F1CB0}"/>
              </a:ext>
            </a:extLst>
          </p:cNvPr>
          <p:cNvGraphicFramePr>
            <a:graphicFrameLocks noGrp="1"/>
          </p:cNvGraphicFramePr>
          <p:nvPr/>
        </p:nvGraphicFramePr>
        <p:xfrm>
          <a:off x="162782" y="1413063"/>
          <a:ext cx="6095999" cy="5079812"/>
        </p:xfrm>
        <a:graphic>
          <a:graphicData uri="http://schemas.openxmlformats.org/drawingml/2006/table">
            <a:tbl>
              <a:tblPr firstRow="1" bandRow="1">
                <a:tableStyleId>{5C22544A-7EE6-4342-B048-85BDC9FD1C3A}</a:tableStyleId>
              </a:tblPr>
              <a:tblGrid>
                <a:gridCol w="6095999">
                  <a:extLst>
                    <a:ext uri="{9D8B030D-6E8A-4147-A177-3AD203B41FA5}">
                      <a16:colId xmlns:a16="http://schemas.microsoft.com/office/drawing/2014/main" val="381975002"/>
                    </a:ext>
                  </a:extLst>
                </a:gridCol>
              </a:tblGrid>
              <a:tr h="5079812">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1816438764"/>
                  </a:ext>
                </a:extLst>
              </a:tr>
            </a:tbl>
          </a:graphicData>
        </a:graphic>
      </p:graphicFrame>
      <p:sp>
        <p:nvSpPr>
          <p:cNvPr id="2" name="Title 1">
            <a:extLst>
              <a:ext uri="{FF2B5EF4-FFF2-40B4-BE49-F238E27FC236}">
                <a16:creationId xmlns:a16="http://schemas.microsoft.com/office/drawing/2014/main" id="{C923FC27-2A8B-7D49-904F-5C45814A412E}"/>
              </a:ext>
            </a:extLst>
          </p:cNvPr>
          <p:cNvSpPr>
            <a:spLocks noGrp="1"/>
          </p:cNvSpPr>
          <p:nvPr>
            <p:ph type="title"/>
          </p:nvPr>
        </p:nvSpPr>
        <p:spPr>
          <a:xfrm>
            <a:off x="838200" y="124261"/>
            <a:ext cx="10515600" cy="1325563"/>
          </a:xfrm>
        </p:spPr>
        <p:txBody>
          <a:bodyPr/>
          <a:lstStyle/>
          <a:p>
            <a:r>
              <a:rPr lang="en-US" b="1" dirty="0">
                <a:latin typeface="Arial" panose="020B0604020202020204" pitchFamily="34" charset="0"/>
                <a:cs typeface="Arial" panose="020B0604020202020204" pitchFamily="34" charset="0"/>
              </a:rPr>
              <a:t>Composition</a:t>
            </a:r>
          </a:p>
        </p:txBody>
      </p:sp>
      <p:sp>
        <p:nvSpPr>
          <p:cNvPr id="4" name="Rectangle 3">
            <a:extLst>
              <a:ext uri="{FF2B5EF4-FFF2-40B4-BE49-F238E27FC236}">
                <a16:creationId xmlns:a16="http://schemas.microsoft.com/office/drawing/2014/main" id="{777D56C7-03E0-1543-9A95-BC4EC7478624}"/>
              </a:ext>
            </a:extLst>
          </p:cNvPr>
          <p:cNvSpPr/>
          <p:nvPr/>
        </p:nvSpPr>
        <p:spPr>
          <a:xfrm>
            <a:off x="341376" y="1575840"/>
            <a:ext cx="6096000" cy="4524315"/>
          </a:xfrm>
          <a:prstGeom prst="rect">
            <a:avLst/>
          </a:prstGeom>
        </p:spPr>
        <p:txBody>
          <a:bodyPr>
            <a:spAutoFit/>
          </a:bodyPr>
          <a:lstStyle/>
          <a:p>
            <a:r>
              <a:rPr lang="en-GB" sz="1600" b="1" dirty="0">
                <a:solidFill>
                  <a:srgbClr val="000080"/>
                </a:solidFill>
              </a:rPr>
              <a:t>class </a:t>
            </a:r>
            <a:r>
              <a:rPr lang="en-GB" sz="1600" dirty="0"/>
              <a:t>Animal:</a:t>
            </a:r>
            <a:br>
              <a:rPr lang="en-GB" sz="1600" dirty="0"/>
            </a:br>
            <a:r>
              <a:rPr lang="en-GB" sz="1600" dirty="0"/>
              <a:t>    </a:t>
            </a:r>
            <a:r>
              <a:rPr lang="en-GB" sz="1600" b="1" dirty="0">
                <a:solidFill>
                  <a:srgbClr val="000080"/>
                </a:solidFill>
              </a:rPr>
              <a:t>def </a:t>
            </a:r>
            <a:r>
              <a:rPr lang="en-GB" sz="1600" dirty="0">
                <a:solidFill>
                  <a:srgbClr val="B200B2"/>
                </a:solidFill>
              </a:rPr>
              <a:t>__</a:t>
            </a:r>
            <a:r>
              <a:rPr lang="en-GB" sz="1600" dirty="0" err="1">
                <a:solidFill>
                  <a:srgbClr val="B200B2"/>
                </a:solidFill>
              </a:rPr>
              <a:t>init</a:t>
            </a:r>
            <a:r>
              <a:rPr lang="en-GB" sz="1600" dirty="0">
                <a:solidFill>
                  <a:srgbClr val="B200B2"/>
                </a:solidFill>
              </a:rPr>
              <a:t>__</a:t>
            </a:r>
            <a:r>
              <a:rPr lang="en-GB" sz="1600" dirty="0"/>
              <a:t>(</a:t>
            </a:r>
            <a:r>
              <a:rPr lang="en-GB" sz="1600" dirty="0">
                <a:solidFill>
                  <a:srgbClr val="94558D"/>
                </a:solidFill>
              </a:rPr>
              <a:t>self</a:t>
            </a:r>
            <a:r>
              <a:rPr lang="en-GB" sz="1600" dirty="0"/>
              <a:t>, name, age, address):</a:t>
            </a:r>
            <a:br>
              <a:rPr lang="en-GB" sz="1600" dirty="0"/>
            </a:br>
            <a:r>
              <a:rPr lang="en-GB" sz="1600" dirty="0"/>
              <a:t>        </a:t>
            </a:r>
            <a:r>
              <a:rPr lang="en-GB" sz="1600" dirty="0" err="1">
                <a:solidFill>
                  <a:srgbClr val="94558D"/>
                </a:solidFill>
              </a:rPr>
              <a:t>self</a:t>
            </a:r>
            <a:r>
              <a:rPr lang="en-GB" sz="1600" dirty="0" err="1"/>
              <a:t>.__name</a:t>
            </a:r>
            <a:r>
              <a:rPr lang="en-GB" sz="1600" dirty="0"/>
              <a:t> = name</a:t>
            </a:r>
            <a:br>
              <a:rPr lang="en-GB" sz="1600" dirty="0"/>
            </a:br>
            <a:r>
              <a:rPr lang="en-GB" sz="1600" dirty="0"/>
              <a:t>        </a:t>
            </a:r>
            <a:r>
              <a:rPr lang="en-GB" sz="1600" dirty="0" err="1">
                <a:solidFill>
                  <a:srgbClr val="94558D"/>
                </a:solidFill>
              </a:rPr>
              <a:t>self</a:t>
            </a:r>
            <a:r>
              <a:rPr lang="en-GB" sz="1600" dirty="0" err="1"/>
              <a:t>.__age</a:t>
            </a:r>
            <a:r>
              <a:rPr lang="en-GB" sz="1600" dirty="0"/>
              <a:t> = age</a:t>
            </a:r>
            <a:br>
              <a:rPr lang="en-GB" sz="1600" dirty="0"/>
            </a:br>
            <a:r>
              <a:rPr lang="en-GB" sz="1600" dirty="0"/>
              <a:t>        </a:t>
            </a:r>
            <a:r>
              <a:rPr lang="en-GB" sz="1600" dirty="0" err="1">
                <a:solidFill>
                  <a:srgbClr val="94558D"/>
                </a:solidFill>
              </a:rPr>
              <a:t>self</a:t>
            </a:r>
            <a:r>
              <a:rPr lang="en-GB" sz="1600" dirty="0" err="1"/>
              <a:t>.address</a:t>
            </a:r>
            <a:r>
              <a:rPr lang="en-GB" sz="1600" dirty="0"/>
              <a:t>= address</a:t>
            </a:r>
            <a:br>
              <a:rPr lang="en-GB" sz="1600" dirty="0"/>
            </a:br>
            <a:br>
              <a:rPr lang="en-GB" sz="1600" dirty="0"/>
            </a:br>
            <a:r>
              <a:rPr lang="en-GB" sz="1600" dirty="0"/>
              <a:t>    </a:t>
            </a:r>
            <a:r>
              <a:rPr lang="en-GB" sz="1600" b="1" dirty="0">
                <a:solidFill>
                  <a:srgbClr val="000080"/>
                </a:solidFill>
              </a:rPr>
              <a:t>def </a:t>
            </a:r>
            <a:r>
              <a:rPr lang="en-GB" sz="1600" dirty="0" err="1"/>
              <a:t>get_name</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err="1">
                <a:solidFill>
                  <a:srgbClr val="94558D"/>
                </a:solidFill>
              </a:rPr>
              <a:t>self</a:t>
            </a:r>
            <a:r>
              <a:rPr lang="en-GB" sz="1600" dirty="0" err="1"/>
              <a:t>.__name</a:t>
            </a:r>
            <a:br>
              <a:rPr lang="en-GB" sz="1600" dirty="0"/>
            </a:br>
            <a:br>
              <a:rPr lang="en-GB" sz="1600" dirty="0"/>
            </a:br>
            <a:r>
              <a:rPr lang="en-GB" sz="1600" dirty="0"/>
              <a:t>    </a:t>
            </a:r>
            <a:r>
              <a:rPr lang="en-GB" sz="1600" b="1" dirty="0">
                <a:solidFill>
                  <a:srgbClr val="000080"/>
                </a:solidFill>
              </a:rPr>
              <a:t>def </a:t>
            </a:r>
            <a:r>
              <a:rPr lang="en-GB" sz="1600" dirty="0" err="1"/>
              <a:t>get_age</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err="1">
                <a:solidFill>
                  <a:srgbClr val="94558D"/>
                </a:solidFill>
              </a:rPr>
              <a:t>self</a:t>
            </a:r>
            <a:r>
              <a:rPr lang="en-GB" sz="1600" dirty="0" err="1"/>
              <a:t>.__age</a:t>
            </a:r>
            <a:br>
              <a:rPr lang="en-GB" sz="1600" dirty="0"/>
            </a:br>
            <a:br>
              <a:rPr lang="en-GB" sz="1600" dirty="0"/>
            </a:br>
            <a:r>
              <a:rPr lang="en-GB" sz="1600" dirty="0"/>
              <a:t>    </a:t>
            </a:r>
            <a:r>
              <a:rPr lang="en-GB" sz="1600" b="1" dirty="0">
                <a:solidFill>
                  <a:srgbClr val="000080"/>
                </a:solidFill>
              </a:rPr>
              <a:t>def </a:t>
            </a:r>
            <a:r>
              <a:rPr lang="en-GB" sz="1600" dirty="0" err="1"/>
              <a:t>get_Address</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dirty="0">
                <a:solidFill>
                  <a:srgbClr val="94558D"/>
                </a:solidFill>
              </a:rPr>
              <a:t>self</a:t>
            </a:r>
            <a:r>
              <a:rPr lang="en-GB" sz="1600" dirty="0"/>
              <a:t>. address</a:t>
            </a:r>
            <a:br>
              <a:rPr lang="en-GB" sz="1600" dirty="0"/>
            </a:br>
            <a:br>
              <a:rPr lang="en-GB" sz="1600" dirty="0"/>
            </a:br>
            <a:r>
              <a:rPr lang="en-GB" sz="1600" dirty="0"/>
              <a:t>    </a:t>
            </a:r>
            <a:r>
              <a:rPr lang="en-GB" sz="1600" b="1" dirty="0">
                <a:solidFill>
                  <a:srgbClr val="000080"/>
                </a:solidFill>
              </a:rPr>
              <a:t>def </a:t>
            </a:r>
            <a:r>
              <a:rPr lang="en-GB" sz="1600" dirty="0">
                <a:solidFill>
                  <a:srgbClr val="B200B2"/>
                </a:solidFill>
              </a:rPr>
              <a:t>__str__</a:t>
            </a:r>
            <a:r>
              <a:rPr lang="en-GB" sz="1600" dirty="0"/>
              <a:t>(</a:t>
            </a:r>
            <a:r>
              <a:rPr lang="en-GB" sz="1600" dirty="0">
                <a:solidFill>
                  <a:srgbClr val="94558D"/>
                </a:solidFill>
              </a:rPr>
              <a:t>self</a:t>
            </a:r>
            <a:r>
              <a:rPr lang="en-GB" sz="1600" dirty="0"/>
              <a:t>):</a:t>
            </a:r>
            <a:br>
              <a:rPr lang="en-GB" sz="1600" dirty="0"/>
            </a:br>
            <a:r>
              <a:rPr lang="en-GB" sz="1600" dirty="0"/>
              <a:t>        </a:t>
            </a:r>
            <a:r>
              <a:rPr lang="en-GB" sz="1600" b="1" dirty="0">
                <a:solidFill>
                  <a:srgbClr val="000080"/>
                </a:solidFill>
              </a:rPr>
              <a:t>return </a:t>
            </a:r>
            <a:r>
              <a:rPr lang="en-GB" sz="1600" b="1" dirty="0" err="1">
                <a:solidFill>
                  <a:srgbClr val="008080"/>
                </a:solidFill>
              </a:rPr>
              <a:t>f'the</a:t>
            </a:r>
            <a:r>
              <a:rPr lang="en-GB" sz="1600" b="1" dirty="0">
                <a:solidFill>
                  <a:srgbClr val="008080"/>
                </a:solidFill>
              </a:rPr>
              <a:t> Animal name is: </a:t>
            </a:r>
            <a:r>
              <a:rPr lang="en-GB" sz="1600" b="1" dirty="0">
                <a:solidFill>
                  <a:srgbClr val="000080"/>
                </a:solidFill>
              </a:rPr>
              <a:t>{</a:t>
            </a:r>
            <a:r>
              <a:rPr lang="en-GB" sz="1600" dirty="0" err="1">
                <a:solidFill>
                  <a:srgbClr val="94558D"/>
                </a:solidFill>
              </a:rPr>
              <a:t>self</a:t>
            </a:r>
            <a:r>
              <a:rPr lang="en-GB" sz="1600" dirty="0" err="1"/>
              <a:t>.__name</a:t>
            </a:r>
            <a:r>
              <a:rPr lang="en-GB" sz="1600" b="1" dirty="0">
                <a:solidFill>
                  <a:srgbClr val="000080"/>
                </a:solidFill>
              </a:rPr>
              <a:t>}</a:t>
            </a:r>
            <a:r>
              <a:rPr lang="en-GB" sz="1600" b="1" dirty="0">
                <a:solidFill>
                  <a:srgbClr val="008080"/>
                </a:solidFill>
              </a:rPr>
              <a:t> and he is: </a:t>
            </a:r>
            <a:r>
              <a:rPr lang="en-GB" sz="1600" b="1" dirty="0">
                <a:solidFill>
                  <a:srgbClr val="000080"/>
                </a:solidFill>
              </a:rPr>
              <a:t>{</a:t>
            </a:r>
            <a:r>
              <a:rPr lang="en-GB" sz="1600" dirty="0" err="1">
                <a:solidFill>
                  <a:srgbClr val="94558D"/>
                </a:solidFill>
              </a:rPr>
              <a:t>self</a:t>
            </a:r>
            <a:r>
              <a:rPr lang="en-GB" sz="1600" dirty="0" err="1"/>
              <a:t>.__age</a:t>
            </a:r>
            <a:r>
              <a:rPr lang="en-GB" sz="1600" b="1" dirty="0">
                <a:solidFill>
                  <a:srgbClr val="000080"/>
                </a:solidFill>
              </a:rPr>
              <a:t>}</a:t>
            </a:r>
            <a:r>
              <a:rPr lang="en-GB" sz="1600" b="1" dirty="0">
                <a:solidFill>
                  <a:srgbClr val="008080"/>
                </a:solidFill>
              </a:rPr>
              <a:t> years old</a:t>
            </a:r>
            <a:r>
              <a:rPr lang="en-GB" sz="1600" b="1" dirty="0">
                <a:solidFill>
                  <a:srgbClr val="000080"/>
                </a:solidFill>
              </a:rPr>
              <a:t>\n{</a:t>
            </a:r>
            <a:r>
              <a:rPr lang="en-GB" sz="1600" dirty="0" err="1">
                <a:solidFill>
                  <a:srgbClr val="94558D"/>
                </a:solidFill>
              </a:rPr>
              <a:t>self</a:t>
            </a:r>
            <a:r>
              <a:rPr lang="en-GB" sz="1600" dirty="0" err="1"/>
              <a:t>.address</a:t>
            </a:r>
            <a:r>
              <a:rPr lang="en-GB" sz="1600" b="1" dirty="0">
                <a:solidFill>
                  <a:srgbClr val="000080"/>
                </a:solidFill>
              </a:rPr>
              <a:t>}</a:t>
            </a:r>
            <a:r>
              <a:rPr lang="en-GB" sz="1600" b="1" dirty="0">
                <a:solidFill>
                  <a:srgbClr val="008080"/>
                </a:solidFill>
              </a:rPr>
              <a:t>'</a:t>
            </a:r>
            <a:endParaRPr lang="en-US" sz="1600" dirty="0"/>
          </a:p>
        </p:txBody>
      </p:sp>
      <p:sp>
        <p:nvSpPr>
          <p:cNvPr id="5" name="TextBox 4">
            <a:extLst>
              <a:ext uri="{FF2B5EF4-FFF2-40B4-BE49-F238E27FC236}">
                <a16:creationId xmlns:a16="http://schemas.microsoft.com/office/drawing/2014/main" id="{0CBB2185-5181-7E49-9CB4-8A494639710C}"/>
              </a:ext>
            </a:extLst>
          </p:cNvPr>
          <p:cNvSpPr txBox="1"/>
          <p:nvPr/>
        </p:nvSpPr>
        <p:spPr>
          <a:xfrm>
            <a:off x="6583680" y="135791"/>
            <a:ext cx="4820807" cy="2554545"/>
          </a:xfrm>
          <a:prstGeom prst="rect">
            <a:avLst/>
          </a:prstGeom>
          <a:noFill/>
        </p:spPr>
        <p:txBody>
          <a:bodyPr wrap="none" rtlCol="0">
            <a:spAutoFit/>
          </a:bodyPr>
          <a:lstStyle/>
          <a:p>
            <a:r>
              <a:rPr lang="en-GB" sz="1600" b="1" dirty="0"/>
              <a:t>class </a:t>
            </a:r>
            <a:r>
              <a:rPr lang="en-GB" sz="1600" dirty="0"/>
              <a:t>Address:</a:t>
            </a:r>
            <a:br>
              <a:rPr lang="en-GB" sz="1600" dirty="0"/>
            </a:br>
            <a:r>
              <a:rPr lang="en-GB" sz="1600" dirty="0"/>
              <a:t>    </a:t>
            </a:r>
            <a:r>
              <a:rPr lang="en-GB" sz="1600" b="1" dirty="0"/>
              <a:t>def </a:t>
            </a:r>
            <a:r>
              <a:rPr lang="en-GB" sz="1600" dirty="0">
                <a:solidFill>
                  <a:srgbClr val="C300B8"/>
                </a:solidFill>
              </a:rPr>
              <a:t>__</a:t>
            </a:r>
            <a:r>
              <a:rPr lang="en-GB" sz="1600" dirty="0" err="1">
                <a:solidFill>
                  <a:srgbClr val="C300B8"/>
                </a:solidFill>
              </a:rPr>
              <a:t>init</a:t>
            </a:r>
            <a:r>
              <a:rPr lang="en-GB" sz="1600" dirty="0">
                <a:solidFill>
                  <a:srgbClr val="C300B8"/>
                </a:solidFill>
              </a:rPr>
              <a:t>__</a:t>
            </a:r>
            <a:r>
              <a:rPr lang="en-GB" sz="1600" dirty="0"/>
              <a:t>(</a:t>
            </a:r>
            <a:r>
              <a:rPr lang="en-GB" sz="1600" dirty="0">
                <a:solidFill>
                  <a:srgbClr val="9E4F90"/>
                </a:solidFill>
              </a:rPr>
              <a:t>self</a:t>
            </a:r>
            <a:r>
              <a:rPr lang="en-GB" sz="1600" dirty="0"/>
              <a:t>, number, street, postcode, country):</a:t>
            </a:r>
            <a:br>
              <a:rPr lang="en-GB" sz="1600" dirty="0"/>
            </a:br>
            <a:r>
              <a:rPr lang="en-GB" sz="1600" dirty="0"/>
              <a:t>        </a:t>
            </a:r>
            <a:r>
              <a:rPr lang="en-GB" sz="1600" dirty="0" err="1">
                <a:solidFill>
                  <a:srgbClr val="9E4F90"/>
                </a:solidFill>
              </a:rPr>
              <a:t>self</a:t>
            </a:r>
            <a:r>
              <a:rPr lang="en-GB" sz="1600" dirty="0" err="1"/>
              <a:t>.number</a:t>
            </a:r>
            <a:r>
              <a:rPr lang="en-GB" sz="1600" dirty="0"/>
              <a:t> = number</a:t>
            </a:r>
            <a:br>
              <a:rPr lang="en-GB" sz="1600" dirty="0"/>
            </a:br>
            <a:r>
              <a:rPr lang="en-GB" sz="1600" dirty="0"/>
              <a:t>        </a:t>
            </a:r>
            <a:r>
              <a:rPr lang="en-GB" sz="1600" dirty="0" err="1">
                <a:solidFill>
                  <a:srgbClr val="9E4F90"/>
                </a:solidFill>
              </a:rPr>
              <a:t>self</a:t>
            </a:r>
            <a:r>
              <a:rPr lang="en-GB" sz="1600" dirty="0" err="1"/>
              <a:t>.street</a:t>
            </a:r>
            <a:r>
              <a:rPr lang="en-GB" sz="1600" dirty="0"/>
              <a:t> = street</a:t>
            </a:r>
            <a:br>
              <a:rPr lang="en-GB" sz="1600" dirty="0"/>
            </a:br>
            <a:r>
              <a:rPr lang="en-GB" sz="1600" dirty="0"/>
              <a:t>        </a:t>
            </a:r>
            <a:r>
              <a:rPr lang="en-GB" sz="1600" dirty="0" err="1">
                <a:solidFill>
                  <a:srgbClr val="9E4F90"/>
                </a:solidFill>
              </a:rPr>
              <a:t>self</a:t>
            </a:r>
            <a:r>
              <a:rPr lang="en-GB" sz="1600" dirty="0" err="1"/>
              <a:t>.postcode</a:t>
            </a:r>
            <a:r>
              <a:rPr lang="en-GB" sz="1600" dirty="0"/>
              <a:t> = postcode</a:t>
            </a:r>
            <a:br>
              <a:rPr lang="en-GB" sz="1600" dirty="0"/>
            </a:br>
            <a:r>
              <a:rPr lang="en-GB" sz="1600" dirty="0"/>
              <a:t>        </a:t>
            </a:r>
            <a:r>
              <a:rPr lang="en-GB" sz="1600" dirty="0" err="1">
                <a:solidFill>
                  <a:srgbClr val="9E4F90"/>
                </a:solidFill>
              </a:rPr>
              <a:t>self</a:t>
            </a:r>
            <a:r>
              <a:rPr lang="en-GB" sz="1600" dirty="0" err="1"/>
              <a:t>.country</a:t>
            </a:r>
            <a:r>
              <a:rPr lang="en-GB" sz="1600" dirty="0"/>
              <a:t> = country</a:t>
            </a:r>
            <a:br>
              <a:rPr lang="en-GB" sz="1600" dirty="0"/>
            </a:br>
            <a:br>
              <a:rPr lang="en-GB" sz="1600" b="1" dirty="0"/>
            </a:br>
            <a:r>
              <a:rPr lang="en-GB" sz="1600" b="1" dirty="0"/>
              <a:t>    def </a:t>
            </a:r>
            <a:r>
              <a:rPr lang="en-GB" sz="1600" dirty="0">
                <a:solidFill>
                  <a:srgbClr val="C300B8"/>
                </a:solidFill>
              </a:rPr>
              <a:t>__str__</a:t>
            </a:r>
            <a:r>
              <a:rPr lang="en-GB" sz="1600" dirty="0"/>
              <a:t>(</a:t>
            </a:r>
            <a:r>
              <a:rPr lang="en-GB" sz="1600" dirty="0">
                <a:solidFill>
                  <a:srgbClr val="9E4F90"/>
                </a:solidFill>
              </a:rPr>
              <a:t>self</a:t>
            </a:r>
            <a:r>
              <a:rPr lang="en-GB" sz="1600" dirty="0"/>
              <a:t>):</a:t>
            </a:r>
            <a:br>
              <a:rPr lang="en-GB" sz="1600" dirty="0"/>
            </a:br>
            <a:r>
              <a:rPr lang="en-GB" sz="1600" dirty="0"/>
              <a:t>        </a:t>
            </a:r>
            <a:r>
              <a:rPr lang="en-GB" sz="1600" b="1" dirty="0"/>
              <a:t>return </a:t>
            </a:r>
            <a:r>
              <a:rPr lang="en-GB" sz="1600" dirty="0" err="1">
                <a:solidFill>
                  <a:srgbClr val="008180"/>
                </a:solidFill>
              </a:rPr>
              <a:t>f'The</a:t>
            </a:r>
            <a:r>
              <a:rPr lang="en-GB" sz="1600" dirty="0">
                <a:solidFill>
                  <a:srgbClr val="008180"/>
                </a:solidFill>
              </a:rPr>
              <a:t> address is:</a:t>
            </a:r>
            <a:r>
              <a:rPr lang="en-GB" sz="1600" dirty="0"/>
              <a:t>\n{</a:t>
            </a:r>
            <a:r>
              <a:rPr lang="en-GB" sz="1600" dirty="0" err="1">
                <a:solidFill>
                  <a:srgbClr val="9E4F90"/>
                </a:solidFill>
              </a:rPr>
              <a:t>self</a:t>
            </a:r>
            <a:r>
              <a:rPr lang="en-GB" sz="1600" dirty="0" err="1"/>
              <a:t>.number</a:t>
            </a:r>
            <a:r>
              <a:rPr lang="en-GB" sz="1600" dirty="0"/>
              <a:t>} {</a:t>
            </a:r>
            <a:r>
              <a:rPr lang="en-GB" sz="1600" dirty="0" err="1">
                <a:solidFill>
                  <a:srgbClr val="9E4F90"/>
                </a:solidFill>
              </a:rPr>
              <a:t>self</a:t>
            </a:r>
            <a:r>
              <a:rPr lang="en-GB" sz="1600" dirty="0" err="1"/>
              <a:t>.street</a:t>
            </a:r>
            <a:r>
              <a:rPr lang="en-GB" sz="1600" dirty="0"/>
              <a:t>} </a:t>
            </a:r>
          </a:p>
          <a:p>
            <a:r>
              <a:rPr lang="en-GB" sz="1600" dirty="0"/>
              <a:t>	\n{</a:t>
            </a:r>
            <a:r>
              <a:rPr lang="en-GB" sz="1600" dirty="0" err="1">
                <a:solidFill>
                  <a:srgbClr val="9E4F90"/>
                </a:solidFill>
              </a:rPr>
              <a:t>self</a:t>
            </a:r>
            <a:r>
              <a:rPr lang="en-GB" sz="1600" dirty="0" err="1"/>
              <a:t>.postcode</a:t>
            </a:r>
            <a:r>
              <a:rPr lang="en-GB" sz="1600" dirty="0"/>
              <a:t>} \n{</a:t>
            </a:r>
            <a:r>
              <a:rPr lang="en-GB" sz="1600" dirty="0" err="1">
                <a:solidFill>
                  <a:srgbClr val="9E4F90"/>
                </a:solidFill>
              </a:rPr>
              <a:t>self</a:t>
            </a:r>
            <a:r>
              <a:rPr lang="en-GB" sz="1600" dirty="0" err="1"/>
              <a:t>.country</a:t>
            </a:r>
            <a:r>
              <a:rPr lang="en-GB" sz="1600" dirty="0"/>
              <a:t>}</a:t>
            </a:r>
            <a:r>
              <a:rPr lang="en-GB" sz="1600" dirty="0">
                <a:solidFill>
                  <a:srgbClr val="008180"/>
                </a:solidFill>
              </a:rPr>
              <a:t>'</a:t>
            </a:r>
            <a:endParaRPr lang="en-US" sz="1600" dirty="0">
              <a:solidFill>
                <a:srgbClr val="008180"/>
              </a:solidFill>
            </a:endParaRPr>
          </a:p>
        </p:txBody>
      </p:sp>
      <p:sp>
        <p:nvSpPr>
          <p:cNvPr id="6" name="TextBox 5">
            <a:extLst>
              <a:ext uri="{FF2B5EF4-FFF2-40B4-BE49-F238E27FC236}">
                <a16:creationId xmlns:a16="http://schemas.microsoft.com/office/drawing/2014/main" id="{3A484C29-2403-1444-A0B5-09AAE82AB668}"/>
              </a:ext>
            </a:extLst>
          </p:cNvPr>
          <p:cNvSpPr txBox="1"/>
          <p:nvPr/>
        </p:nvSpPr>
        <p:spPr>
          <a:xfrm>
            <a:off x="6437374" y="3080262"/>
            <a:ext cx="5813323" cy="4062651"/>
          </a:xfrm>
          <a:prstGeom prst="rect">
            <a:avLst/>
          </a:prstGeom>
          <a:noFill/>
        </p:spPr>
        <p:txBody>
          <a:bodyPr wrap="none" rtlCol="0">
            <a:spAutoFit/>
          </a:bodyPr>
          <a:lstStyle/>
          <a:p>
            <a:r>
              <a:rPr lang="en-GB" sz="1600" b="1" dirty="0">
                <a:solidFill>
                  <a:srgbClr val="0A007A"/>
                </a:solidFill>
              </a:rPr>
              <a:t>def</a:t>
            </a:r>
            <a:r>
              <a:rPr lang="en-GB" sz="1600" b="1" dirty="0"/>
              <a:t> </a:t>
            </a:r>
            <a:r>
              <a:rPr lang="en-GB" sz="1600" dirty="0"/>
              <a:t>main():</a:t>
            </a:r>
            <a:br>
              <a:rPr lang="en-GB" sz="1600" dirty="0"/>
            </a:br>
            <a:r>
              <a:rPr lang="en-GB" sz="1600" dirty="0"/>
              <a:t>    </a:t>
            </a:r>
            <a:r>
              <a:rPr lang="en-GB" sz="1600" dirty="0" err="1"/>
              <a:t>vuk</a:t>
            </a:r>
            <a:r>
              <a:rPr lang="en-GB" sz="1600" dirty="0"/>
              <a:t> = Dog(</a:t>
            </a:r>
            <a:r>
              <a:rPr lang="en-GB" sz="1600" dirty="0">
                <a:solidFill>
                  <a:srgbClr val="008180"/>
                </a:solidFill>
              </a:rPr>
              <a:t>'</a:t>
            </a:r>
            <a:r>
              <a:rPr lang="en-GB" sz="1600" dirty="0" err="1">
                <a:solidFill>
                  <a:srgbClr val="008180"/>
                </a:solidFill>
              </a:rPr>
              <a:t>Vuk</a:t>
            </a:r>
            <a:r>
              <a:rPr lang="en-GB" sz="1600" dirty="0">
                <a:solidFill>
                  <a:srgbClr val="008180"/>
                </a:solidFill>
              </a:rPr>
              <a:t>'</a:t>
            </a:r>
            <a:r>
              <a:rPr lang="en-GB" sz="1600" dirty="0"/>
              <a:t>, </a:t>
            </a:r>
            <a:r>
              <a:rPr lang="en-GB" sz="1600" dirty="0">
                <a:solidFill>
                  <a:srgbClr val="2300FF"/>
                </a:solidFill>
              </a:rPr>
              <a:t>5</a:t>
            </a:r>
            <a:r>
              <a:rPr lang="en-GB" sz="1600" dirty="0"/>
              <a:t>, Address(</a:t>
            </a:r>
            <a:r>
              <a:rPr lang="en-GB" sz="1600" dirty="0">
                <a:solidFill>
                  <a:srgbClr val="2300FF"/>
                </a:solidFill>
              </a:rPr>
              <a:t>1</a:t>
            </a:r>
            <a:r>
              <a:rPr lang="en-GB" sz="1600" dirty="0"/>
              <a:t>, </a:t>
            </a:r>
            <a:r>
              <a:rPr lang="en-GB" sz="1600" dirty="0">
                <a:solidFill>
                  <a:srgbClr val="008180"/>
                </a:solidFill>
              </a:rPr>
              <a:t>'Station Road'</a:t>
            </a:r>
            <a:r>
              <a:rPr lang="en-GB" sz="1600" dirty="0"/>
              <a:t>, </a:t>
            </a:r>
            <a:r>
              <a:rPr lang="en-GB" sz="1600" dirty="0">
                <a:solidFill>
                  <a:srgbClr val="008180"/>
                </a:solidFill>
              </a:rPr>
              <a:t>‘ES4'</a:t>
            </a:r>
            <a:r>
              <a:rPr lang="en-GB" sz="1600" dirty="0"/>
              <a:t>, </a:t>
            </a:r>
            <a:r>
              <a:rPr lang="en-GB" sz="1600" dirty="0">
                <a:solidFill>
                  <a:srgbClr val="008180"/>
                </a:solidFill>
              </a:rPr>
              <a:t>'UK'</a:t>
            </a:r>
            <a:r>
              <a:rPr lang="en-GB" sz="1600" dirty="0"/>
              <a:t>))</a:t>
            </a:r>
            <a:br>
              <a:rPr lang="en-GB" sz="1600" dirty="0"/>
            </a:br>
            <a:r>
              <a:rPr lang="en-GB" sz="1600" dirty="0"/>
              <a:t>    princess = Dog(</a:t>
            </a:r>
            <a:r>
              <a:rPr lang="en-GB" sz="1600" dirty="0">
                <a:solidFill>
                  <a:srgbClr val="008180"/>
                </a:solidFill>
              </a:rPr>
              <a:t>'Princess'</a:t>
            </a:r>
            <a:r>
              <a:rPr lang="en-GB" sz="1600" dirty="0"/>
              <a:t>, </a:t>
            </a:r>
            <a:r>
              <a:rPr lang="en-GB" sz="1600" dirty="0">
                <a:solidFill>
                  <a:srgbClr val="2300FF"/>
                </a:solidFill>
              </a:rPr>
              <a:t>2</a:t>
            </a:r>
            <a:r>
              <a:rPr lang="en-GB" sz="1600" dirty="0"/>
              <a:t>, Address(2, </a:t>
            </a:r>
            <a:r>
              <a:rPr lang="en-GB" sz="1600" dirty="0">
                <a:solidFill>
                  <a:srgbClr val="008180"/>
                </a:solidFill>
              </a:rPr>
              <a:t>'Hendon Lane'</a:t>
            </a:r>
            <a:r>
              <a:rPr lang="en-GB" sz="1600" dirty="0"/>
              <a:t>, </a:t>
            </a:r>
            <a:r>
              <a:rPr lang="en-GB" sz="1600" dirty="0">
                <a:solidFill>
                  <a:srgbClr val="008180"/>
                </a:solidFill>
              </a:rPr>
              <a:t>'N4'</a:t>
            </a:r>
            <a:r>
              <a:rPr lang="en-GB" sz="1600" dirty="0"/>
              <a:t>, </a:t>
            </a:r>
            <a:r>
              <a:rPr lang="en-GB" sz="1600" dirty="0">
                <a:solidFill>
                  <a:srgbClr val="008180"/>
                </a:solidFill>
              </a:rPr>
              <a:t>'UK'</a:t>
            </a:r>
            <a:r>
              <a:rPr lang="en-GB" sz="1600" dirty="0"/>
              <a:t>))</a:t>
            </a:r>
            <a:br>
              <a:rPr lang="en-GB" sz="1600" dirty="0"/>
            </a:br>
            <a:r>
              <a:rPr lang="en-GB" sz="1600" dirty="0"/>
              <a:t>    </a:t>
            </a:r>
            <a:r>
              <a:rPr lang="en-GB" sz="1600" dirty="0" err="1"/>
              <a:t>poko</a:t>
            </a:r>
            <a:r>
              <a:rPr lang="en-GB" sz="1600" dirty="0"/>
              <a:t> = Cat(</a:t>
            </a:r>
            <a:r>
              <a:rPr lang="en-GB" sz="1600" dirty="0">
                <a:solidFill>
                  <a:srgbClr val="008180"/>
                </a:solidFill>
              </a:rPr>
              <a:t>'Poko'</a:t>
            </a:r>
            <a:r>
              <a:rPr lang="en-GB" sz="1600" dirty="0"/>
              <a:t>,</a:t>
            </a:r>
            <a:r>
              <a:rPr lang="en-GB" sz="1600" dirty="0">
                <a:solidFill>
                  <a:srgbClr val="2300FF"/>
                </a:solidFill>
              </a:rPr>
              <a:t>1</a:t>
            </a:r>
            <a:r>
              <a:rPr lang="en-GB" sz="1600" dirty="0"/>
              <a:t>, Address(</a:t>
            </a:r>
            <a:r>
              <a:rPr lang="en-GB" sz="1600" dirty="0">
                <a:solidFill>
                  <a:srgbClr val="2300FF"/>
                </a:solidFill>
              </a:rPr>
              <a:t>1</a:t>
            </a:r>
            <a:r>
              <a:rPr lang="en-GB" sz="1600" dirty="0"/>
              <a:t>, </a:t>
            </a:r>
            <a:r>
              <a:rPr lang="en-GB" sz="1600" dirty="0">
                <a:solidFill>
                  <a:srgbClr val="008180"/>
                </a:solidFill>
              </a:rPr>
              <a:t>‘Dog lane'</a:t>
            </a:r>
            <a:r>
              <a:rPr lang="en-GB" sz="1600" dirty="0"/>
              <a:t>, </a:t>
            </a:r>
            <a:r>
              <a:rPr lang="en-GB" sz="1600" dirty="0">
                <a:solidFill>
                  <a:srgbClr val="008180"/>
                </a:solidFill>
              </a:rPr>
              <a:t>‘NW1'</a:t>
            </a:r>
            <a:r>
              <a:rPr lang="en-GB" sz="1600" dirty="0"/>
              <a:t>, </a:t>
            </a:r>
            <a:r>
              <a:rPr lang="en-GB" sz="1600" dirty="0">
                <a:solidFill>
                  <a:srgbClr val="008180"/>
                </a:solidFill>
              </a:rPr>
              <a:t>'UK'</a:t>
            </a:r>
            <a:r>
              <a:rPr lang="en-GB" sz="1600" dirty="0"/>
              <a:t>))</a:t>
            </a:r>
            <a:br>
              <a:rPr lang="en-GB" sz="1600" dirty="0"/>
            </a:br>
            <a:br>
              <a:rPr lang="en-GB" sz="1600" dirty="0"/>
            </a:br>
            <a:r>
              <a:rPr lang="en-GB" sz="1600" dirty="0"/>
              <a:t>    animals = [</a:t>
            </a:r>
            <a:r>
              <a:rPr lang="en-GB" sz="1600" dirty="0" err="1"/>
              <a:t>vuk</a:t>
            </a:r>
            <a:r>
              <a:rPr lang="en-GB" sz="1600" dirty="0"/>
              <a:t>, princess, </a:t>
            </a:r>
            <a:r>
              <a:rPr lang="en-GB" sz="1600" dirty="0" err="1"/>
              <a:t>poko</a:t>
            </a:r>
            <a:r>
              <a:rPr lang="en-GB" sz="1600" dirty="0"/>
              <a:t>]</a:t>
            </a:r>
            <a:br>
              <a:rPr lang="en-GB" sz="1600" dirty="0"/>
            </a:br>
            <a:br>
              <a:rPr lang="en-GB" sz="1600" dirty="0"/>
            </a:br>
            <a:r>
              <a:rPr lang="en-GB" sz="1600" dirty="0"/>
              <a:t>    </a:t>
            </a:r>
            <a:r>
              <a:rPr lang="en-GB" sz="1600" b="1" dirty="0">
                <a:solidFill>
                  <a:srgbClr val="0A007A"/>
                </a:solidFill>
              </a:rPr>
              <a:t>for</a:t>
            </a:r>
            <a:r>
              <a:rPr lang="en-GB" sz="1600" b="1" dirty="0"/>
              <a:t> </a:t>
            </a:r>
            <a:r>
              <a:rPr lang="en-GB" sz="1600" dirty="0" err="1"/>
              <a:t>i</a:t>
            </a:r>
            <a:r>
              <a:rPr lang="en-GB" sz="1600" dirty="0"/>
              <a:t> </a:t>
            </a:r>
            <a:r>
              <a:rPr lang="en-GB" sz="1600" b="1" dirty="0">
                <a:solidFill>
                  <a:srgbClr val="0A007A"/>
                </a:solidFill>
              </a:rPr>
              <a:t>in</a:t>
            </a:r>
            <a:r>
              <a:rPr lang="en-GB" sz="1600" b="1" dirty="0"/>
              <a:t> </a:t>
            </a:r>
            <a:r>
              <a:rPr lang="en-GB" sz="1600" dirty="0"/>
              <a:t>animals:</a:t>
            </a:r>
            <a:br>
              <a:rPr lang="en-GB" sz="1600" dirty="0"/>
            </a:br>
            <a:r>
              <a:rPr lang="en-GB" sz="1600" dirty="0"/>
              <a:t>        print(</a:t>
            </a:r>
            <a:r>
              <a:rPr lang="en-GB" sz="1600" dirty="0" err="1"/>
              <a:t>i</a:t>
            </a:r>
            <a:r>
              <a:rPr lang="en-GB" sz="1600" dirty="0"/>
              <a:t>)</a:t>
            </a:r>
            <a:br>
              <a:rPr lang="en-GB" sz="1600" dirty="0"/>
            </a:br>
            <a:r>
              <a:rPr lang="en-GB" sz="1600" dirty="0"/>
              <a:t>        print(</a:t>
            </a:r>
            <a:r>
              <a:rPr lang="en-GB" sz="1600" b="1" dirty="0">
                <a:solidFill>
                  <a:srgbClr val="008180"/>
                </a:solidFill>
              </a:rPr>
              <a:t>'----------------------'</a:t>
            </a:r>
            <a:r>
              <a:rPr lang="en-GB" sz="1600" dirty="0"/>
              <a:t>)</a:t>
            </a:r>
            <a:br>
              <a:rPr lang="en-GB" sz="1600" dirty="0"/>
            </a:br>
            <a:br>
              <a:rPr lang="en-GB" sz="1600" dirty="0"/>
            </a:br>
            <a:r>
              <a:rPr lang="en-GB" sz="1600" b="1" dirty="0"/>
              <a:t>if </a:t>
            </a:r>
            <a:r>
              <a:rPr lang="en-GB" sz="1600" dirty="0">
                <a:solidFill>
                  <a:srgbClr val="C300B8"/>
                </a:solidFill>
              </a:rPr>
              <a:t>__name__</a:t>
            </a:r>
            <a:r>
              <a:rPr lang="en-GB" sz="1600" dirty="0"/>
              <a:t>==</a:t>
            </a:r>
            <a:r>
              <a:rPr lang="en-GB" sz="1600" b="1" dirty="0">
                <a:solidFill>
                  <a:srgbClr val="008180"/>
                </a:solidFill>
              </a:rPr>
              <a:t>'__main__'</a:t>
            </a:r>
            <a:r>
              <a:rPr lang="en-GB" sz="1600" dirty="0"/>
              <a:t>:</a:t>
            </a:r>
            <a:br>
              <a:rPr lang="en-GB" sz="1600" dirty="0"/>
            </a:br>
            <a:r>
              <a:rPr lang="en-GB" sz="1600" dirty="0"/>
              <a:t>    main()</a:t>
            </a:r>
            <a:br>
              <a:rPr lang="en-GB" sz="1600" dirty="0"/>
            </a:br>
            <a:br>
              <a:rPr lang="en-GB" sz="1600" dirty="0"/>
            </a:br>
            <a:endParaRPr lang="en-GB" dirty="0"/>
          </a:p>
          <a:p>
            <a:endParaRPr lang="en-US" sz="1600" dirty="0"/>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691E4E72-7CBD-2E46-A227-0C911C0B56E5}"/>
                  </a:ext>
                </a:extLst>
              </p14:cNvPr>
              <p14:cNvContentPartPr/>
              <p14:nvPr/>
            </p14:nvContentPartPr>
            <p14:xfrm>
              <a:off x="6494856" y="-66936"/>
              <a:ext cx="5632920" cy="2923560"/>
            </p14:xfrm>
          </p:contentPart>
        </mc:Choice>
        <mc:Fallback xmlns="">
          <p:pic>
            <p:nvPicPr>
              <p:cNvPr id="16" name="Ink 15">
                <a:extLst>
                  <a:ext uri="{FF2B5EF4-FFF2-40B4-BE49-F238E27FC236}">
                    <a16:creationId xmlns:a16="http://schemas.microsoft.com/office/drawing/2014/main" id="{691E4E72-7CBD-2E46-A227-0C911C0B56E5}"/>
                  </a:ext>
                </a:extLst>
              </p:cNvPr>
              <p:cNvPicPr/>
              <p:nvPr/>
            </p:nvPicPr>
            <p:blipFill>
              <a:blip r:embed="rId3"/>
              <a:stretch>
                <a:fillRect/>
              </a:stretch>
            </p:blipFill>
            <p:spPr>
              <a:xfrm>
                <a:off x="6485856" y="-75936"/>
                <a:ext cx="5650560" cy="2941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3B58DF86-BD61-424A-B288-031021193C04}"/>
                  </a:ext>
                </a:extLst>
              </p14:cNvPr>
              <p14:cNvContentPartPr/>
              <p14:nvPr/>
            </p14:nvContentPartPr>
            <p14:xfrm>
              <a:off x="8284776" y="3562944"/>
              <a:ext cx="3177000" cy="73800"/>
            </p14:xfrm>
          </p:contentPart>
        </mc:Choice>
        <mc:Fallback xmlns="">
          <p:pic>
            <p:nvPicPr>
              <p:cNvPr id="18" name="Ink 17">
                <a:extLst>
                  <a:ext uri="{FF2B5EF4-FFF2-40B4-BE49-F238E27FC236}">
                    <a16:creationId xmlns:a16="http://schemas.microsoft.com/office/drawing/2014/main" id="{3B58DF86-BD61-424A-B288-031021193C04}"/>
                  </a:ext>
                </a:extLst>
              </p:cNvPr>
              <p:cNvPicPr/>
              <p:nvPr/>
            </p:nvPicPr>
            <p:blipFill>
              <a:blip r:embed="rId5"/>
              <a:stretch>
                <a:fillRect/>
              </a:stretch>
            </p:blipFill>
            <p:spPr>
              <a:xfrm>
                <a:off x="8275776" y="3553944"/>
                <a:ext cx="31946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8A17A513-002C-2A4A-B5E7-E0D980158457}"/>
                  </a:ext>
                </a:extLst>
              </p14:cNvPr>
              <p14:cNvContentPartPr/>
              <p14:nvPr/>
            </p14:nvContentPartPr>
            <p14:xfrm>
              <a:off x="9081456" y="3785784"/>
              <a:ext cx="3021480" cy="69480"/>
            </p14:xfrm>
          </p:contentPart>
        </mc:Choice>
        <mc:Fallback xmlns="">
          <p:pic>
            <p:nvPicPr>
              <p:cNvPr id="19" name="Ink 18">
                <a:extLst>
                  <a:ext uri="{FF2B5EF4-FFF2-40B4-BE49-F238E27FC236}">
                    <a16:creationId xmlns:a16="http://schemas.microsoft.com/office/drawing/2014/main" id="{8A17A513-002C-2A4A-B5E7-E0D980158457}"/>
                  </a:ext>
                </a:extLst>
              </p:cNvPr>
              <p:cNvPicPr/>
              <p:nvPr/>
            </p:nvPicPr>
            <p:blipFill>
              <a:blip r:embed="rId7"/>
              <a:stretch>
                <a:fillRect/>
              </a:stretch>
            </p:blipFill>
            <p:spPr>
              <a:xfrm>
                <a:off x="9072816" y="3777144"/>
                <a:ext cx="30391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0EED5FB0-C710-FC44-98CF-34BB6FCE61E5}"/>
                  </a:ext>
                </a:extLst>
              </p14:cNvPr>
              <p14:cNvContentPartPr/>
              <p14:nvPr/>
            </p14:nvContentPartPr>
            <p14:xfrm>
              <a:off x="8397456" y="4100064"/>
              <a:ext cx="2876040" cy="75960"/>
            </p14:xfrm>
          </p:contentPart>
        </mc:Choice>
        <mc:Fallback xmlns="">
          <p:pic>
            <p:nvPicPr>
              <p:cNvPr id="20" name="Ink 19">
                <a:extLst>
                  <a:ext uri="{FF2B5EF4-FFF2-40B4-BE49-F238E27FC236}">
                    <a16:creationId xmlns:a16="http://schemas.microsoft.com/office/drawing/2014/main" id="{0EED5FB0-C710-FC44-98CF-34BB6FCE61E5}"/>
                  </a:ext>
                </a:extLst>
              </p:cNvPr>
              <p:cNvPicPr/>
              <p:nvPr/>
            </p:nvPicPr>
            <p:blipFill>
              <a:blip r:embed="rId9"/>
              <a:stretch>
                <a:fillRect/>
              </a:stretch>
            </p:blipFill>
            <p:spPr>
              <a:xfrm>
                <a:off x="8388816" y="4091064"/>
                <a:ext cx="28936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720B1557-22CA-6449-A426-91C363C69118}"/>
                  </a:ext>
                </a:extLst>
              </p14:cNvPr>
              <p14:cNvContentPartPr/>
              <p14:nvPr/>
            </p14:nvContentPartPr>
            <p14:xfrm>
              <a:off x="3003216" y="2092344"/>
              <a:ext cx="740520" cy="45360"/>
            </p14:xfrm>
          </p:contentPart>
        </mc:Choice>
        <mc:Fallback xmlns="">
          <p:pic>
            <p:nvPicPr>
              <p:cNvPr id="22" name="Ink 21">
                <a:extLst>
                  <a:ext uri="{FF2B5EF4-FFF2-40B4-BE49-F238E27FC236}">
                    <a16:creationId xmlns:a16="http://schemas.microsoft.com/office/drawing/2014/main" id="{720B1557-22CA-6449-A426-91C363C69118}"/>
                  </a:ext>
                </a:extLst>
              </p:cNvPr>
              <p:cNvPicPr/>
              <p:nvPr/>
            </p:nvPicPr>
            <p:blipFill>
              <a:blip r:embed="rId11"/>
              <a:stretch>
                <a:fillRect/>
              </a:stretch>
            </p:blipFill>
            <p:spPr>
              <a:xfrm>
                <a:off x="2994576" y="2083704"/>
                <a:ext cx="7581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B449FDAA-919C-924C-9E85-5590CD8B1EBD}"/>
                  </a:ext>
                </a:extLst>
              </p14:cNvPr>
              <p14:cNvContentPartPr/>
              <p14:nvPr/>
            </p14:nvContentPartPr>
            <p14:xfrm>
              <a:off x="764016" y="2800824"/>
              <a:ext cx="1998360" cy="127440"/>
            </p14:xfrm>
          </p:contentPart>
        </mc:Choice>
        <mc:Fallback xmlns="">
          <p:pic>
            <p:nvPicPr>
              <p:cNvPr id="23" name="Ink 22">
                <a:extLst>
                  <a:ext uri="{FF2B5EF4-FFF2-40B4-BE49-F238E27FC236}">
                    <a16:creationId xmlns:a16="http://schemas.microsoft.com/office/drawing/2014/main" id="{B449FDAA-919C-924C-9E85-5590CD8B1EBD}"/>
                  </a:ext>
                </a:extLst>
              </p:cNvPr>
              <p:cNvPicPr/>
              <p:nvPr/>
            </p:nvPicPr>
            <p:blipFill>
              <a:blip r:embed="rId13"/>
              <a:stretch>
                <a:fillRect/>
              </a:stretch>
            </p:blipFill>
            <p:spPr>
              <a:xfrm>
                <a:off x="755376" y="2792184"/>
                <a:ext cx="20160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ABD00165-3DBF-7542-92D4-125AE640C775}"/>
                  </a:ext>
                </a:extLst>
              </p14:cNvPr>
              <p14:cNvContentPartPr/>
              <p14:nvPr/>
            </p14:nvContentPartPr>
            <p14:xfrm>
              <a:off x="1382496" y="6033264"/>
              <a:ext cx="1330200" cy="9720"/>
            </p14:xfrm>
          </p:contentPart>
        </mc:Choice>
        <mc:Fallback xmlns="">
          <p:pic>
            <p:nvPicPr>
              <p:cNvPr id="24" name="Ink 23">
                <a:extLst>
                  <a:ext uri="{FF2B5EF4-FFF2-40B4-BE49-F238E27FC236}">
                    <a16:creationId xmlns:a16="http://schemas.microsoft.com/office/drawing/2014/main" id="{ABD00165-3DBF-7542-92D4-125AE640C775}"/>
                  </a:ext>
                </a:extLst>
              </p:cNvPr>
              <p:cNvPicPr/>
              <p:nvPr/>
            </p:nvPicPr>
            <p:blipFill>
              <a:blip r:embed="rId15"/>
              <a:stretch>
                <a:fillRect/>
              </a:stretch>
            </p:blipFill>
            <p:spPr>
              <a:xfrm>
                <a:off x="1373496" y="6024264"/>
                <a:ext cx="1347840" cy="27360"/>
              </a:xfrm>
              <a:prstGeom prst="rect">
                <a:avLst/>
              </a:prstGeom>
            </p:spPr>
          </p:pic>
        </mc:Fallback>
      </mc:AlternateContent>
    </p:spTree>
    <p:extLst>
      <p:ext uri="{BB962C8B-B14F-4D97-AF65-F5344CB8AC3E}">
        <p14:creationId xmlns:p14="http://schemas.microsoft.com/office/powerpoint/2010/main" val="12871339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9EEA-0033-3D4D-A5B6-64A509E0EB28}"/>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inheritance</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40CCB05-2E3B-8D4E-B915-4B6E5A484332}"/>
              </a:ext>
            </a:extLst>
          </p:cNvPr>
          <p:cNvSpPr>
            <a:spLocks noGrp="1"/>
          </p:cNvSpPr>
          <p:nvPr>
            <p:ph idx="1"/>
          </p:nvPr>
        </p:nvSpPr>
        <p:spPr/>
        <p:txBody>
          <a:bodyPr>
            <a:normAutofit/>
          </a:bodyPr>
          <a:lstStyle/>
          <a:p>
            <a:r>
              <a:rPr lang="en-GB" sz="2400" b="1" dirty="0"/>
              <a:t>Inheritance</a:t>
            </a:r>
            <a:r>
              <a:rPr lang="en-GB" sz="2400" dirty="0"/>
              <a:t> models what is called an </a:t>
            </a:r>
            <a:r>
              <a:rPr lang="en-GB" sz="2400" b="1" dirty="0"/>
              <a:t>is a</a:t>
            </a:r>
            <a:r>
              <a:rPr lang="en-GB" sz="2400" dirty="0"/>
              <a:t> relationship. This means that when you have a Derived class that inherits from a Base class, you created a relationship where Derived </a:t>
            </a:r>
            <a:r>
              <a:rPr lang="en-GB" sz="2400" b="1" dirty="0"/>
              <a:t>is a</a:t>
            </a:r>
            <a:r>
              <a:rPr lang="en-GB" sz="2400" dirty="0"/>
              <a:t> specialized version of Base.</a:t>
            </a:r>
          </a:p>
          <a:p>
            <a:r>
              <a:rPr lang="en-GB" sz="2400" dirty="0"/>
              <a:t>Example: a cat is a animal (</a:t>
            </a:r>
            <a:r>
              <a:rPr lang="en-GB" sz="2400" b="1" dirty="0"/>
              <a:t>inheritance</a:t>
            </a:r>
            <a:r>
              <a:rPr lang="en-GB" sz="2400" dirty="0"/>
              <a:t> / </a:t>
            </a:r>
            <a:r>
              <a:rPr lang="en-GB" sz="2400" b="1" dirty="0"/>
              <a:t>generalization</a:t>
            </a:r>
            <a:r>
              <a:rPr lang="en-GB" sz="2400" dirty="0"/>
              <a:t>)</a:t>
            </a:r>
            <a:endParaRPr lang="en-US" sz="2400" dirty="0"/>
          </a:p>
        </p:txBody>
      </p:sp>
      <p:pic>
        <p:nvPicPr>
          <p:cNvPr id="5" name="Picture 4" descr="Diagram&#10;&#10;Description automatically generated">
            <a:extLst>
              <a:ext uri="{FF2B5EF4-FFF2-40B4-BE49-F238E27FC236}">
                <a16:creationId xmlns:a16="http://schemas.microsoft.com/office/drawing/2014/main" id="{1CE353CB-C9B0-AB46-919E-8B159C590D85}"/>
              </a:ext>
            </a:extLst>
          </p:cNvPr>
          <p:cNvPicPr>
            <a:picLocks noChangeAspect="1"/>
          </p:cNvPicPr>
          <p:nvPr/>
        </p:nvPicPr>
        <p:blipFill>
          <a:blip r:embed="rId2"/>
          <a:stretch>
            <a:fillRect/>
          </a:stretch>
        </p:blipFill>
        <p:spPr>
          <a:xfrm>
            <a:off x="3930650" y="4483100"/>
            <a:ext cx="3517900" cy="1828800"/>
          </a:xfrm>
          <a:prstGeom prst="rect">
            <a:avLst/>
          </a:prstGeom>
        </p:spPr>
      </p:pic>
    </p:spTree>
    <p:extLst>
      <p:ext uri="{BB962C8B-B14F-4D97-AF65-F5344CB8AC3E}">
        <p14:creationId xmlns:p14="http://schemas.microsoft.com/office/powerpoint/2010/main" val="4231413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7097</TotalTime>
  <Words>3551</Words>
  <Application>Microsoft Macintosh PowerPoint</Application>
  <PresentationFormat>Widescreen</PresentationFormat>
  <Paragraphs>298</Paragraphs>
  <Slides>39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Consolas</vt:lpstr>
      <vt:lpstr>Office Theme</vt:lpstr>
      <vt:lpstr>PowerPoint Presentation</vt:lpstr>
      <vt:lpstr>Objectives:</vt:lpstr>
      <vt:lpstr>Programming paradigms</vt:lpstr>
      <vt:lpstr>OOP</vt:lpstr>
      <vt:lpstr>OOP - principles</vt:lpstr>
      <vt:lpstr>Entry point:</vt:lpstr>
      <vt:lpstr>Object</vt:lpstr>
      <vt:lpstr>Class UML </vt:lpstr>
      <vt:lpstr>Define Object using class</vt:lpstr>
      <vt:lpstr>Class and Object code Example:</vt:lpstr>
      <vt:lpstr>Define Object using class</vt:lpstr>
      <vt:lpstr>A simple class</vt:lpstr>
      <vt:lpstr>Creating object of a class</vt:lpstr>
      <vt:lpstr>Defining method</vt:lpstr>
      <vt:lpstr>Calling methods using the dot operator</vt:lpstr>
      <vt:lpstr>constructor/initializer</vt:lpstr>
      <vt:lpstr>Instantiated object (initialize constructor)</vt:lpstr>
      <vt:lpstr>Class variables</vt:lpstr>
      <vt:lpstr>Using __repr__ method to represent an object</vt:lpstr>
      <vt:lpstr>Using __str__ method to represent an object</vt:lpstr>
      <vt:lpstr>Hiding Data Fields</vt:lpstr>
      <vt:lpstr>Activity</vt:lpstr>
      <vt:lpstr>Underscores in Python</vt:lpstr>
      <vt:lpstr>Inheritance:</vt:lpstr>
      <vt:lpstr>Example of Inheritance</vt:lpstr>
      <vt:lpstr>superclass and subclass constructor</vt:lpstr>
      <vt:lpstr>Code example of Inheritance</vt:lpstr>
      <vt:lpstr>Overriding Methods</vt:lpstr>
      <vt:lpstr>The object Class </vt:lpstr>
      <vt:lpstr>Activity</vt:lpstr>
      <vt:lpstr>Check for equality</vt:lpstr>
      <vt:lpstr>Polymorphism</vt:lpstr>
      <vt:lpstr>The isinstance Function</vt:lpstr>
      <vt:lpstr>Activity</vt:lpstr>
      <vt:lpstr>Class Relationships</vt:lpstr>
      <vt:lpstr>association</vt:lpstr>
      <vt:lpstr>aggregation / composition</vt:lpstr>
      <vt:lpstr>Composition</vt:lpstr>
      <vt:lpstr>inheritance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 Wieclaw</dc:creator>
  <cp:lastModifiedBy>Anna Wieclaw</cp:lastModifiedBy>
  <cp:revision>108</cp:revision>
  <dcterms:created xsi:type="dcterms:W3CDTF">2020-10-04T09:13:27Z</dcterms:created>
  <dcterms:modified xsi:type="dcterms:W3CDTF">2024-11-03T07:04:29Z</dcterms:modified>
</cp:coreProperties>
</file>
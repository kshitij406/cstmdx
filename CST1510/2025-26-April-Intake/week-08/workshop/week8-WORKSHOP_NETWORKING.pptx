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99" r:id="rId3"/>
    <p:sldId id="318" r:id="rId4"/>
    <p:sldId id="306" r:id="rId5"/>
    <p:sldId id="307" r:id="rId6"/>
    <p:sldId id="305" r:id="rId7"/>
    <p:sldId id="302" r:id="rId8"/>
    <p:sldId id="301" r:id="rId9"/>
    <p:sldId id="31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20" r:id="rId20"/>
    <p:sldId id="31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44"/>
    <p:restoredTop sz="80301"/>
  </p:normalViewPr>
  <p:slideViewPr>
    <p:cSldViewPr snapToGrid="0">
      <p:cViewPr varScale="1">
        <p:scale>
          <a:sx n="84" d="100"/>
          <a:sy n="84" d="100"/>
        </p:scale>
        <p:origin x="19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F5221-75A5-5841-A0F6-D6316CE0AD12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D1D8A2-76A7-5F49-A5B0-2FA42CE91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3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IPC</a:t>
            </a:r>
            <a:r>
              <a:rPr lang="en-GB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is a leading provider of secure, compliant communications and multi-cloud connectivity solutions for the global financial markets.</a:t>
            </a:r>
            <a:b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</a:br>
            <a:endParaRPr lang="en-GB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What Are IPC Standards? IPC is the official name of the association which produces PCB-related standards. The association was formerly called the </a:t>
            </a: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Institute for Printed Circuits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(hence the acronym "IPC"), but is presently called the Association Connecting Electronics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1D8A2-76A7-5F49-A5B0-2FA42CE9166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6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A3A3A"/>
                </a:solidFill>
                <a:effectLst/>
                <a:latin typeface="-apple-system"/>
              </a:rPr>
              <a:t>House or Apartment block analogy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A3A3A"/>
                </a:solidFill>
                <a:effectLst/>
                <a:latin typeface="-apple-system"/>
              </a:rPr>
              <a:t>IP address corresponds to the street address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A3A3A"/>
                </a:solidFill>
                <a:effectLst/>
                <a:latin typeface="-apple-system"/>
              </a:rPr>
              <a:t>All of the apartments share the same street address.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A3A3A"/>
                </a:solidFill>
                <a:effectLst/>
                <a:latin typeface="-apple-system"/>
              </a:rPr>
              <a:t>However, each apartment also has an apartment number, which corresponds to the port number.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1D8A2-76A7-5F49-A5B0-2FA42CE9166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488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B96DB-A334-3C02-0A87-E7D3834A7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FC01B6-6EFE-DFF7-E2ED-22B5017B6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4CF96-3C32-BDCA-1E19-42D5DB2BB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1646-D32C-1447-A56B-2AB3E05A8F4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AD081-7C48-E096-5FD2-CD2BA878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EAFE8-85E6-0630-A4CA-8FCF9D80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2A8D1-CB19-FA4B-9D9A-EE85BE730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01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2F2AC-4A94-18A9-0227-C3859164D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D2F0C-82F5-D9B5-B5BB-28C0B0F8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B1A69-A1B8-D70B-D130-BAD02078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1646-D32C-1447-A56B-2AB3E05A8F4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FF410-18D2-8067-5CF9-E06F2D14E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35040-95F9-A0C8-1D9F-0249C9616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2A8D1-CB19-FA4B-9D9A-EE85BE730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21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8771-C039-F4B0-ADF9-F20F7CF46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372DE-1C53-8497-B9E2-9649A67D9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90E72-793E-0454-0550-ACF8164F1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1646-D32C-1447-A56B-2AB3E05A8F4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5DF76-E70C-0218-B7DE-443EAEEF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EF215-C1F7-86D9-8348-ED4783060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2A8D1-CB19-FA4B-9D9A-EE85BE730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49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E20F4-020B-FD04-54CA-AEAA3A728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7F790-C992-40C1-82DD-FB797D5DC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9C7096-D80C-98F1-AFCB-116697DE8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B2F7C-4A81-2712-4A0B-59EB91D7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1646-D32C-1447-A56B-2AB3E05A8F4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ADD9F-E332-8B0D-D517-37B19FD9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6C181-5A62-DA31-59B9-48A8C7F73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2A8D1-CB19-FA4B-9D9A-EE85BE730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19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B687-5894-74A3-3471-5BE506CB1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7AAF6-B262-343F-EFDB-B6F818FE4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5B65E-3A48-471C-A0E3-B539B9B5A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36B7AB-2942-DFD6-4ED4-66AE165F0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C64350-6485-DA12-BAA2-3428F2488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AE4ED5-8961-9B3A-EC6B-8E342E565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1646-D32C-1447-A56B-2AB3E05A8F4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94AFE-0AAD-23A7-F434-13382B59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E045ED-5D84-38CD-8EDB-BA23343C8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2A8D1-CB19-FA4B-9D9A-EE85BE730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FCA26-8F41-DC79-3ABB-351CFE73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151F9-C8BE-CE7E-6DCD-0A147B342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1646-D32C-1447-A56B-2AB3E05A8F4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FFDE28-90F4-647E-A507-916B6B9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8C0E1-22CB-CA09-2D09-8C4FA0F1B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2A8D1-CB19-FA4B-9D9A-EE85BE730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70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F1C0EC-5018-12AA-6577-F96C47045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1646-D32C-1447-A56B-2AB3E05A8F4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D726F-ED71-030E-9AF2-8C5E68C42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BCE3C-4E6A-E4CF-0D39-54C933A03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2A8D1-CB19-FA4B-9D9A-EE85BE730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056B5-90AE-DD78-1B34-977564F00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9DAE4-05D7-DFAF-7F03-4580B3A03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DCDDD-C295-FC49-A773-DAC7A1FF7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C482C-7784-9CDD-347C-AF7369A34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1646-D32C-1447-A56B-2AB3E05A8F4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6070A-24FC-5F16-990C-F1E915046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00168-6985-00D9-C060-976E4C6F2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2A8D1-CB19-FA4B-9D9A-EE85BE730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59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2B0E-74E0-DDB6-69FD-AFC269032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625448-0BD9-5353-C297-3E98ABD6D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07BFD-AC1B-41E4-36E0-ED00C4059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5A98A-198D-0B2C-76AF-315DE0502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1646-D32C-1447-A56B-2AB3E05A8F4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19B91-FA99-4A1E-837A-88B0F5DA1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C3044-D60A-7E85-6433-47D079FF8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2A8D1-CB19-FA4B-9D9A-EE85BE730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3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E825A-4632-621C-53E6-8894C3C37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E590B4-ED70-F675-85A0-15CE4E9F2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951D3-5A21-1714-0163-AF5A33629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1646-D32C-1447-A56B-2AB3E05A8F4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264F3-E45D-C7A6-E8A5-513399F40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038A9-73DA-4E8F-487E-70E9080CA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2A8D1-CB19-FA4B-9D9A-EE85BE730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05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02957E-DB04-70E1-0F17-8B28A5961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B93DF-0059-00F6-E954-DFBEB2B83D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044B8-2363-5209-40D1-0F27F3D2C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1646-D32C-1447-A56B-2AB3E05A8F4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32739-8939-A2D7-0281-BBBA3E3A5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FB951-CDEE-79AF-F767-CF28039F5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2A8D1-CB19-FA4B-9D9A-EE85BE730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3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51F1EB-A6FF-28EF-EBE8-B4C89B2DA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1676A-FDDD-775E-0743-2EAECA6F0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E6CA1-BC9C-87C7-41E9-A136E5675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C1646-D32C-1447-A56B-2AB3E05A8F43}" type="datetimeFigureOut">
              <a:rPr lang="en-US" smtClean="0"/>
              <a:t>11/10/24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D0650-D78F-7E7A-B9E9-05CE0D8939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0D109-8DBF-A585-5168-6EAA64E16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2A8D1-CB19-FA4B-9D9A-EE85BE730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6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socket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C452144-C466-564C-9333-CAF1F6F79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54EAB-9624-C84A-9143-32D251693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5133" y="288608"/>
            <a:ext cx="1422400" cy="14224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377DBAC-A26B-A04B-8514-55582F349383}"/>
              </a:ext>
            </a:extLst>
          </p:cNvPr>
          <p:cNvSpPr txBox="1">
            <a:spLocks/>
          </p:cNvSpPr>
          <p:nvPr/>
        </p:nvSpPr>
        <p:spPr>
          <a:xfrm>
            <a:off x="1524003" y="1999615"/>
            <a:ext cx="9144000" cy="2764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CST1510</a:t>
            </a:r>
            <a:br>
              <a:rPr lang="en-US" sz="7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for data communication </a:t>
            </a:r>
            <a:b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networks</a:t>
            </a:r>
          </a:p>
        </p:txBody>
      </p:sp>
    </p:spTree>
    <p:extLst>
      <p:ext uri="{BB962C8B-B14F-4D97-AF65-F5344CB8AC3E}">
        <p14:creationId xmlns:p14="http://schemas.microsoft.com/office/powerpoint/2010/main" val="1083174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A034A-1943-FD4E-958A-D85C085E4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Objectives: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2A24D-82F6-DA48-A429-F00781555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Overview of  socket </a:t>
            </a:r>
          </a:p>
          <a:p>
            <a:r>
              <a:rPr lang="en-GB" dirty="0"/>
              <a:t>Socket in python</a:t>
            </a:r>
          </a:p>
          <a:p>
            <a:r>
              <a:rPr lang="en-GB" dirty="0"/>
              <a:t>Client and Server application</a:t>
            </a:r>
          </a:p>
          <a:p>
            <a:r>
              <a:rPr lang="en-GB" dirty="0"/>
              <a:t>Pickle </a:t>
            </a: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45065F-E5A1-7C46-88EB-369E4150AFEC}"/>
              </a:ext>
            </a:extLst>
          </p:cNvPr>
          <p:cNvCxnSpPr/>
          <p:nvPr/>
        </p:nvCxnSpPr>
        <p:spPr>
          <a:xfrm>
            <a:off x="838200" y="1437005"/>
            <a:ext cx="10515600" cy="0"/>
          </a:xfrm>
          <a:prstGeom prst="line">
            <a:avLst/>
          </a:prstGeom>
          <a:ln w="25400" cap="rnd">
            <a:solidFill>
              <a:schemeClr val="bg2">
                <a:lumMod val="50000"/>
                <a:alpha val="49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029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D264C-E000-9146-D6BA-7CB562B66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8E4B4-679D-B113-3512-3E819A156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GB" sz="2000" b="0" i="0" dirty="0">
                <a:solidFill>
                  <a:srgbClr val="222222"/>
                </a:solidFill>
                <a:effectLst/>
                <a:latin typeface="Lucida Grande" panose="020B0600040502020204" pitchFamily="34" charset="0"/>
              </a:rPr>
              <a:t>Of the various forms of IPC, </a:t>
            </a:r>
            <a:r>
              <a:rPr lang="en-GB" sz="2000" b="1" i="0" dirty="0">
                <a:solidFill>
                  <a:srgbClr val="222222"/>
                </a:solidFill>
                <a:effectLst/>
                <a:latin typeface="Lucida Grande" panose="020B0600040502020204" pitchFamily="34" charset="0"/>
              </a:rPr>
              <a:t>sockets</a:t>
            </a:r>
            <a:r>
              <a:rPr lang="en-GB" sz="2000" b="0" i="0" dirty="0">
                <a:solidFill>
                  <a:srgbClr val="222222"/>
                </a:solidFill>
                <a:effectLst/>
                <a:latin typeface="Lucida Grande" panose="020B0600040502020204" pitchFamily="34" charset="0"/>
              </a:rPr>
              <a:t> are by far the most popular.</a:t>
            </a:r>
          </a:p>
          <a:p>
            <a:pPr algn="l"/>
            <a:r>
              <a:rPr lang="en-GB" sz="2000" b="0" i="0" dirty="0">
                <a:solidFill>
                  <a:srgbClr val="222222"/>
                </a:solidFill>
                <a:effectLst/>
                <a:latin typeface="Lucida Grande" panose="020B0600040502020204" pitchFamily="34" charset="0"/>
              </a:rPr>
              <a:t>They were invented in Berkeley as part of the BSD flavour of Unix. </a:t>
            </a:r>
          </a:p>
          <a:p>
            <a:pPr algn="l"/>
            <a:r>
              <a:rPr lang="en-GB" sz="2000" dirty="0">
                <a:solidFill>
                  <a:srgbClr val="222222"/>
                </a:solidFill>
                <a:latin typeface="Lucida Grande" panose="020B0600040502020204" pitchFamily="34" charset="0"/>
              </a:rPr>
              <a:t>Example; when we click on a link to the to the </a:t>
            </a:r>
            <a:r>
              <a:rPr lang="en-GB" sz="2000" dirty="0">
                <a:solidFill>
                  <a:srgbClr val="222222"/>
                </a:solidFill>
                <a:latin typeface="Lucida Grande" panose="020B0600040502020204" pitchFamily="34" charset="0"/>
                <a:hlinkClick r:id="rId3"/>
              </a:rPr>
              <a:t>www.python.org</a:t>
            </a:r>
            <a:r>
              <a:rPr lang="en-GB" sz="2000" dirty="0">
                <a:solidFill>
                  <a:srgbClr val="222222"/>
                </a:solidFill>
                <a:latin typeface="Lucida Grande" panose="020B0600040502020204" pitchFamily="34" charset="0"/>
              </a:rPr>
              <a:t> page, </a:t>
            </a:r>
            <a:r>
              <a:rPr lang="en-GB" sz="2000" b="0" i="0" dirty="0">
                <a:solidFill>
                  <a:srgbClr val="222222"/>
                </a:solidFill>
                <a:effectLst/>
                <a:latin typeface="Lucida Grande" panose="020B0600040502020204" pitchFamily="34" charset="0"/>
              </a:rPr>
              <a:t>our browser did something like the following:</a:t>
            </a:r>
            <a:endParaRPr lang="en-US" sz="2000" dirty="0"/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02961FE-9849-06CB-F009-02A6AF8A9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2734" y="3713427"/>
            <a:ext cx="8719133" cy="171245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0F3F0FC-1341-6B11-93AC-20A880F9140B}"/>
              </a:ext>
            </a:extLst>
          </p:cNvPr>
          <p:cNvCxnSpPr/>
          <p:nvPr/>
        </p:nvCxnSpPr>
        <p:spPr>
          <a:xfrm>
            <a:off x="838200" y="1437005"/>
            <a:ext cx="10515600" cy="0"/>
          </a:xfrm>
          <a:prstGeom prst="line">
            <a:avLst/>
          </a:prstGeom>
          <a:ln w="25400" cap="rnd">
            <a:solidFill>
              <a:schemeClr val="bg2">
                <a:lumMod val="50000"/>
                <a:alpha val="49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595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17B03-AD19-7BA0-B4CE-F9A98927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85C48-3C16-846B-8B5F-176A2A42F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Socket programming - abstract principle by which two programs can share data stream by using an Application Programming Interface (API) for different protocols available in the internet typically supported by the operating systems.</a:t>
            </a:r>
          </a:p>
          <a:p>
            <a:r>
              <a:rPr lang="en-US" sz="2400" dirty="0"/>
              <a:t>Socket – point to point channel of communication between a client and a server</a:t>
            </a:r>
          </a:p>
          <a:p>
            <a:r>
              <a:rPr lang="en-US" sz="2400" dirty="0"/>
              <a:t>Socket is specified by the machine’s </a:t>
            </a:r>
            <a:r>
              <a:rPr lang="en-US" sz="2400" b="1" dirty="0"/>
              <a:t>IP address</a:t>
            </a:r>
            <a:r>
              <a:rPr lang="en-US" sz="2400" dirty="0"/>
              <a:t>, the </a:t>
            </a:r>
            <a:r>
              <a:rPr lang="en-US" sz="2400" b="1" dirty="0"/>
              <a:t>port</a:t>
            </a:r>
            <a:r>
              <a:rPr lang="en-US" sz="2400" dirty="0"/>
              <a:t> it is listening on and </a:t>
            </a:r>
            <a:r>
              <a:rPr lang="en-US" sz="2400" b="1" dirty="0"/>
              <a:t>protocol</a:t>
            </a:r>
            <a:r>
              <a:rPr lang="en-US" sz="2400" dirty="0"/>
              <a:t> it uses.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9E950D7-3E0F-A4DD-1F06-585A1A7EC8FE}"/>
              </a:ext>
            </a:extLst>
          </p:cNvPr>
          <p:cNvCxnSpPr/>
          <p:nvPr/>
        </p:nvCxnSpPr>
        <p:spPr>
          <a:xfrm>
            <a:off x="838200" y="1437005"/>
            <a:ext cx="10515600" cy="0"/>
          </a:xfrm>
          <a:prstGeom prst="line">
            <a:avLst/>
          </a:prstGeom>
          <a:ln w="25400" cap="rnd">
            <a:solidFill>
              <a:schemeClr val="bg2">
                <a:lumMod val="50000"/>
                <a:alpha val="49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11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2982A-EDE2-3063-BC11-E3A4EBEAE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Types of </a:t>
            </a:r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1009C-F5BE-3967-C74C-768A4C5CF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(Transmission Control Protocol )</a:t>
            </a:r>
          </a:p>
          <a:p>
            <a:pPr lvl="1"/>
            <a:r>
              <a:rPr lang="en-US" dirty="0"/>
              <a:t>Connection oriented</a:t>
            </a:r>
          </a:p>
          <a:p>
            <a:pPr lvl="1"/>
            <a:r>
              <a:rPr lang="en-US" dirty="0"/>
              <a:t>Reliable delivery</a:t>
            </a:r>
          </a:p>
          <a:p>
            <a:pPr lvl="1"/>
            <a:r>
              <a:rPr lang="en-US" dirty="0"/>
              <a:t>Can managed out of order message or retransition </a:t>
            </a:r>
          </a:p>
          <a:p>
            <a:r>
              <a:rPr lang="en-US" dirty="0"/>
              <a:t>UDP (User Datagram Protocol)</a:t>
            </a:r>
          </a:p>
          <a:p>
            <a:pPr lvl="1"/>
            <a:r>
              <a:rPr lang="en-US" dirty="0"/>
              <a:t>Connectionless connection </a:t>
            </a:r>
          </a:p>
          <a:p>
            <a:pPr lvl="1"/>
            <a:r>
              <a:rPr lang="en-US" dirty="0"/>
              <a:t>Unreliable</a:t>
            </a:r>
          </a:p>
          <a:p>
            <a:pPr lvl="1"/>
            <a:r>
              <a:rPr lang="en-US" dirty="0"/>
              <a:t>No reordering of data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459301-F5F2-B98E-C647-D99519A940EA}"/>
              </a:ext>
            </a:extLst>
          </p:cNvPr>
          <p:cNvCxnSpPr/>
          <p:nvPr/>
        </p:nvCxnSpPr>
        <p:spPr>
          <a:xfrm>
            <a:off x="838200" y="1437005"/>
            <a:ext cx="10515600" cy="0"/>
          </a:xfrm>
          <a:prstGeom prst="line">
            <a:avLst/>
          </a:prstGeom>
          <a:ln w="25400" cap="rnd">
            <a:solidFill>
              <a:schemeClr val="bg2">
                <a:lumMod val="50000"/>
                <a:alpha val="49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930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DD6E8-2891-CCFE-74EE-9B1EBA11C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0" i="0" dirty="0">
                <a:solidFill>
                  <a:srgbClr val="3A3A3A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Ip-address &amp;  Ports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7ED2703-77E4-1E9C-6BD0-DAF8774DE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b="0" i="0" dirty="0">
                <a:solidFill>
                  <a:srgbClr val="303030"/>
                </a:solidFill>
                <a:effectLst/>
                <a:latin typeface="Gudea"/>
              </a:rPr>
              <a:t>The </a:t>
            </a:r>
            <a:r>
              <a:rPr lang="en-GB" sz="2400" b="1" i="0" dirty="0">
                <a:solidFill>
                  <a:srgbClr val="303030"/>
                </a:solidFill>
                <a:effectLst/>
                <a:latin typeface="Gudea"/>
              </a:rPr>
              <a:t>IP address identifies the device</a:t>
            </a:r>
            <a:r>
              <a:rPr lang="en-GB" sz="2400" b="0" i="0" dirty="0">
                <a:solidFill>
                  <a:srgbClr val="303030"/>
                </a:solidFill>
                <a:effectLst/>
                <a:latin typeface="Gudea"/>
              </a:rPr>
              <a:t> e.g. computer.</a:t>
            </a:r>
          </a:p>
          <a:p>
            <a:r>
              <a:rPr lang="en-GB" sz="2400" b="0" i="0" dirty="0">
                <a:solidFill>
                  <a:srgbClr val="303030"/>
                </a:solidFill>
                <a:effectLst/>
                <a:latin typeface="Gudea"/>
              </a:rPr>
              <a:t>The network</a:t>
            </a:r>
            <a:r>
              <a:rPr lang="en-GB" sz="2400" b="1" i="0" dirty="0">
                <a:solidFill>
                  <a:srgbClr val="303030"/>
                </a:solidFill>
                <a:effectLst/>
                <a:latin typeface="Gudea"/>
              </a:rPr>
              <a:t> port</a:t>
            </a:r>
            <a:r>
              <a:rPr lang="en-GB" sz="2400" b="0" i="0" dirty="0">
                <a:solidFill>
                  <a:srgbClr val="303030"/>
                </a:solidFill>
                <a:effectLst/>
                <a:latin typeface="Gudea"/>
              </a:rPr>
              <a:t> identifies the</a:t>
            </a:r>
            <a:r>
              <a:rPr lang="en-GB" sz="2400" b="1" i="0" dirty="0">
                <a:solidFill>
                  <a:srgbClr val="303030"/>
                </a:solidFill>
                <a:effectLst/>
                <a:latin typeface="Gudea"/>
              </a:rPr>
              <a:t> application or service</a:t>
            </a:r>
            <a:r>
              <a:rPr lang="en-GB" sz="2400" b="0" i="0" dirty="0">
                <a:solidFill>
                  <a:srgbClr val="303030"/>
                </a:solidFill>
                <a:effectLst/>
                <a:latin typeface="Gudea"/>
              </a:rPr>
              <a:t> running on the computer.</a:t>
            </a:r>
          </a:p>
          <a:p>
            <a:r>
              <a:rPr lang="en-GB" sz="2400" dirty="0">
                <a:solidFill>
                  <a:srgbClr val="303030"/>
                </a:solidFill>
                <a:latin typeface="Gudea"/>
              </a:rPr>
              <a:t>Ip and port creates an address</a:t>
            </a:r>
            <a:endParaRPr lang="en-GB" sz="2400" b="0" i="0" dirty="0">
              <a:solidFill>
                <a:srgbClr val="303030"/>
              </a:solidFill>
              <a:effectLst/>
              <a:latin typeface="Gudea"/>
            </a:endParaRPr>
          </a:p>
          <a:p>
            <a:pPr marL="0" indent="0">
              <a:buNone/>
            </a:pPr>
            <a:r>
              <a:rPr lang="en-GB" sz="2000" i="1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(Ports available between 0 and 65535</a:t>
            </a:r>
          </a:p>
          <a:p>
            <a:pPr marL="0" indent="0">
              <a:buNone/>
            </a:pPr>
            <a:r>
              <a:rPr lang="en-GB" sz="2000" i="1" dirty="0">
                <a:solidFill>
                  <a:srgbClr val="202124"/>
                </a:solidFill>
                <a:latin typeface="arial" panose="020B0604020202020204" pitchFamily="34" charset="0"/>
              </a:rPr>
              <a:t>Excluding the reserve port numbers and</a:t>
            </a:r>
          </a:p>
          <a:p>
            <a:pPr marL="0" indent="0">
              <a:buNone/>
            </a:pPr>
            <a:r>
              <a:rPr lang="en-GB" sz="2000" i="1" dirty="0">
                <a:solidFill>
                  <a:srgbClr val="202124"/>
                </a:solidFill>
                <a:latin typeface="arial" panose="020B0604020202020204" pitchFamily="34" charset="0"/>
              </a:rPr>
              <a:t>choose anything between 1024 - </a:t>
            </a:r>
            <a:r>
              <a:rPr lang="en-GB" sz="2000" i="1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65535</a:t>
            </a:r>
            <a:r>
              <a:rPr lang="en-GB" sz="2000" i="1" dirty="0">
                <a:solidFill>
                  <a:srgbClr val="202124"/>
                </a:solidFill>
                <a:latin typeface="arial" panose="020B0604020202020204" pitchFamily="34" charset="0"/>
              </a:rPr>
              <a:t>)</a:t>
            </a:r>
            <a:endParaRPr lang="en-US" sz="2000" i="1" dirty="0"/>
          </a:p>
        </p:txBody>
      </p:sp>
      <p:pic>
        <p:nvPicPr>
          <p:cNvPr id="2050" name="Picture 2" descr="TCP-IP-ports-sockets">
            <a:extLst>
              <a:ext uri="{FF2B5EF4-FFF2-40B4-BE49-F238E27FC236}">
                <a16:creationId xmlns:a16="http://schemas.microsoft.com/office/drawing/2014/main" id="{BFBDC404-A740-5AEF-0C9B-9661D4329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942" y="3001062"/>
            <a:ext cx="3823881" cy="317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33C613-F785-9E26-B01E-6A4855A12226}"/>
              </a:ext>
            </a:extLst>
          </p:cNvPr>
          <p:cNvCxnSpPr/>
          <p:nvPr/>
        </p:nvCxnSpPr>
        <p:spPr>
          <a:xfrm>
            <a:off x="838200" y="1437005"/>
            <a:ext cx="10515600" cy="0"/>
          </a:xfrm>
          <a:prstGeom prst="line">
            <a:avLst/>
          </a:prstGeom>
          <a:ln w="25400" cap="rnd">
            <a:solidFill>
              <a:schemeClr val="bg2">
                <a:lumMod val="50000"/>
                <a:alpha val="49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049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4F8DE-B54E-682D-3538-56D51C02D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The socket python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0374C-EFD0-6DE1-5FD7-CA004DCAB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socket module documentation : </a:t>
            </a:r>
            <a:r>
              <a:rPr lang="en-US" sz="2400" i="1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https://docs.python.org/3/library/socket.html</a:t>
            </a:r>
            <a:endParaRPr lang="en-US" sz="2400" i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400" dirty="0"/>
              <a:t>The module socket provides all of the required functionalities to quickly write TCP and UDP socket connection</a:t>
            </a:r>
          </a:p>
          <a:p>
            <a:r>
              <a:rPr lang="en-US" sz="2400" dirty="0"/>
              <a:t>We need to create two applications/files, one acting as a server and the other as a client, and where both communicate through message protocols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8A76B5-4B2D-2D43-9653-7C58E99067F7}"/>
              </a:ext>
            </a:extLst>
          </p:cNvPr>
          <p:cNvCxnSpPr/>
          <p:nvPr/>
        </p:nvCxnSpPr>
        <p:spPr>
          <a:xfrm>
            <a:off x="838200" y="1437005"/>
            <a:ext cx="10515600" cy="0"/>
          </a:xfrm>
          <a:prstGeom prst="line">
            <a:avLst/>
          </a:prstGeom>
          <a:ln w="25400" cap="rnd">
            <a:solidFill>
              <a:schemeClr val="bg2">
                <a:lumMod val="50000"/>
                <a:alpha val="49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890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4A78643-DFC3-CFEF-7AF1-CA6C3A3BFF78}"/>
              </a:ext>
            </a:extLst>
          </p:cNvPr>
          <p:cNvCxnSpPr/>
          <p:nvPr/>
        </p:nvCxnSpPr>
        <p:spPr>
          <a:xfrm>
            <a:off x="838200" y="1437005"/>
            <a:ext cx="10515600" cy="0"/>
          </a:xfrm>
          <a:prstGeom prst="line">
            <a:avLst/>
          </a:prstGeom>
          <a:ln w="25400" cap="rnd">
            <a:solidFill>
              <a:schemeClr val="bg2">
                <a:lumMod val="50000"/>
                <a:alpha val="49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9C867835-A917-4A2B-8424-3AFAF7436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Freeform: Shape 1039">
            <a:extLst>
              <a:ext uri="{FF2B5EF4-FFF2-40B4-BE49-F238E27FC236}">
                <a16:creationId xmlns:a16="http://schemas.microsoft.com/office/drawing/2014/main" id="{EED8D03E-F375-4E67-B932-FF9B007B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344152" y="387180"/>
            <a:ext cx="3850317" cy="6538623"/>
          </a:xfrm>
          <a:custGeom>
            <a:avLst/>
            <a:gdLst>
              <a:gd name="connsiteX0" fmla="*/ 0 w 3850317"/>
              <a:gd name="connsiteY0" fmla="*/ 0 h 5978116"/>
              <a:gd name="connsiteX1" fmla="*/ 3850317 w 3850317"/>
              <a:gd name="connsiteY1" fmla="*/ 0 h 5978116"/>
              <a:gd name="connsiteX2" fmla="*/ 3840373 w 3850317"/>
              <a:gd name="connsiteY2" fmla="*/ 258313 h 5978116"/>
              <a:gd name="connsiteX3" fmla="*/ 3755448 w 3850317"/>
              <a:gd name="connsiteY3" fmla="*/ 1537847 h 5978116"/>
              <a:gd name="connsiteX4" fmla="*/ 3150490 w 3850317"/>
              <a:gd name="connsiteY4" fmla="*/ 3989537 h 5978116"/>
              <a:gd name="connsiteX5" fmla="*/ 3089544 w 3850317"/>
              <a:gd name="connsiteY5" fmla="*/ 3606200 h 5978116"/>
              <a:gd name="connsiteX6" fmla="*/ 2922635 w 3850317"/>
              <a:gd name="connsiteY6" fmla="*/ 4519351 h 5978116"/>
              <a:gd name="connsiteX7" fmla="*/ 2904628 w 3850317"/>
              <a:gd name="connsiteY7" fmla="*/ 4466023 h 5978116"/>
              <a:gd name="connsiteX8" fmla="*/ 2825329 w 3850317"/>
              <a:gd name="connsiteY8" fmla="*/ 4562983 h 5978116"/>
              <a:gd name="connsiteX9" fmla="*/ 2695127 w 3850317"/>
              <a:gd name="connsiteY9" fmla="*/ 4973329 h 5978116"/>
              <a:gd name="connsiteX10" fmla="*/ 2501208 w 3850317"/>
              <a:gd name="connsiteY10" fmla="*/ 4457366 h 5978116"/>
              <a:gd name="connsiteX11" fmla="*/ 2209291 w 3850317"/>
              <a:gd name="connsiteY11" fmla="*/ 5028388 h 5978116"/>
              <a:gd name="connsiteX12" fmla="*/ 2135532 w 3850317"/>
              <a:gd name="connsiteY12" fmla="*/ 5321344 h 5978116"/>
              <a:gd name="connsiteX13" fmla="*/ 2009139 w 3850317"/>
              <a:gd name="connsiteY13" fmla="*/ 4714655 h 5978116"/>
              <a:gd name="connsiteX14" fmla="*/ 1918759 w 3850317"/>
              <a:gd name="connsiteY14" fmla="*/ 4486454 h 5978116"/>
              <a:gd name="connsiteX15" fmla="*/ 1800676 w 3850317"/>
              <a:gd name="connsiteY15" fmla="*/ 4608346 h 5978116"/>
              <a:gd name="connsiteX16" fmla="*/ 1614721 w 3850317"/>
              <a:gd name="connsiteY16" fmla="*/ 5319612 h 5978116"/>
              <a:gd name="connsiteX17" fmla="*/ 1530921 w 3850317"/>
              <a:gd name="connsiteY17" fmla="*/ 5433540 h 5978116"/>
              <a:gd name="connsiteX18" fmla="*/ 1569705 w 3850317"/>
              <a:gd name="connsiteY18" fmla="*/ 4803650 h 5978116"/>
              <a:gd name="connsiteX19" fmla="*/ 1517416 w 3850317"/>
              <a:gd name="connsiteY19" fmla="*/ 4640204 h 5978116"/>
              <a:gd name="connsiteX20" fmla="*/ 1425997 w 3850317"/>
              <a:gd name="connsiteY20" fmla="*/ 4800187 h 5978116"/>
              <a:gd name="connsiteX21" fmla="*/ 1348083 w 3850317"/>
              <a:gd name="connsiteY21" fmla="*/ 5363245 h 5978116"/>
              <a:gd name="connsiteX22" fmla="*/ 1200566 w 3850317"/>
              <a:gd name="connsiteY22" fmla="*/ 5526691 h 5978116"/>
              <a:gd name="connsiteX23" fmla="*/ 1027770 w 3850317"/>
              <a:gd name="connsiteY23" fmla="*/ 5803718 h 5978116"/>
              <a:gd name="connsiteX24" fmla="*/ 892373 w 3850317"/>
              <a:gd name="connsiteY24" fmla="*/ 5604950 h 5978116"/>
              <a:gd name="connsiteX25" fmla="*/ 681487 w 3850317"/>
              <a:gd name="connsiteY25" fmla="*/ 5914528 h 5978116"/>
              <a:gd name="connsiteX26" fmla="*/ 414155 w 3850317"/>
              <a:gd name="connsiteY26" fmla="*/ 5817569 h 5978116"/>
              <a:gd name="connsiteX27" fmla="*/ 360135 w 3850317"/>
              <a:gd name="connsiteY27" fmla="*/ 5287062 h 5978116"/>
              <a:gd name="connsiteX28" fmla="*/ 281875 w 3850317"/>
              <a:gd name="connsiteY28" fmla="*/ 4677256 h 5978116"/>
              <a:gd name="connsiteX29" fmla="*/ 237897 w 3850317"/>
              <a:gd name="connsiteY29" fmla="*/ 4207696 h 5978116"/>
              <a:gd name="connsiteX30" fmla="*/ 145093 w 3850317"/>
              <a:gd name="connsiteY30" fmla="*/ 3878379 h 5978116"/>
              <a:gd name="connsiteX31" fmla="*/ 72373 w 3850317"/>
              <a:gd name="connsiteY31" fmla="*/ 2447189 h 5978116"/>
              <a:gd name="connsiteX32" fmla="*/ 0 w 3850317"/>
              <a:gd name="connsiteY32" fmla="*/ 0 h 597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50317" h="5978116">
                <a:moveTo>
                  <a:pt x="0" y="0"/>
                </a:moveTo>
                <a:lnTo>
                  <a:pt x="3850317" y="0"/>
                </a:lnTo>
                <a:lnTo>
                  <a:pt x="3840373" y="258313"/>
                </a:lnTo>
                <a:cubicBezTo>
                  <a:pt x="3816350" y="852957"/>
                  <a:pt x="3786959" y="1372106"/>
                  <a:pt x="3755448" y="1537847"/>
                </a:cubicBezTo>
                <a:cubicBezTo>
                  <a:pt x="3300085" y="3936555"/>
                  <a:pt x="3150490" y="3989537"/>
                  <a:pt x="3150490" y="3989537"/>
                </a:cubicBezTo>
                <a:cubicBezTo>
                  <a:pt x="3150490" y="3989537"/>
                  <a:pt x="3124172" y="3732940"/>
                  <a:pt x="3089544" y="3606200"/>
                </a:cubicBezTo>
                <a:cubicBezTo>
                  <a:pt x="3082618" y="3784537"/>
                  <a:pt x="2946529" y="4491302"/>
                  <a:pt x="2922635" y="4519351"/>
                </a:cubicBezTo>
                <a:cubicBezTo>
                  <a:pt x="2916749" y="4502729"/>
                  <a:pt x="2910515" y="4484030"/>
                  <a:pt x="2904628" y="4466023"/>
                </a:cubicBezTo>
                <a:cubicBezTo>
                  <a:pt x="2884890" y="4501344"/>
                  <a:pt x="2859958" y="4534241"/>
                  <a:pt x="2825329" y="4562983"/>
                </a:cubicBezTo>
                <a:cubicBezTo>
                  <a:pt x="2706208" y="4662020"/>
                  <a:pt x="2743260" y="4833430"/>
                  <a:pt x="2695127" y="4973329"/>
                </a:cubicBezTo>
                <a:cubicBezTo>
                  <a:pt x="2446495" y="4877408"/>
                  <a:pt x="2545186" y="4641589"/>
                  <a:pt x="2501208" y="4457366"/>
                </a:cubicBezTo>
                <a:cubicBezTo>
                  <a:pt x="2341225" y="4936277"/>
                  <a:pt x="2267120" y="4837932"/>
                  <a:pt x="2209291" y="5028388"/>
                </a:cubicBezTo>
                <a:cubicBezTo>
                  <a:pt x="2137610" y="5264900"/>
                  <a:pt x="2135532" y="5321344"/>
                  <a:pt x="2135532" y="5321344"/>
                </a:cubicBezTo>
                <a:cubicBezTo>
                  <a:pt x="2004983" y="5137467"/>
                  <a:pt x="2054502" y="4933506"/>
                  <a:pt x="2009139" y="4714655"/>
                </a:cubicBezTo>
                <a:cubicBezTo>
                  <a:pt x="1956503" y="4642281"/>
                  <a:pt x="1932264" y="4565753"/>
                  <a:pt x="1918759" y="4486454"/>
                </a:cubicBezTo>
                <a:cubicBezTo>
                  <a:pt x="1889671" y="4439359"/>
                  <a:pt x="1848463" y="4656479"/>
                  <a:pt x="1800676" y="4608346"/>
                </a:cubicBezTo>
                <a:cubicBezTo>
                  <a:pt x="1760507" y="4832391"/>
                  <a:pt x="1681208" y="5047087"/>
                  <a:pt x="1614721" y="5319612"/>
                </a:cubicBezTo>
                <a:cubicBezTo>
                  <a:pt x="1580786" y="5457780"/>
                  <a:pt x="1530574" y="5446352"/>
                  <a:pt x="1530921" y="5433540"/>
                </a:cubicBezTo>
                <a:cubicBezTo>
                  <a:pt x="1532998" y="5109418"/>
                  <a:pt x="1600177" y="5128464"/>
                  <a:pt x="1569705" y="4803650"/>
                </a:cubicBezTo>
                <a:cubicBezTo>
                  <a:pt x="1566242" y="4746167"/>
                  <a:pt x="1596022" y="4651631"/>
                  <a:pt x="1517416" y="4640204"/>
                </a:cubicBezTo>
                <a:cubicBezTo>
                  <a:pt x="1415608" y="4628430"/>
                  <a:pt x="1436385" y="4747898"/>
                  <a:pt x="1425997" y="4800187"/>
                </a:cubicBezTo>
                <a:cubicBezTo>
                  <a:pt x="1389291" y="5009342"/>
                  <a:pt x="1370938" y="5149241"/>
                  <a:pt x="1348083" y="5363245"/>
                </a:cubicBezTo>
                <a:cubicBezTo>
                  <a:pt x="1336655" y="5453625"/>
                  <a:pt x="1352931" y="5563743"/>
                  <a:pt x="1200566" y="5526691"/>
                </a:cubicBezTo>
                <a:cubicBezTo>
                  <a:pt x="1051664" y="5551623"/>
                  <a:pt x="1099105" y="5719570"/>
                  <a:pt x="1027770" y="5803718"/>
                </a:cubicBezTo>
                <a:cubicBezTo>
                  <a:pt x="945009" y="5758701"/>
                  <a:pt x="1003184" y="5640964"/>
                  <a:pt x="892373" y="5604950"/>
                </a:cubicBezTo>
                <a:cubicBezTo>
                  <a:pt x="925963" y="5772552"/>
                  <a:pt x="680448" y="5747619"/>
                  <a:pt x="681487" y="5914528"/>
                </a:cubicBezTo>
                <a:cubicBezTo>
                  <a:pt x="534662" y="6049233"/>
                  <a:pt x="467137" y="5947425"/>
                  <a:pt x="414155" y="5817569"/>
                </a:cubicBezTo>
                <a:cubicBezTo>
                  <a:pt x="348015" y="5648929"/>
                  <a:pt x="370177" y="5468515"/>
                  <a:pt x="360135" y="5287062"/>
                </a:cubicBezTo>
                <a:cubicBezTo>
                  <a:pt x="338319" y="5059207"/>
                  <a:pt x="278758" y="4907881"/>
                  <a:pt x="281875" y="4677256"/>
                </a:cubicBezTo>
                <a:cubicBezTo>
                  <a:pt x="237204" y="4527316"/>
                  <a:pt x="250017" y="4367332"/>
                  <a:pt x="237897" y="4207696"/>
                </a:cubicBezTo>
                <a:cubicBezTo>
                  <a:pt x="210194" y="3969452"/>
                  <a:pt x="176258" y="4119047"/>
                  <a:pt x="145093" y="3878379"/>
                </a:cubicBezTo>
                <a:cubicBezTo>
                  <a:pt x="114274" y="3641175"/>
                  <a:pt x="72720" y="2448920"/>
                  <a:pt x="72373" y="2447189"/>
                </a:cubicBezTo>
                <a:cubicBezTo>
                  <a:pt x="72720" y="2447189"/>
                  <a:pt x="12120" y="1233809"/>
                  <a:pt x="0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50B79-8404-BE01-D59C-0A92F4E64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87" y="2248263"/>
            <a:ext cx="4934684" cy="160616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GB" dirty="0">
                <a:solidFill>
                  <a:srgbClr val="222222"/>
                </a:solidFill>
                <a:latin typeface="source sans pro" panose="020B0503030403020204" pitchFamily="34" charset="0"/>
              </a:rPr>
              <a:t>TCP connection </a:t>
            </a:r>
            <a:br>
              <a:rPr lang="en-GB" dirty="0">
                <a:solidFill>
                  <a:srgbClr val="222222"/>
                </a:solidFill>
                <a:latin typeface="source sans pro" panose="020B0503030403020204" pitchFamily="34" charset="0"/>
              </a:rPr>
            </a:br>
            <a:r>
              <a:rPr lang="en-GB" dirty="0">
                <a:solidFill>
                  <a:srgbClr val="222222"/>
                </a:solidFill>
                <a:latin typeface="source sans pro" panose="020B0503030403020204" pitchFamily="34" charset="0"/>
              </a:rPr>
              <a:t>flow of data diagram 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TCP socket flow">
            <a:extLst>
              <a:ext uri="{FF2B5EF4-FFF2-40B4-BE49-F238E27FC236}">
                <a16:creationId xmlns:a16="http://schemas.microsoft.com/office/drawing/2014/main" id="{97200FE9-67EC-B364-0CAD-346542A1B8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51072" y="581986"/>
            <a:ext cx="5457246" cy="6149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67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A493E-CF98-436E-27AE-2AD97ACA8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Address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2EB59-906A-B460-BE06-1776ABAB3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onsolas" panose="020B0609020204030204" pitchFamily="49" charset="0"/>
              </a:rPr>
              <a:t>Tuple, comprise of two elements: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HOST: </a:t>
            </a:r>
          </a:p>
          <a:p>
            <a:pPr lvl="1"/>
            <a:r>
              <a:rPr lang="en-US" dirty="0"/>
              <a:t>Host variable assign into the string </a:t>
            </a:r>
            <a:r>
              <a:rPr lang="en-US" b="1" dirty="0">
                <a:solidFill>
                  <a:srgbClr val="00B050"/>
                </a:solidFill>
              </a:rPr>
              <a:t>‘</a:t>
            </a:r>
            <a:r>
              <a:rPr lang="en-US" dirty="0">
                <a:solidFill>
                  <a:srgbClr val="00B050"/>
                </a:solidFill>
              </a:rPr>
              <a:t>localhost</a:t>
            </a:r>
            <a:r>
              <a:rPr lang="en-US" b="1" dirty="0">
                <a:solidFill>
                  <a:srgbClr val="00B050"/>
                </a:solidFill>
              </a:rPr>
              <a:t>’ </a:t>
            </a:r>
            <a:r>
              <a:rPr lang="en-US" dirty="0"/>
              <a:t>itself </a:t>
            </a:r>
          </a:p>
          <a:p>
            <a:pPr lvl="1"/>
            <a:r>
              <a:rPr lang="en-GB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gethostbyname</a:t>
            </a:r>
            <a:r>
              <a:rPr lang="en-GB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'localhost’</a:t>
            </a:r>
            <a:r>
              <a:rPr lang="en-GB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  <a:r>
              <a:rPr lang="en-US" dirty="0"/>
              <a:t>which will provide the equivalent in a form of string : </a:t>
            </a:r>
            <a:r>
              <a:rPr lang="en-US" dirty="0">
                <a:solidFill>
                  <a:srgbClr val="00B050"/>
                </a:solidFill>
              </a:rPr>
              <a:t>‘127.0.0.1’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gethostname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(): </a:t>
            </a:r>
            <a:r>
              <a:rPr lang="en-US" dirty="0"/>
              <a:t>return the IP name of the host computer running the Python interpreter. 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PORT:</a:t>
            </a:r>
          </a:p>
          <a:p>
            <a:pPr lvl="1"/>
            <a:r>
              <a:rPr lang="en-US" dirty="0">
                <a:cs typeface="Consolas" panose="020B0609020204030204" pitchFamily="49" charset="0"/>
              </a:rPr>
              <a:t>Integer number between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1024 - 65535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9885C9-F29E-5DAA-C660-B6B1F6D79805}"/>
              </a:ext>
            </a:extLst>
          </p:cNvPr>
          <p:cNvCxnSpPr/>
          <p:nvPr/>
        </p:nvCxnSpPr>
        <p:spPr>
          <a:xfrm>
            <a:off x="838200" y="1437005"/>
            <a:ext cx="10515600" cy="0"/>
          </a:xfrm>
          <a:prstGeom prst="line">
            <a:avLst/>
          </a:prstGeom>
          <a:ln w="25400" cap="rnd">
            <a:solidFill>
              <a:schemeClr val="bg2">
                <a:lumMod val="50000"/>
                <a:alpha val="49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793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E965-B723-3F36-5785-A240162D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Python </a:t>
            </a:r>
            <a:r>
              <a:rPr lang="en-US" b="1" u="sng" dirty="0">
                <a:latin typeface="Aharoni" panose="02010803020104030203" pitchFamily="2" charset="-79"/>
                <a:cs typeface="Aharoni" panose="02010803020104030203" pitchFamily="2" charset="-79"/>
              </a:rPr>
              <a:t>socket </a:t>
            </a:r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F5B4D-A16D-66A0-60F4-A1E227332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a socket in Python is done through the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socket.socket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dirty="0"/>
              <a:t>method.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 =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socket.socket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socket_family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socket_type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/>
              <a:t>Socket family:</a:t>
            </a:r>
          </a:p>
          <a:p>
            <a:pPr lvl="1"/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socket.AF_INET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/>
              <a:t>socket for working with the IPv4 protocol</a:t>
            </a:r>
          </a:p>
          <a:p>
            <a:pPr lvl="1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Socket.AF_INET6 </a:t>
            </a:r>
            <a:r>
              <a:rPr lang="en-US" dirty="0"/>
              <a:t>socket for working with the IPv6 protocol</a:t>
            </a:r>
          </a:p>
          <a:p>
            <a:r>
              <a:rPr lang="en-US" dirty="0"/>
              <a:t>Communication type:</a:t>
            </a:r>
          </a:p>
          <a:p>
            <a:pPr lvl="1"/>
            <a:r>
              <a:rPr lang="en-GB" dirty="0"/>
              <a:t>TCP sockets ( </a:t>
            </a:r>
            <a:r>
              <a:rPr lang="en-GB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socket.SOCK_STREAM</a:t>
            </a:r>
            <a:r>
              <a:rPr lang="en-GB" dirty="0"/>
              <a:t>)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TCP- connection oriented</a:t>
            </a:r>
          </a:p>
          <a:p>
            <a:pPr lvl="1"/>
            <a:r>
              <a:rPr lang="en-GB" dirty="0"/>
              <a:t>UDP sockets ( </a:t>
            </a:r>
            <a:r>
              <a:rPr lang="en-GB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socket.SOCK_DGRAM</a:t>
            </a:r>
            <a:r>
              <a:rPr lang="en-GB" dirty="0"/>
              <a:t>)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UDP -  is not connection oriented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2C22EA-4182-E021-CC6D-FA1127323A5F}"/>
              </a:ext>
            </a:extLst>
          </p:cNvPr>
          <p:cNvCxnSpPr/>
          <p:nvPr/>
        </p:nvCxnSpPr>
        <p:spPr>
          <a:xfrm>
            <a:off x="838200" y="1437005"/>
            <a:ext cx="10515600" cy="0"/>
          </a:xfrm>
          <a:prstGeom prst="line">
            <a:avLst/>
          </a:prstGeom>
          <a:ln w="25400" cap="rnd">
            <a:solidFill>
              <a:schemeClr val="bg2">
                <a:lumMod val="50000"/>
                <a:alpha val="49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444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6E461-9D23-F69C-7296-4A50FBB3C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Server socket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6D59B-C71A-B46F-C19F-F86A6D832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socket.bind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(address): </a:t>
            </a:r>
            <a:r>
              <a:rPr lang="en-US" sz="2400" dirty="0"/>
              <a:t>allows to connect the address with the socket, with the requirement that the socket must be open before establishing the connection with the address</a:t>
            </a:r>
          </a:p>
          <a:p>
            <a:endParaRPr lang="en-US" sz="2400" dirty="0"/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socket.listen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(count): </a:t>
            </a:r>
            <a:r>
              <a:rPr lang="en-US" sz="2400" dirty="0"/>
              <a:t>accepts as a parameter 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(count) </a:t>
            </a:r>
            <a:r>
              <a:rPr lang="en-US" sz="2400" dirty="0"/>
              <a:t>the maximum number of connections from clients and starts the TCP listener for incoming connections.</a:t>
            </a:r>
          </a:p>
          <a:p>
            <a:endParaRPr lang="en-US" sz="2400" dirty="0"/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socket.accept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(): </a:t>
            </a:r>
            <a:r>
              <a:rPr lang="en-US" sz="2400" dirty="0"/>
              <a:t>enables us to accept client connections and </a:t>
            </a:r>
            <a:r>
              <a:rPr lang="en-US" sz="2400" b="1" u="sng" dirty="0"/>
              <a:t>returns a</a:t>
            </a:r>
            <a:r>
              <a:rPr lang="en-US" sz="2400" u="sng" dirty="0"/>
              <a:t> </a:t>
            </a:r>
            <a:r>
              <a:rPr lang="en-US" sz="2400" b="1" u="sng" dirty="0"/>
              <a:t>tuple with two values</a:t>
            </a:r>
            <a:r>
              <a:rPr lang="en-US" sz="2400" u="sng" dirty="0"/>
              <a:t> </a:t>
            </a:r>
            <a:r>
              <a:rPr lang="en-US" sz="2400" dirty="0"/>
              <a:t>that represent </a:t>
            </a:r>
            <a:r>
              <a:rPr lang="en-US" sz="2400" dirty="0" err="1"/>
              <a:t>client_address</a:t>
            </a:r>
            <a:r>
              <a:rPr lang="en-US" sz="2400" dirty="0"/>
              <a:t> .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You need to call the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socket.listen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()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client_socket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socket.bind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() methods before using this method.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A16A8EF-0C29-3B3E-A10C-69345F347E6F}"/>
              </a:ext>
            </a:extLst>
          </p:cNvPr>
          <p:cNvCxnSpPr/>
          <p:nvPr/>
        </p:nvCxnSpPr>
        <p:spPr>
          <a:xfrm>
            <a:off x="838200" y="1437005"/>
            <a:ext cx="10515600" cy="0"/>
          </a:xfrm>
          <a:prstGeom prst="line">
            <a:avLst/>
          </a:prstGeom>
          <a:ln w="25400" cap="rnd">
            <a:solidFill>
              <a:schemeClr val="bg2">
                <a:lumMod val="50000"/>
                <a:alpha val="49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172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0DCA5-D7AE-04D8-B40A-5BC1339C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Client socket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BB095-25E9-8215-A2EC-63FEB10C4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socket.connect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(address): </a:t>
            </a:r>
            <a:r>
              <a:rPr lang="en-US" sz="2400" dirty="0"/>
              <a:t>connects the client to the sever</a:t>
            </a:r>
          </a:p>
          <a:p>
            <a:endParaRPr lang="en-US" sz="2400" dirty="0"/>
          </a:p>
          <a:p>
            <a:r>
              <a:rPr lang="en-US" sz="2400" dirty="0" err="1">
                <a:solidFill>
                  <a:srgbClr val="C00000"/>
                </a:solidFill>
              </a:rPr>
              <a:t>socket.connect_ext</a:t>
            </a:r>
            <a:r>
              <a:rPr lang="en-US" sz="2400" dirty="0">
                <a:solidFill>
                  <a:srgbClr val="C00000"/>
                </a:solidFill>
              </a:rPr>
              <a:t>(address): </a:t>
            </a:r>
            <a:r>
              <a:rPr lang="en-US" sz="2400" dirty="0"/>
              <a:t>has the same functionality as the connect() method and also offers the possibility of returning an error in the event of not being able to connect with that address.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1E35EB-4E1B-EE56-494F-0B6A4FADF4D2}"/>
              </a:ext>
            </a:extLst>
          </p:cNvPr>
          <p:cNvCxnSpPr/>
          <p:nvPr/>
        </p:nvCxnSpPr>
        <p:spPr>
          <a:xfrm>
            <a:off x="838200" y="1437005"/>
            <a:ext cx="10515600" cy="0"/>
          </a:xfrm>
          <a:prstGeom prst="line">
            <a:avLst/>
          </a:prstGeom>
          <a:ln w="25400" cap="rnd">
            <a:solidFill>
              <a:schemeClr val="bg2">
                <a:lumMod val="50000"/>
                <a:alpha val="49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972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5652-689C-0C09-C936-DB0789024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Socket method used in </a:t>
            </a:r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both: client and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7408A-286B-7575-5356-604204BB5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socket.send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(bytes): </a:t>
            </a:r>
            <a:r>
              <a:rPr lang="en-US" sz="2400" dirty="0"/>
              <a:t>sends bytes of data to the specified target.</a:t>
            </a:r>
          </a:p>
          <a:p>
            <a:endParaRPr lang="en-US" sz="24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socket.recv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bufsize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  <a:r>
              <a:rPr lang="en-US" sz="2400" dirty="0"/>
              <a:t>receives data from the socket. The method argument indicates the maximum amount of data it can receive. Usually buff-size is set to 1024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socket.close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(): </a:t>
            </a:r>
            <a:r>
              <a:rPr lang="en-US" sz="2400" dirty="0"/>
              <a:t>releases the memory and finishes the connection.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9DE4A5-D532-3D11-024C-391DC13CC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230866"/>
            <a:ext cx="7772400" cy="69044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D697BA7-CF07-D67F-9330-8F154D4D5BF5}"/>
              </a:ext>
            </a:extLst>
          </p:cNvPr>
          <p:cNvCxnSpPr/>
          <p:nvPr/>
        </p:nvCxnSpPr>
        <p:spPr>
          <a:xfrm>
            <a:off x="838200" y="1437005"/>
            <a:ext cx="10515600" cy="0"/>
          </a:xfrm>
          <a:prstGeom prst="line">
            <a:avLst/>
          </a:prstGeom>
          <a:ln w="25400" cap="rnd">
            <a:solidFill>
              <a:schemeClr val="bg2">
                <a:lumMod val="50000"/>
                <a:alpha val="49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094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D54F-82B1-0473-0500-933894418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Sending current-time from server</a:t>
            </a:r>
          </a:p>
        </p:txBody>
      </p:sp>
      <p:pic>
        <p:nvPicPr>
          <p:cNvPr id="5" name="Content Placeholder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966D6F00-CDD5-4F7E-8DBE-9042065D6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382" y="1916906"/>
            <a:ext cx="4225472" cy="4351338"/>
          </a:xfrm>
        </p:spPr>
      </p:pic>
      <p:pic>
        <p:nvPicPr>
          <p:cNvPr id="7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07C85E6F-24C6-AA0A-E838-C84AA0AF7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985" y="1916906"/>
            <a:ext cx="4331688" cy="40429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D14C37-1C0A-96DB-1ACE-5F31BCA278CA}"/>
              </a:ext>
            </a:extLst>
          </p:cNvPr>
          <p:cNvSpPr txBox="1"/>
          <p:nvPr/>
        </p:nvSpPr>
        <p:spPr>
          <a:xfrm>
            <a:off x="630382" y="1506816"/>
            <a:ext cx="1029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server.py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D5954-BE52-5DAA-1015-2E795F731FCA}"/>
              </a:ext>
            </a:extLst>
          </p:cNvPr>
          <p:cNvSpPr txBox="1"/>
          <p:nvPr/>
        </p:nvSpPr>
        <p:spPr>
          <a:xfrm>
            <a:off x="6451985" y="1434465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client.py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C4895A-5A50-E2D5-F2F2-748BF0152BFB}"/>
              </a:ext>
            </a:extLst>
          </p:cNvPr>
          <p:cNvCxnSpPr/>
          <p:nvPr/>
        </p:nvCxnSpPr>
        <p:spPr>
          <a:xfrm>
            <a:off x="838200" y="1437005"/>
            <a:ext cx="10515600" cy="0"/>
          </a:xfrm>
          <a:prstGeom prst="line">
            <a:avLst/>
          </a:prstGeom>
          <a:ln w="25400" cap="rnd">
            <a:solidFill>
              <a:schemeClr val="bg2">
                <a:lumMod val="50000"/>
                <a:alpha val="49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609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6E912-FE6C-A3AA-D2D9-2F653684C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Echo string back</a:t>
            </a:r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49A47CB-F7BA-4B8C-37B3-9F6133ED5B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2703" y="1536220"/>
            <a:ext cx="4442665" cy="5321780"/>
          </a:xfrm>
        </p:spPr>
      </p:pic>
      <p:pic>
        <p:nvPicPr>
          <p:cNvPr id="7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2F22FE24-D6B8-DC39-2AFE-15988554E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571" y="1536220"/>
            <a:ext cx="3585547" cy="54337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1E3B11-C62D-D25D-2984-525ACE8A5CBB}"/>
              </a:ext>
            </a:extLst>
          </p:cNvPr>
          <p:cNvSpPr txBox="1"/>
          <p:nvPr/>
        </p:nvSpPr>
        <p:spPr>
          <a:xfrm>
            <a:off x="79445" y="1426376"/>
            <a:ext cx="893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3108B5-F566-5242-F3E2-35282736F6C1}"/>
              </a:ext>
            </a:extLst>
          </p:cNvPr>
          <p:cNvSpPr txBox="1"/>
          <p:nvPr/>
        </p:nvSpPr>
        <p:spPr>
          <a:xfrm>
            <a:off x="6255453" y="1523263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E735AC-51FA-4117-A68E-5DE4B113C3C6}"/>
              </a:ext>
            </a:extLst>
          </p:cNvPr>
          <p:cNvCxnSpPr/>
          <p:nvPr/>
        </p:nvCxnSpPr>
        <p:spPr>
          <a:xfrm>
            <a:off x="838200" y="1437005"/>
            <a:ext cx="10515600" cy="0"/>
          </a:xfrm>
          <a:prstGeom prst="line">
            <a:avLst/>
          </a:prstGeom>
          <a:ln w="25400" cap="rnd">
            <a:solidFill>
              <a:schemeClr val="bg2">
                <a:lumMod val="50000"/>
                <a:alpha val="49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568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706B1-AF4C-2FC3-9132-7FDF5603C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Serialize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1864D-AD9A-C75D-E0B5-E48D35ADA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serialization, an object is transformed into a format that can be stored, so as to be able to deserialize it later and recreate the original object from the serialized format.</a:t>
            </a:r>
          </a:p>
          <a:p>
            <a:r>
              <a:rPr lang="en-US" b="1" dirty="0"/>
              <a:t>Pickle</a:t>
            </a:r>
            <a:r>
              <a:rPr lang="en-US" dirty="0"/>
              <a:t> </a:t>
            </a:r>
          </a:p>
          <a:p>
            <a:pPr lvl="1"/>
            <a:r>
              <a:rPr lang="en-US" sz="2000" dirty="0"/>
              <a:t>Pickling is the process whereby a Python object is converted into a byte stream (usually not human readable) to be written to a file, this is also known as Serialization.  </a:t>
            </a:r>
          </a:p>
          <a:p>
            <a:pPr lvl="1"/>
            <a:r>
              <a:rPr lang="en-US" sz="2000" dirty="0"/>
              <a:t>Unpickling is the reverse operation, whereby a byte stream is converted back into a working Python object hierarchy.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Pickle is operationally simplest way to store the object. The Python Pickle module is a way to store objects directly in a special storage format.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FAFFDC-763F-F50F-7AEB-94B735D2F06A}"/>
              </a:ext>
            </a:extLst>
          </p:cNvPr>
          <p:cNvCxnSpPr/>
          <p:nvPr/>
        </p:nvCxnSpPr>
        <p:spPr>
          <a:xfrm>
            <a:off x="838200" y="1437005"/>
            <a:ext cx="10515600" cy="0"/>
          </a:xfrm>
          <a:prstGeom prst="line">
            <a:avLst/>
          </a:prstGeom>
          <a:ln w="25400" cap="rnd">
            <a:solidFill>
              <a:schemeClr val="bg2">
                <a:lumMod val="50000"/>
                <a:alpha val="49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026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FA1B-0208-1E1F-CC53-CDF56306F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Pickle python module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DB874-6C63-BE55-FCCB-2D0D15736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Pickle documentation: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https://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</a:rPr>
              <a:t>docs.python.org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/3/library/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</a:rPr>
              <a:t>pickle.html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dirty="0"/>
              <a:t>The pickle interface provides four different methods.</a:t>
            </a:r>
          </a:p>
          <a:p>
            <a:pPr lvl="1"/>
            <a:r>
              <a:rPr lang="en-GB" b="0" i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pickle.</a:t>
            </a:r>
            <a:r>
              <a:rPr lang="en-GB" b="1" i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dump</a:t>
            </a:r>
            <a:r>
              <a:rPr lang="en-GB" b="1" dirty="0">
                <a:solidFill>
                  <a:srgbClr val="C0000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serialize to an open file (file-like object)</a:t>
            </a:r>
          </a:p>
          <a:p>
            <a:pPr lvl="1"/>
            <a:r>
              <a:rPr lang="en-GB" b="0" i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pickle.</a:t>
            </a:r>
            <a:r>
              <a:rPr lang="en-GB" b="1" i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() </a:t>
            </a:r>
            <a:r>
              <a:rPr lang="en-US" dirty="0">
                <a:solidFill>
                  <a:srgbClr val="222222"/>
                </a:solidFill>
              </a:rPr>
              <a:t>desterilizes from an open –like object</a:t>
            </a:r>
          </a:p>
          <a:p>
            <a:pPr lvl="1"/>
            <a:endParaRPr lang="en-US" dirty="0"/>
          </a:p>
          <a:p>
            <a:pPr lvl="1"/>
            <a:r>
              <a:rPr lang="en-GB" b="0" i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pickle.</a:t>
            </a:r>
            <a:r>
              <a:rPr lang="en-GB" b="1" i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dump</a:t>
            </a:r>
            <a:r>
              <a:rPr lang="en-US" b="1" i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s() </a:t>
            </a:r>
            <a:r>
              <a:rPr lang="en-US" i="0" dirty="0">
                <a:solidFill>
                  <a:srgbClr val="222222"/>
                </a:solidFill>
                <a:effectLst/>
              </a:rPr>
              <a:t>serializes to a string</a:t>
            </a:r>
          </a:p>
          <a:p>
            <a:pPr lvl="1"/>
            <a:r>
              <a:rPr lang="en-GB" b="0" i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pickle.</a:t>
            </a:r>
            <a:r>
              <a:rPr lang="en-GB" b="1" i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loads</a:t>
            </a:r>
            <a:r>
              <a:rPr lang="en-US" b="1" i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dirty="0">
                <a:solidFill>
                  <a:srgbClr val="222222"/>
                </a:solidFill>
              </a:rPr>
              <a:t>desterilizes from a string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8F0089-C459-863E-1EE4-2644BB693FB2}"/>
              </a:ext>
            </a:extLst>
          </p:cNvPr>
          <p:cNvCxnSpPr/>
          <p:nvPr/>
        </p:nvCxnSpPr>
        <p:spPr>
          <a:xfrm>
            <a:off x="838200" y="1437005"/>
            <a:ext cx="10515600" cy="0"/>
          </a:xfrm>
          <a:prstGeom prst="line">
            <a:avLst/>
          </a:prstGeom>
          <a:ln w="25400" cap="rnd">
            <a:solidFill>
              <a:schemeClr val="bg2">
                <a:lumMod val="50000"/>
                <a:alpha val="49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291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3A890-2DD1-3311-9B5F-39FD139C0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Pickle example sending object</a:t>
            </a:r>
          </a:p>
        </p:txBody>
      </p:sp>
      <p:pic>
        <p:nvPicPr>
          <p:cNvPr id="5" name="Content Placeholder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968065E3-AC4D-5E3B-CE48-70015F954B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3568" y="2051824"/>
            <a:ext cx="5438432" cy="4628122"/>
          </a:xfrm>
        </p:spPr>
      </p:pic>
      <p:pic>
        <p:nvPicPr>
          <p:cNvPr id="7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9F393459-3548-CDE7-A16D-C927F2431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1824"/>
            <a:ext cx="6072726" cy="48061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423260-F22D-8B16-9963-FBF1FE071130}"/>
              </a:ext>
            </a:extLst>
          </p:cNvPr>
          <p:cNvSpPr txBox="1"/>
          <p:nvPr/>
        </p:nvSpPr>
        <p:spPr>
          <a:xfrm>
            <a:off x="0" y="1690688"/>
            <a:ext cx="955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D62A0-7BB2-767F-DE76-0F37F7999323}"/>
              </a:ext>
            </a:extLst>
          </p:cNvPr>
          <p:cNvSpPr txBox="1"/>
          <p:nvPr/>
        </p:nvSpPr>
        <p:spPr>
          <a:xfrm>
            <a:off x="6753568" y="1682492"/>
            <a:ext cx="884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CLIENT: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C85403-3520-A05F-EDB2-59B2C2B335C6}"/>
              </a:ext>
            </a:extLst>
          </p:cNvPr>
          <p:cNvCxnSpPr/>
          <p:nvPr/>
        </p:nvCxnSpPr>
        <p:spPr>
          <a:xfrm>
            <a:off x="838200" y="1437005"/>
            <a:ext cx="10515600" cy="0"/>
          </a:xfrm>
          <a:prstGeom prst="line">
            <a:avLst/>
          </a:prstGeom>
          <a:ln w="25400" cap="rnd">
            <a:solidFill>
              <a:schemeClr val="bg2">
                <a:lumMod val="50000"/>
                <a:alpha val="49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133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182C6-85EB-3857-16B9-84E55EF98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Sample of Client Server for Shopping System</a:t>
            </a:r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C7B8B52-3428-F7EE-4E3B-1A30B7A8DD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9221"/>
          <a:stretch/>
        </p:blipFill>
        <p:spPr>
          <a:xfrm>
            <a:off x="7428672" y="2168640"/>
            <a:ext cx="3330768" cy="395008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4B9A20-D84D-2A02-E874-9DEA833BE1D4}"/>
              </a:ext>
            </a:extLst>
          </p:cNvPr>
          <p:cNvSpPr txBox="1"/>
          <p:nvPr/>
        </p:nvSpPr>
        <p:spPr>
          <a:xfrm>
            <a:off x="7428672" y="1690688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client.py</a:t>
            </a:r>
            <a:endParaRPr lang="en-US" dirty="0"/>
          </a:p>
        </p:txBody>
      </p:sp>
      <p:pic>
        <p:nvPicPr>
          <p:cNvPr id="8" name="Picture 7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58B33C63-713F-A8D6-2806-D9915819B3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275"/>
          <a:stretch/>
        </p:blipFill>
        <p:spPr>
          <a:xfrm>
            <a:off x="859486" y="2147888"/>
            <a:ext cx="3786676" cy="41919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48D996-61C4-CDEF-132F-48F56BB169A5}"/>
              </a:ext>
            </a:extLst>
          </p:cNvPr>
          <p:cNvSpPr txBox="1"/>
          <p:nvPr/>
        </p:nvSpPr>
        <p:spPr>
          <a:xfrm>
            <a:off x="838200" y="1799308"/>
            <a:ext cx="1029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server.py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289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58C4-4EBD-8202-9CA5-A921AF53F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1B166-3DE1-17BF-73A0-33D91ED85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Overview of  socket </a:t>
            </a:r>
          </a:p>
          <a:p>
            <a:r>
              <a:rPr lang="en-GB" dirty="0"/>
              <a:t>Socket in python</a:t>
            </a:r>
          </a:p>
          <a:p>
            <a:r>
              <a:rPr lang="en-GB" dirty="0"/>
              <a:t>Client and Server application</a:t>
            </a:r>
          </a:p>
          <a:p>
            <a:r>
              <a:rPr lang="en-GB" dirty="0"/>
              <a:t>Pickle </a:t>
            </a:r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7D193-4BEA-3FA3-473F-D113F6EFF533}"/>
              </a:ext>
            </a:extLst>
          </p:cNvPr>
          <p:cNvCxnSpPr/>
          <p:nvPr/>
        </p:nvCxnSpPr>
        <p:spPr>
          <a:xfrm>
            <a:off x="838200" y="1437005"/>
            <a:ext cx="10515600" cy="0"/>
          </a:xfrm>
          <a:prstGeom prst="line">
            <a:avLst/>
          </a:prstGeom>
          <a:ln w="25400" cap="rnd">
            <a:solidFill>
              <a:schemeClr val="bg2">
                <a:lumMod val="50000"/>
                <a:alpha val="49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720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3056</TotalTime>
  <Words>1036</Words>
  <Application>Microsoft Macintosh PowerPoint</Application>
  <PresentationFormat>Widescreen</PresentationFormat>
  <Paragraphs>113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-apple-system</vt:lpstr>
      <vt:lpstr>Aharoni</vt:lpstr>
      <vt:lpstr>Arial</vt:lpstr>
      <vt:lpstr>Arial</vt:lpstr>
      <vt:lpstr>Calibri</vt:lpstr>
      <vt:lpstr>Calibri Light</vt:lpstr>
      <vt:lpstr>Consolas</vt:lpstr>
      <vt:lpstr>Gudea</vt:lpstr>
      <vt:lpstr>Lucida Grande</vt:lpstr>
      <vt:lpstr>source sans pro</vt:lpstr>
      <vt:lpstr>Office Theme</vt:lpstr>
      <vt:lpstr>PowerPoint Presentation</vt:lpstr>
      <vt:lpstr>Objectives:</vt:lpstr>
      <vt:lpstr>History</vt:lpstr>
      <vt:lpstr>Background</vt:lpstr>
      <vt:lpstr>Types of Protocols</vt:lpstr>
      <vt:lpstr>Ip-address &amp;  Ports</vt:lpstr>
      <vt:lpstr>The socket python module</vt:lpstr>
      <vt:lpstr>TCP connection  flow of data diagram </vt:lpstr>
      <vt:lpstr>Address </vt:lpstr>
      <vt:lpstr>Python socket module</vt:lpstr>
      <vt:lpstr>Server socket method</vt:lpstr>
      <vt:lpstr>Client socket method</vt:lpstr>
      <vt:lpstr>Socket method used in both: client and server</vt:lpstr>
      <vt:lpstr>Sending current-time from server</vt:lpstr>
      <vt:lpstr>Echo string back</vt:lpstr>
      <vt:lpstr>Serialize data </vt:lpstr>
      <vt:lpstr>Pickle python module </vt:lpstr>
      <vt:lpstr>Pickle example sending object</vt:lpstr>
      <vt:lpstr>Sample of Client Server for Shopping System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 Wieclaw</dc:creator>
  <cp:lastModifiedBy>Anna Wieclaw</cp:lastModifiedBy>
  <cp:revision>8</cp:revision>
  <dcterms:created xsi:type="dcterms:W3CDTF">2023-02-17T07:32:34Z</dcterms:created>
  <dcterms:modified xsi:type="dcterms:W3CDTF">2024-11-10T14:22:57Z</dcterms:modified>
</cp:coreProperties>
</file>